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Välkomna! Vi på INKA AI Labs har lyssnat på vad ni berättat och ser direkt att Reinholt Logistik har rätt förutsättningar att ta AI från testfas till konkret affärsnytta. Idag visar vi hur vi tänker och hur vi tänker jobba med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 berättade att AI-användningen idag är splittrad – och det är precis det vi ser hos de flesta företag i er fas. Nu handlar det om att sätta riktning. Tillväxten med de nya storkunderna skapar ett naturligt tryck att göra mer med samma resurser.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hinder återkommer gång på gång: man försöker göra för mycket på en gång, man pratar abstrakt istället för konkret, och man försöker göra det ensam. Det vi gör hos INKA AI Labs är att ta er igenom dessa tre hinder strukturerat.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Vår metodik bygger på tre pelare som hänger ihop. Vi börjar alltid med strategin – utan riktning blir verktyg bara leksaker. AI-Toolbox är där vi implementerar konkreta lösningar. Och AI-Konsult är det löpande partnerskapet som säkerställer att ni faktiskt skalar det som fungerar.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har tittat specifikt på er verksamhet och identifierat tre use cases som passar er fas och era prioriteringar. Admin-automatisering ger snabbast synliga resultat. Kundservice-AI hanterar ökad kundvolym utan nyrekrytering. Och resursplanering är extra relevant nu när ni skalar.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vill inte bara presentera teorier – vi vill visa vad som faktiskt är möjligt. Det här exemplet från ett liknande uppdrag visar att vi inom 3 månader kan leverera konkreta, mätbara resultat.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Tidsplanen är medvetet realistisk. Kartläggning i augusti – fokuserat arbete där vi förstår er verksamhet. Pilotprojekt under hösten – ett tydligt avgränsat use case med mätbara resultat. Fungerar det, skalar vi brett från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lovar inte magi – vi lovar ett strukturerat samarbete med tydliga leverabler och mätbara mål. 3-6 månader till resultat är realistiskt. 20-40% effektivitetsökning är vad vi sett i liknande uppdrag. Och 100% transparens är ett löfte om att ni alltid vet vad vi gör och varför.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vill vi veta: ser ni samma potential som vi ser? Om svaret är ja, är nästa steg väldigt konkret och utan risk. Ingen lång upphandling, inget abstrakt – bara konkret arbete.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INKA AI Labs är inte ett nystartat bolag. Vi bygger på 20 års digital erfarenhet och det märks i hur vi jobbar. Vi är inte här för att sälja er det senaste verktyget – vi är här för att hjälpa er bygga en varaktig AI-förmåga.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Tack för er tid idag. Vi hoppas att ni känner er en bit längre på vägen mot att ta AI från testfas till verklig affärsnytta. Vi är redo att starta – frågan är om ni är 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D95818"/>
          </a:solidFill>
          <a:ln w="12700">
            <a:solidFill>
              <a:srgbClr val="D95818"/>
            </a:solidFill>
            <a:prstDash val="solid"/>
          </a:ln>
        </p:spPr>
      </p:sp>
      <p:sp>
        <p:nvSpPr>
          <p:cNvPr id="3" name="Text 1"/>
          <p:cNvSpPr/>
          <p:nvPr/>
        </p:nvSpPr>
        <p:spPr>
          <a:xfrm>
            <a:off x="228600" y="320040"/>
            <a:ext cx="3017520" cy="365760"/>
          </a:xfrm>
          <a:prstGeom prst="rect">
            <a:avLst/>
          </a:prstGeom>
          <a:noFill/>
          <a:ln/>
        </p:spPr>
        <p:txBody>
          <a:bodyPr wrap="square" lIns="0" tIns="0" rIns="0" bIns="0" rtlCol="0" anchor="ctr"/>
          <a:lstStyle/>
          <a:p>
            <a:pPr indent="0" marL="0">
              <a:buNone/>
            </a:pPr>
            <a:r>
              <a:rPr lang="en-US" sz="1300" b="1" spc="400" kern="0" dirty="0">
                <a:solidFill>
                  <a:srgbClr val="FFFFFF"/>
                </a:solidFill>
                <a:latin typeface="Calibri" pitchFamily="34" charset="0"/>
                <a:ea typeface="Calibri" pitchFamily="34" charset="-122"/>
                <a:cs typeface="Calibri" pitchFamily="34" charset="-120"/>
              </a:rPr>
              <a:t>INKA AI LABS</a:t>
            </a:r>
            <a:endParaRPr lang="en-US" sz="1300" dirty="0"/>
          </a:p>
        </p:txBody>
      </p:sp>
      <p:pic>
        <p:nvPicPr>
          <p:cNvPr id="4" name="Image 0" descr="preencoded.png">    </p:cNvPr>
          <p:cNvPicPr>
            <a:picLocks noChangeAspect="1"/>
          </p:cNvPicPr>
          <p:nvPr/>
        </p:nvPicPr>
        <p:blipFill>
          <a:blip r:embed="rId1"/>
          <a:stretch>
            <a:fillRect/>
          </a:stretch>
        </p:blipFill>
        <p:spPr>
          <a:xfrm>
            <a:off x="274320" y="914400"/>
            <a:ext cx="502920" cy="502920"/>
          </a:xfrm>
          <a:prstGeom prst="rect">
            <a:avLst/>
          </a:prstGeom>
        </p:spPr>
      </p:pic>
      <p:sp>
        <p:nvSpPr>
          <p:cNvPr id="5" name="Text 2"/>
          <p:cNvSpPr/>
          <p:nvPr/>
        </p:nvSpPr>
        <p:spPr>
          <a:xfrm>
            <a:off x="228600" y="1554480"/>
            <a:ext cx="3017520" cy="1645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Från AI-kaos</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till verklig</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affärsnytta</a:t>
            </a:r>
            <a:endParaRPr lang="en-US" sz="2600" dirty="0"/>
          </a:p>
        </p:txBody>
      </p:sp>
      <p:sp>
        <p:nvSpPr>
          <p:cNvPr id="6" name="Shape 3"/>
          <p:cNvSpPr/>
          <p:nvPr/>
        </p:nvSpPr>
        <p:spPr>
          <a:xfrm>
            <a:off x="228600" y="3291840"/>
            <a:ext cx="1097280" cy="54864"/>
          </a:xfrm>
          <a:prstGeom prst="rect">
            <a:avLst/>
          </a:prstGeom>
          <a:solidFill>
            <a:srgbClr val="FFFFFF"/>
          </a:solidFill>
          <a:ln w="12700">
            <a:solidFill>
              <a:srgbClr val="FFFFFF"/>
            </a:solidFill>
            <a:prstDash val="solid"/>
          </a:ln>
        </p:spPr>
      </p:sp>
      <p:sp>
        <p:nvSpPr>
          <p:cNvPr id="7" name="Text 4"/>
          <p:cNvSpPr/>
          <p:nvPr/>
        </p:nvSpPr>
        <p:spPr>
          <a:xfrm>
            <a:off x="228600" y="3474720"/>
            <a:ext cx="3017520" cy="320040"/>
          </a:xfrm>
          <a:prstGeom prst="rect">
            <a:avLst/>
          </a:prstGeom>
          <a:noFill/>
          <a:ln/>
        </p:spPr>
        <p:txBody>
          <a:bodyPr wrap="square" lIns="0" tIns="0" rIns="0" bIns="0" rtlCol="0" anchor="ctr"/>
          <a:lstStyle/>
          <a:p>
            <a:pPr indent="0" marL="0">
              <a:buNone/>
            </a:pPr>
            <a:r>
              <a:rPr lang="en-US" sz="1300" dirty="0">
                <a:solidFill>
                  <a:srgbClr val="FFD4B8"/>
                </a:solidFill>
                <a:latin typeface="Calibri" pitchFamily="34" charset="0"/>
                <a:ea typeface="Calibri" pitchFamily="34" charset="-122"/>
                <a:cs typeface="Calibri" pitchFamily="34" charset="-120"/>
              </a:rPr>
              <a:t>13 juni 2026</a:t>
            </a:r>
            <a:endParaRPr lang="en-US" sz="1300" dirty="0"/>
          </a:p>
        </p:txBody>
      </p:sp>
      <p:sp>
        <p:nvSpPr>
          <p:cNvPr id="8" name="Text 5"/>
          <p:cNvSpPr/>
          <p:nvPr/>
        </p:nvSpPr>
        <p:spPr>
          <a:xfrm>
            <a:off x="3840480" y="822960"/>
            <a:ext cx="5029200" cy="23774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Reinholt</a:t>
            </a:r>
            <a:endParaRPr lang="en-US" sz="5400" dirty="0"/>
          </a:p>
          <a:p>
            <a:pPr indent="0" marL="0">
              <a:buNone/>
            </a:pPr>
            <a:r>
              <a:rPr lang="en-US" sz="5400" b="1" dirty="0">
                <a:solidFill>
                  <a:srgbClr val="FFFFFF"/>
                </a:solidFill>
                <a:latin typeface="Calibri" pitchFamily="34" charset="0"/>
                <a:ea typeface="Calibri" pitchFamily="34" charset="-122"/>
                <a:cs typeface="Calibri" pitchFamily="34" charset="-120"/>
              </a:rPr>
              <a:t>Logistik AB</a:t>
            </a:r>
            <a:endParaRPr lang="en-US" sz="5400" dirty="0"/>
          </a:p>
        </p:txBody>
      </p:sp>
      <p:sp>
        <p:nvSpPr>
          <p:cNvPr id="9" name="Text 6"/>
          <p:cNvSpPr/>
          <p:nvPr/>
        </p:nvSpPr>
        <p:spPr>
          <a:xfrm>
            <a:off x="3840480" y="3246120"/>
            <a:ext cx="5029200" cy="457200"/>
          </a:xfrm>
          <a:prstGeom prst="rect">
            <a:avLst/>
          </a:prstGeom>
          <a:noFill/>
          <a:ln/>
        </p:spPr>
        <p:txBody>
          <a:bodyPr wrap="square" lIns="0" tIns="0" rIns="0" bIns="0" rtlCol="0" anchor="ctr"/>
          <a:lstStyle/>
          <a:p>
            <a:pPr indent="0" marL="0">
              <a:buNone/>
            </a:pPr>
            <a:r>
              <a:rPr lang="en-US" sz="1600" i="1" dirty="0">
                <a:solidFill>
                  <a:srgbClr val="8A8A8A"/>
                </a:solidFill>
                <a:latin typeface="Calibri" pitchFamily="34" charset="0"/>
                <a:ea typeface="Calibri" pitchFamily="34" charset="-122"/>
                <a:cs typeface="Calibri" pitchFamily="34" charset="-120"/>
              </a:rPr>
              <a:t>Strategisk AI-plan för nästa tillväxtfas</a:t>
            </a:r>
            <a:endParaRPr lang="en-US" sz="1600" dirty="0"/>
          </a:p>
        </p:txBody>
      </p:sp>
      <p:sp>
        <p:nvSpPr>
          <p:cNvPr id="10" name="Text 7"/>
          <p:cNvSpPr/>
          <p:nvPr/>
        </p:nvSpPr>
        <p:spPr>
          <a:xfrm>
            <a:off x="3840480" y="4480560"/>
            <a:ext cx="5029200" cy="320040"/>
          </a:xfrm>
          <a:prstGeom prst="rect">
            <a:avLst/>
          </a:prstGeom>
          <a:noFill/>
          <a:ln/>
        </p:spPr>
        <p:txBody>
          <a:bodyPr wrap="square" lIns="0" tIns="0" rIns="0" bIns="0" rtlCol="0" anchor="ctr"/>
          <a:lstStyle/>
          <a:p>
            <a:pPr indent="0" marL="0">
              <a:buNone/>
            </a:pPr>
            <a:r>
              <a:rPr lang="en-US" sz="1100" dirty="0">
                <a:solidFill>
                  <a:srgbClr val="606060"/>
                </a:solidFill>
                <a:latin typeface="Calibri" pitchFamily="34" charset="0"/>
                <a:ea typeface="Calibri" pitchFamily="34" charset="-122"/>
                <a:cs typeface="Calibri" pitchFamily="34" charset="-120"/>
              </a:rPr>
              <a:t>Presenterat av INKA AI Labs  ·  Anna Reinholt, COO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Vi förstår er situation</a:t>
            </a:r>
            <a:endParaRPr lang="en-US" sz="3200" dirty="0"/>
          </a:p>
        </p:txBody>
      </p:sp>
      <p:sp>
        <p:nvSpPr>
          <p:cNvPr id="3" name="Shape 1"/>
          <p:cNvSpPr/>
          <p:nvPr/>
        </p:nvSpPr>
        <p:spPr>
          <a:xfrm>
            <a:off x="411480" y="960120"/>
            <a:ext cx="4937760" cy="59436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4" name="Shape 2"/>
          <p:cNvSpPr/>
          <p:nvPr/>
        </p:nvSpPr>
        <p:spPr>
          <a:xfrm>
            <a:off x="566928" y="1161288"/>
            <a:ext cx="182880" cy="182880"/>
          </a:xfrm>
          <a:prstGeom prst="ellipse">
            <a:avLst/>
          </a:prstGeom>
          <a:solidFill>
            <a:srgbClr val="D95818"/>
          </a:solidFill>
          <a:ln w="12700">
            <a:solidFill>
              <a:srgbClr val="D95818"/>
            </a:solidFill>
            <a:prstDash val="solid"/>
          </a:ln>
        </p:spPr>
      </p:sp>
      <p:sp>
        <p:nvSpPr>
          <p:cNvPr id="5" name="Text 3"/>
          <p:cNvSpPr/>
          <p:nvPr/>
        </p:nvSpPr>
        <p:spPr>
          <a:xfrm>
            <a:off x="868680" y="1033272"/>
            <a:ext cx="4389120" cy="438912"/>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AI används splittrat – ingen röd tråd</a:t>
            </a:r>
            <a:endParaRPr lang="en-US" sz="1400" dirty="0"/>
          </a:p>
        </p:txBody>
      </p:sp>
      <p:sp>
        <p:nvSpPr>
          <p:cNvPr id="6" name="Shape 4"/>
          <p:cNvSpPr/>
          <p:nvPr/>
        </p:nvSpPr>
        <p:spPr>
          <a:xfrm>
            <a:off x="411480" y="1709928"/>
            <a:ext cx="4937760" cy="59436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7" name="Shape 5"/>
          <p:cNvSpPr/>
          <p:nvPr/>
        </p:nvSpPr>
        <p:spPr>
          <a:xfrm>
            <a:off x="566928" y="1911096"/>
            <a:ext cx="182880" cy="182880"/>
          </a:xfrm>
          <a:prstGeom prst="ellipse">
            <a:avLst/>
          </a:prstGeom>
          <a:solidFill>
            <a:srgbClr val="D95818"/>
          </a:solidFill>
          <a:ln w="12700">
            <a:solidFill>
              <a:srgbClr val="D95818"/>
            </a:solidFill>
            <a:prstDash val="solid"/>
          </a:ln>
        </p:spPr>
      </p:sp>
      <p:sp>
        <p:nvSpPr>
          <p:cNvPr id="8" name="Text 6"/>
          <p:cNvSpPr/>
          <p:nvPr/>
        </p:nvSpPr>
        <p:spPr>
          <a:xfrm>
            <a:off x="868680" y="1783080"/>
            <a:ext cx="4389120" cy="438912"/>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Medarbetare provar verktyg på egen hand</a:t>
            </a:r>
            <a:endParaRPr lang="en-US" sz="1400" dirty="0"/>
          </a:p>
        </p:txBody>
      </p:sp>
      <p:sp>
        <p:nvSpPr>
          <p:cNvPr id="9" name="Shape 7"/>
          <p:cNvSpPr/>
          <p:nvPr/>
        </p:nvSpPr>
        <p:spPr>
          <a:xfrm>
            <a:off x="411480" y="2459736"/>
            <a:ext cx="4937760" cy="59436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0" name="Shape 8"/>
          <p:cNvSpPr/>
          <p:nvPr/>
        </p:nvSpPr>
        <p:spPr>
          <a:xfrm>
            <a:off x="566928" y="2660904"/>
            <a:ext cx="182880" cy="182880"/>
          </a:xfrm>
          <a:prstGeom prst="ellipse">
            <a:avLst/>
          </a:prstGeom>
          <a:solidFill>
            <a:srgbClr val="D95818"/>
          </a:solidFill>
          <a:ln w="12700">
            <a:solidFill>
              <a:srgbClr val="D95818"/>
            </a:solidFill>
            <a:prstDash val="solid"/>
          </a:ln>
        </p:spPr>
      </p:sp>
      <p:sp>
        <p:nvSpPr>
          <p:cNvPr id="11" name="Text 9"/>
          <p:cNvSpPr/>
          <p:nvPr/>
        </p:nvSpPr>
        <p:spPr>
          <a:xfrm>
            <a:off x="868680" y="2532888"/>
            <a:ext cx="4389120" cy="438912"/>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Svårt att prioritera vad som ger mest ROI</a:t>
            </a:r>
            <a:endParaRPr lang="en-US" sz="1400" dirty="0"/>
          </a:p>
        </p:txBody>
      </p:sp>
      <p:sp>
        <p:nvSpPr>
          <p:cNvPr id="12" name="Shape 10"/>
          <p:cNvSpPr/>
          <p:nvPr/>
        </p:nvSpPr>
        <p:spPr>
          <a:xfrm>
            <a:off x="411480" y="3209544"/>
            <a:ext cx="4937760" cy="59436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3" name="Shape 11"/>
          <p:cNvSpPr/>
          <p:nvPr/>
        </p:nvSpPr>
        <p:spPr>
          <a:xfrm>
            <a:off x="566928" y="3410712"/>
            <a:ext cx="182880" cy="182880"/>
          </a:xfrm>
          <a:prstGeom prst="ellipse">
            <a:avLst/>
          </a:prstGeom>
          <a:solidFill>
            <a:srgbClr val="D95818"/>
          </a:solidFill>
          <a:ln w="12700">
            <a:solidFill>
              <a:srgbClr val="D95818"/>
            </a:solidFill>
            <a:prstDash val="solid"/>
          </a:ln>
        </p:spPr>
      </p:sp>
      <p:sp>
        <p:nvSpPr>
          <p:cNvPr id="14" name="Text 12"/>
          <p:cNvSpPr/>
          <p:nvPr/>
        </p:nvSpPr>
        <p:spPr>
          <a:xfrm>
            <a:off x="868680" y="3282696"/>
            <a:ext cx="4389120" cy="438912"/>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Tillväxten kräver mer kapacitet med samma resurser</a:t>
            </a:r>
            <a:endParaRPr lang="en-US" sz="1400" dirty="0"/>
          </a:p>
        </p:txBody>
      </p:sp>
      <p:sp>
        <p:nvSpPr>
          <p:cNvPr id="15" name="Shape 13"/>
          <p:cNvSpPr/>
          <p:nvPr/>
        </p:nvSpPr>
        <p:spPr>
          <a:xfrm>
            <a:off x="411480" y="3959352"/>
            <a:ext cx="4937760" cy="59436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6" name="Shape 14"/>
          <p:cNvSpPr/>
          <p:nvPr/>
        </p:nvSpPr>
        <p:spPr>
          <a:xfrm>
            <a:off x="566928" y="4160520"/>
            <a:ext cx="182880" cy="182880"/>
          </a:xfrm>
          <a:prstGeom prst="ellipse">
            <a:avLst/>
          </a:prstGeom>
          <a:solidFill>
            <a:srgbClr val="D95818"/>
          </a:solidFill>
          <a:ln w="12700">
            <a:solidFill>
              <a:srgbClr val="D95818"/>
            </a:solidFill>
            <a:prstDash val="solid"/>
          </a:ln>
        </p:spPr>
      </p:sp>
      <p:sp>
        <p:nvSpPr>
          <p:cNvPr id="17" name="Text 15"/>
          <p:cNvSpPr/>
          <p:nvPr/>
        </p:nvSpPr>
        <p:spPr>
          <a:xfrm>
            <a:off x="868680" y="4032504"/>
            <a:ext cx="4389120" cy="438912"/>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Potentialen finns – men inte hur ni tar den</a:t>
            </a:r>
            <a:endParaRPr lang="en-US" sz="1400" dirty="0"/>
          </a:p>
        </p:txBody>
      </p:sp>
      <p:sp>
        <p:nvSpPr>
          <p:cNvPr id="18" name="Shape 16"/>
          <p:cNvSpPr/>
          <p:nvPr/>
        </p:nvSpPr>
        <p:spPr>
          <a:xfrm>
            <a:off x="5715000" y="960120"/>
            <a:ext cx="3017520" cy="1828800"/>
          </a:xfrm>
          <a:prstGeom prst="rect">
            <a:avLst/>
          </a:prstGeom>
          <a:solidFill>
            <a:srgbClr val="D95818"/>
          </a:solidFill>
          <a:ln w="12700">
            <a:solidFill>
              <a:srgbClr val="D95818"/>
            </a:solidFill>
            <a:prstDash val="solid"/>
          </a:ln>
          <a:effectLst>
            <a:outerShdw sx="100000" sy="100000" kx="0" ky="0" algn="bl" rotWithShape="0" blurRad="127000" dist="50800" dir="8100000">
              <a:srgbClr val="000000">
                <a:alpha val="12000"/>
              </a:srgbClr>
            </a:outerShdw>
          </a:effectLst>
        </p:spPr>
      </p:sp>
      <p:sp>
        <p:nvSpPr>
          <p:cNvPr id="19" name="Text 17"/>
          <p:cNvSpPr/>
          <p:nvPr/>
        </p:nvSpPr>
        <p:spPr>
          <a:xfrm>
            <a:off x="5715000" y="1143000"/>
            <a:ext cx="301752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280</a:t>
            </a:r>
            <a:endParaRPr lang="en-US" sz="5600" dirty="0"/>
          </a:p>
        </p:txBody>
      </p:sp>
      <p:sp>
        <p:nvSpPr>
          <p:cNvPr id="20" name="Text 18"/>
          <p:cNvSpPr/>
          <p:nvPr/>
        </p:nvSpPr>
        <p:spPr>
          <a:xfrm>
            <a:off x="5806440" y="2011680"/>
            <a:ext cx="2834640" cy="640080"/>
          </a:xfrm>
          <a:prstGeom prst="rect">
            <a:avLst/>
          </a:prstGeom>
          <a:noFill/>
          <a:ln/>
        </p:spPr>
        <p:txBody>
          <a:bodyPr wrap="square" lIns="0" tIns="0" rIns="0" bIns="0" rtlCol="0" anchor="ctr"/>
          <a:lstStyle/>
          <a:p>
            <a:pPr algn="ctr" indent="0" marL="0">
              <a:buNone/>
            </a:pPr>
            <a:r>
              <a:rPr lang="en-US" sz="1300" dirty="0">
                <a:solidFill>
                  <a:srgbClr val="FFE8D8"/>
                </a:solidFill>
                <a:latin typeface="Calibri" pitchFamily="34" charset="0"/>
                <a:ea typeface="Calibri" pitchFamily="34" charset="-122"/>
                <a:cs typeface="Calibri" pitchFamily="34" charset="-120"/>
              </a:rPr>
              <a:t>anställda</a:t>
            </a:r>
            <a:endParaRPr lang="en-US" sz="1300" dirty="0"/>
          </a:p>
          <a:p>
            <a:pPr algn="ctr" indent="0" marL="0">
              <a:buNone/>
            </a:pPr>
            <a:r>
              <a:rPr lang="en-US" sz="1300" dirty="0">
                <a:solidFill>
                  <a:srgbClr val="FFE8D8"/>
                </a:solidFill>
                <a:latin typeface="Calibri" pitchFamily="34" charset="0"/>
                <a:ea typeface="Calibri" pitchFamily="34" charset="-122"/>
                <a:cs typeface="Calibri" pitchFamily="34" charset="-120"/>
              </a:rPr>
              <a:t>i tillväxtfas</a:t>
            </a:r>
            <a:endParaRPr lang="en-US" sz="1300" dirty="0"/>
          </a:p>
        </p:txBody>
      </p:sp>
      <p:sp>
        <p:nvSpPr>
          <p:cNvPr id="21" name="Shape 19"/>
          <p:cNvSpPr/>
          <p:nvPr/>
        </p:nvSpPr>
        <p:spPr>
          <a:xfrm>
            <a:off x="5715000" y="3063240"/>
            <a:ext cx="3017520" cy="1828800"/>
          </a:xfrm>
          <a:prstGeom prst="rect">
            <a:avLst/>
          </a:prstGeom>
          <a:solidFill>
            <a:srgbClr val="2B2B2B"/>
          </a:solidFill>
          <a:ln w="12700">
            <a:solidFill>
              <a:srgbClr val="2B2B2B"/>
            </a:solidFill>
            <a:prstDash val="solid"/>
          </a:ln>
          <a:effectLst>
            <a:outerShdw sx="100000" sy="100000" kx="0" ky="0" algn="bl" rotWithShape="0" blurRad="127000" dist="50800" dir="8100000">
              <a:srgbClr val="000000">
                <a:alpha val="12000"/>
              </a:srgbClr>
            </a:outerShdw>
          </a:effectLst>
        </p:spPr>
      </p:sp>
      <p:sp>
        <p:nvSpPr>
          <p:cNvPr id="22" name="Text 20"/>
          <p:cNvSpPr/>
          <p:nvPr/>
        </p:nvSpPr>
        <p:spPr>
          <a:xfrm>
            <a:off x="5715000" y="3246120"/>
            <a:ext cx="3017520" cy="91440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2 nya</a:t>
            </a:r>
            <a:endParaRPr lang="en-US" sz="5600" dirty="0"/>
          </a:p>
        </p:txBody>
      </p:sp>
      <p:sp>
        <p:nvSpPr>
          <p:cNvPr id="23" name="Text 21"/>
          <p:cNvSpPr/>
          <p:nvPr/>
        </p:nvSpPr>
        <p:spPr>
          <a:xfrm>
            <a:off x="5806440" y="4114800"/>
            <a:ext cx="2834640" cy="640080"/>
          </a:xfrm>
          <a:prstGeom prst="rect">
            <a:avLst/>
          </a:prstGeom>
          <a:noFill/>
          <a:ln/>
        </p:spPr>
        <p:txBody>
          <a:bodyPr wrap="square" lIns="0" tIns="0" rIns="0" bIns="0" rtlCol="0" anchor="ctr"/>
          <a:lstStyle/>
          <a:p>
            <a:pPr algn="ctr" indent="0" marL="0">
              <a:buNone/>
            </a:pPr>
            <a:r>
              <a:rPr lang="en-US" sz="1300" dirty="0">
                <a:solidFill>
                  <a:srgbClr val="8A8A8A"/>
                </a:solidFill>
                <a:latin typeface="Calibri" pitchFamily="34" charset="0"/>
                <a:ea typeface="Calibri" pitchFamily="34" charset="-122"/>
                <a:cs typeface="Calibri" pitchFamily="34" charset="-120"/>
              </a:rPr>
              <a:t>storkundsavtal</a:t>
            </a:r>
            <a:endParaRPr lang="en-US" sz="1300" dirty="0"/>
          </a:p>
          <a:p>
            <a:pPr algn="ctr" indent="0" marL="0">
              <a:buNone/>
            </a:pPr>
            <a:r>
              <a:rPr lang="en-US" sz="1300" dirty="0">
                <a:solidFill>
                  <a:srgbClr val="8A8A8A"/>
                </a:solidFill>
                <a:latin typeface="Calibri" pitchFamily="34" charset="0"/>
                <a:ea typeface="Calibri" pitchFamily="34" charset="-122"/>
                <a:cs typeface="Calibri" pitchFamily="34" charset="-120"/>
              </a:rPr>
              <a:t>som kräver skalbarhet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Varför det är svårt</a:t>
            </a:r>
            <a:endParaRPr lang="en-US" sz="3200" dirty="0"/>
          </a:p>
        </p:txBody>
      </p:sp>
      <p:sp>
        <p:nvSpPr>
          <p:cNvPr id="3" name="Text 1"/>
          <p:cNvSpPr/>
          <p:nvPr/>
        </p:nvSpPr>
        <p:spPr>
          <a:xfrm>
            <a:off x="411480" y="777240"/>
            <a:ext cx="8321040" cy="320040"/>
          </a:xfrm>
          <a:prstGeom prst="rect">
            <a:avLst/>
          </a:prstGeom>
          <a:noFill/>
          <a:ln/>
        </p:spPr>
        <p:txBody>
          <a:bodyPr wrap="square" lIns="0" tIns="0" rIns="0" bIns="0" rtlCol="0" anchor="ctr"/>
          <a:lstStyle/>
          <a:p>
            <a:pPr indent="0" marL="0">
              <a:buNone/>
            </a:pPr>
            <a:r>
              <a:rPr lang="en-US" sz="1500" i="1" dirty="0">
                <a:solidFill>
                  <a:srgbClr val="8A8A8A"/>
                </a:solidFill>
                <a:latin typeface="Calibri" pitchFamily="34" charset="0"/>
                <a:ea typeface="Calibri" pitchFamily="34" charset="-122"/>
                <a:cs typeface="Calibri" pitchFamily="34" charset="-120"/>
              </a:rPr>
              <a:t>De flesta företag fastnar i samma tre hinder</a:t>
            </a:r>
            <a:endParaRPr lang="en-US" sz="1500" dirty="0"/>
          </a:p>
        </p:txBody>
      </p:sp>
      <p:sp>
        <p:nvSpPr>
          <p:cNvPr id="4" name="Shape 2"/>
          <p:cNvSpPr/>
          <p:nvPr/>
        </p:nvSpPr>
        <p:spPr>
          <a:xfrm>
            <a:off x="365760" y="1234440"/>
            <a:ext cx="2606040" cy="361188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5" name="Shape 3"/>
          <p:cNvSpPr/>
          <p:nvPr/>
        </p:nvSpPr>
        <p:spPr>
          <a:xfrm>
            <a:off x="1188720" y="1417320"/>
            <a:ext cx="960120" cy="960120"/>
          </a:xfrm>
          <a:prstGeom prst="ellipse">
            <a:avLst/>
          </a:prstGeom>
          <a:solidFill>
            <a:srgbClr val="D95818"/>
          </a:solidFill>
          <a:ln w="12700">
            <a:solidFill>
              <a:srgbClr val="D95818"/>
            </a:solidFill>
            <a:prstDash val="solid"/>
          </a:ln>
        </p:spPr>
      </p:sp>
      <p:pic>
        <p:nvPicPr>
          <p:cNvPr id="6" name="Image 0" descr="preencoded.png">    </p:cNvPr>
          <p:cNvPicPr>
            <a:picLocks noChangeAspect="1"/>
          </p:cNvPicPr>
          <p:nvPr/>
        </p:nvPicPr>
        <p:blipFill>
          <a:blip r:embed="rId1"/>
          <a:stretch>
            <a:fillRect/>
          </a:stretch>
        </p:blipFill>
        <p:spPr>
          <a:xfrm>
            <a:off x="1325880" y="1554480"/>
            <a:ext cx="685800" cy="685800"/>
          </a:xfrm>
          <a:prstGeom prst="rect">
            <a:avLst/>
          </a:prstGeom>
        </p:spPr>
      </p:pic>
      <p:sp>
        <p:nvSpPr>
          <p:cNvPr id="7" name="Text 4"/>
          <p:cNvSpPr/>
          <p:nvPr/>
        </p:nvSpPr>
        <p:spPr>
          <a:xfrm>
            <a:off x="502920" y="2514600"/>
            <a:ext cx="2331720" cy="502920"/>
          </a:xfrm>
          <a:prstGeom prst="rect">
            <a:avLst/>
          </a:prstGeom>
          <a:noFill/>
          <a:ln/>
        </p:spPr>
        <p:txBody>
          <a:bodyPr wrap="square" lIns="0" tIns="0" rIns="0" bIns="0" rtlCol="0" anchor="ctr"/>
          <a:lstStyle/>
          <a:p>
            <a:pPr algn="ctr" indent="0" marL="0">
              <a:buNone/>
            </a:pPr>
            <a:r>
              <a:rPr lang="en-US" sz="2000" b="1" dirty="0">
                <a:solidFill>
                  <a:srgbClr val="2B2B2B"/>
                </a:solidFill>
                <a:latin typeface="Calibri" pitchFamily="34" charset="0"/>
                <a:ea typeface="Calibri" pitchFamily="34" charset="-122"/>
                <a:cs typeface="Calibri" pitchFamily="34" charset="-120"/>
              </a:rPr>
              <a:t>För brett</a:t>
            </a:r>
            <a:endParaRPr lang="en-US" sz="2000" dirty="0"/>
          </a:p>
        </p:txBody>
      </p:sp>
      <p:sp>
        <p:nvSpPr>
          <p:cNvPr id="8" name="Text 5"/>
          <p:cNvSpPr/>
          <p:nvPr/>
        </p:nvSpPr>
        <p:spPr>
          <a:xfrm>
            <a:off x="530352" y="3063240"/>
            <a:ext cx="2286000" cy="164592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AI kan göra allt – men inte allt på en gång. Utan prioritering sprids energin tunt och ingenting blir klart.</a:t>
            </a:r>
            <a:endParaRPr lang="en-US" sz="1300" dirty="0"/>
          </a:p>
        </p:txBody>
      </p:sp>
      <p:sp>
        <p:nvSpPr>
          <p:cNvPr id="9" name="Shape 6"/>
          <p:cNvSpPr/>
          <p:nvPr/>
        </p:nvSpPr>
        <p:spPr>
          <a:xfrm>
            <a:off x="3200400" y="1234440"/>
            <a:ext cx="2606040" cy="361188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0" name="Shape 7"/>
          <p:cNvSpPr/>
          <p:nvPr/>
        </p:nvSpPr>
        <p:spPr>
          <a:xfrm>
            <a:off x="4023360" y="1417320"/>
            <a:ext cx="960120" cy="960120"/>
          </a:xfrm>
          <a:prstGeom prst="ellipse">
            <a:avLst/>
          </a:prstGeom>
          <a:solidFill>
            <a:srgbClr val="D95818"/>
          </a:solidFill>
          <a:ln w="12700">
            <a:solidFill>
              <a:srgbClr val="D95818"/>
            </a:solidFill>
            <a:prstDash val="solid"/>
          </a:ln>
        </p:spPr>
      </p:sp>
      <p:pic>
        <p:nvPicPr>
          <p:cNvPr id="11" name="Image 1" descr="preencoded.png">    </p:cNvPr>
          <p:cNvPicPr>
            <a:picLocks noChangeAspect="1"/>
          </p:cNvPicPr>
          <p:nvPr/>
        </p:nvPicPr>
        <p:blipFill>
          <a:blip r:embed="rId2"/>
          <a:stretch>
            <a:fillRect/>
          </a:stretch>
        </p:blipFill>
        <p:spPr>
          <a:xfrm>
            <a:off x="4160520" y="1554480"/>
            <a:ext cx="685800" cy="685800"/>
          </a:xfrm>
          <a:prstGeom prst="rect">
            <a:avLst/>
          </a:prstGeom>
        </p:spPr>
      </p:pic>
      <p:sp>
        <p:nvSpPr>
          <p:cNvPr id="12" name="Text 8"/>
          <p:cNvSpPr/>
          <p:nvPr/>
        </p:nvSpPr>
        <p:spPr>
          <a:xfrm>
            <a:off x="3337560" y="2514600"/>
            <a:ext cx="2331720" cy="502920"/>
          </a:xfrm>
          <a:prstGeom prst="rect">
            <a:avLst/>
          </a:prstGeom>
          <a:noFill/>
          <a:ln/>
        </p:spPr>
        <p:txBody>
          <a:bodyPr wrap="square" lIns="0" tIns="0" rIns="0" bIns="0" rtlCol="0" anchor="ctr"/>
          <a:lstStyle/>
          <a:p>
            <a:pPr algn="ctr" indent="0" marL="0">
              <a:buNone/>
            </a:pPr>
            <a:r>
              <a:rPr lang="en-US" sz="2000" b="1" dirty="0">
                <a:solidFill>
                  <a:srgbClr val="2B2B2B"/>
                </a:solidFill>
                <a:latin typeface="Calibri" pitchFamily="34" charset="0"/>
                <a:ea typeface="Calibri" pitchFamily="34" charset="-122"/>
                <a:cs typeface="Calibri" pitchFamily="34" charset="-120"/>
              </a:rPr>
              <a:t>För abstrakt</a:t>
            </a:r>
            <a:endParaRPr lang="en-US" sz="2000" dirty="0"/>
          </a:p>
        </p:txBody>
      </p:sp>
      <p:sp>
        <p:nvSpPr>
          <p:cNvPr id="13" name="Text 9"/>
          <p:cNvSpPr/>
          <p:nvPr/>
        </p:nvSpPr>
        <p:spPr>
          <a:xfrm>
            <a:off x="3364992" y="3063240"/>
            <a:ext cx="2286000" cy="164592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Det är lätt att prata om AI-potential. Det svåra är att koppla det till era specifika processer och faktisk ROI.</a:t>
            </a:r>
            <a:endParaRPr lang="en-US" sz="1300" dirty="0"/>
          </a:p>
        </p:txBody>
      </p:sp>
      <p:sp>
        <p:nvSpPr>
          <p:cNvPr id="14" name="Shape 10"/>
          <p:cNvSpPr/>
          <p:nvPr/>
        </p:nvSpPr>
        <p:spPr>
          <a:xfrm>
            <a:off x="6035040" y="1234440"/>
            <a:ext cx="2606040" cy="361188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5" name="Shape 11"/>
          <p:cNvSpPr/>
          <p:nvPr/>
        </p:nvSpPr>
        <p:spPr>
          <a:xfrm>
            <a:off x="6858000" y="1417320"/>
            <a:ext cx="960120" cy="960120"/>
          </a:xfrm>
          <a:prstGeom prst="ellipse">
            <a:avLst/>
          </a:prstGeom>
          <a:solidFill>
            <a:srgbClr val="D95818"/>
          </a:solidFill>
          <a:ln w="12700">
            <a:solidFill>
              <a:srgbClr val="D95818"/>
            </a:solidFill>
            <a:prstDash val="solid"/>
          </a:ln>
        </p:spPr>
      </p:sp>
      <p:pic>
        <p:nvPicPr>
          <p:cNvPr id="16" name="Image 2" descr="preencoded.png">    </p:cNvPr>
          <p:cNvPicPr>
            <a:picLocks noChangeAspect="1"/>
          </p:cNvPicPr>
          <p:nvPr/>
        </p:nvPicPr>
        <p:blipFill>
          <a:blip r:embed="rId3"/>
          <a:stretch>
            <a:fillRect/>
          </a:stretch>
        </p:blipFill>
        <p:spPr>
          <a:xfrm>
            <a:off x="6995160" y="1554480"/>
            <a:ext cx="685800" cy="685800"/>
          </a:xfrm>
          <a:prstGeom prst="rect">
            <a:avLst/>
          </a:prstGeom>
        </p:spPr>
      </p:pic>
      <p:sp>
        <p:nvSpPr>
          <p:cNvPr id="17" name="Text 12"/>
          <p:cNvSpPr/>
          <p:nvPr/>
        </p:nvSpPr>
        <p:spPr>
          <a:xfrm>
            <a:off x="6172200" y="2514600"/>
            <a:ext cx="2331720" cy="502920"/>
          </a:xfrm>
          <a:prstGeom prst="rect">
            <a:avLst/>
          </a:prstGeom>
          <a:noFill/>
          <a:ln/>
        </p:spPr>
        <p:txBody>
          <a:bodyPr wrap="square" lIns="0" tIns="0" rIns="0" bIns="0" rtlCol="0" anchor="ctr"/>
          <a:lstStyle/>
          <a:p>
            <a:pPr algn="ctr" indent="0" marL="0">
              <a:buNone/>
            </a:pPr>
            <a:r>
              <a:rPr lang="en-US" sz="2000" b="1" dirty="0">
                <a:solidFill>
                  <a:srgbClr val="2B2B2B"/>
                </a:solidFill>
                <a:latin typeface="Calibri" pitchFamily="34" charset="0"/>
                <a:ea typeface="Calibri" pitchFamily="34" charset="-122"/>
                <a:cs typeface="Calibri" pitchFamily="34" charset="-120"/>
              </a:rPr>
              <a:t>För ensamt</a:t>
            </a:r>
            <a:endParaRPr lang="en-US" sz="2000" dirty="0"/>
          </a:p>
        </p:txBody>
      </p:sp>
      <p:sp>
        <p:nvSpPr>
          <p:cNvPr id="18" name="Text 13"/>
          <p:cNvSpPr/>
          <p:nvPr/>
        </p:nvSpPr>
        <p:spPr>
          <a:xfrm>
            <a:off x="6199632" y="3063240"/>
            <a:ext cx="2286000" cy="164592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Att driva AI-implementering internt utan rätt kompetens tar för lång tid och ger osäkra resultat.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Vår metodik</a:t>
            </a:r>
            <a:endParaRPr lang="en-US" sz="3200" dirty="0"/>
          </a:p>
        </p:txBody>
      </p:sp>
      <p:sp>
        <p:nvSpPr>
          <p:cNvPr id="3" name="Text 1"/>
          <p:cNvSpPr/>
          <p:nvPr/>
        </p:nvSpPr>
        <p:spPr>
          <a:xfrm>
            <a:off x="411480" y="777240"/>
            <a:ext cx="8321040" cy="320040"/>
          </a:xfrm>
          <a:prstGeom prst="rect">
            <a:avLst/>
          </a:prstGeom>
          <a:noFill/>
          <a:ln/>
        </p:spPr>
        <p:txBody>
          <a:bodyPr wrap="square" lIns="0" tIns="0" rIns="0" bIns="0" rtlCol="0" anchor="ctr"/>
          <a:lstStyle/>
          <a:p>
            <a:pPr indent="0" marL="0">
              <a:buNone/>
            </a:pPr>
            <a:r>
              <a:rPr lang="en-US" sz="1500" i="1" dirty="0">
                <a:solidFill>
                  <a:srgbClr val="8A8A8A"/>
                </a:solidFill>
                <a:latin typeface="Calibri" pitchFamily="34" charset="0"/>
                <a:ea typeface="Calibri" pitchFamily="34" charset="-122"/>
                <a:cs typeface="Calibri" pitchFamily="34" charset="-120"/>
              </a:rPr>
              <a:t>Tre sammanlänkade pelare – från strategi till skalning</a:t>
            </a:r>
            <a:endParaRPr lang="en-US" sz="1500" dirty="0"/>
          </a:p>
        </p:txBody>
      </p:sp>
      <p:sp>
        <p:nvSpPr>
          <p:cNvPr id="4" name="Shape 2"/>
          <p:cNvSpPr/>
          <p:nvPr/>
        </p:nvSpPr>
        <p:spPr>
          <a:xfrm>
            <a:off x="365760" y="1234440"/>
            <a:ext cx="2606040" cy="36576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5" name="Text 3"/>
          <p:cNvSpPr/>
          <p:nvPr/>
        </p:nvSpPr>
        <p:spPr>
          <a:xfrm>
            <a:off x="530352" y="1389888"/>
            <a:ext cx="1371600" cy="292608"/>
          </a:xfrm>
          <a:prstGeom prst="rect">
            <a:avLst/>
          </a:prstGeom>
          <a:noFill/>
          <a:ln/>
        </p:spPr>
        <p:txBody>
          <a:bodyPr wrap="square" lIns="0" tIns="0" rIns="0" bIns="0" rtlCol="0" anchor="ctr"/>
          <a:lstStyle/>
          <a:p>
            <a:pPr indent="0" marL="0">
              <a:buNone/>
            </a:pPr>
            <a:r>
              <a:rPr lang="en-US" sz="1100" b="1" dirty="0">
                <a:solidFill>
                  <a:srgbClr val="D95818"/>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530352" y="1691640"/>
            <a:ext cx="2286000" cy="502920"/>
          </a:xfrm>
          <a:prstGeom prst="rect">
            <a:avLst/>
          </a:prstGeom>
          <a:noFill/>
          <a:ln/>
        </p:spPr>
        <p:txBody>
          <a:bodyPr wrap="square" lIns="0" tIns="0" rIns="0" bIns="0" rtlCol="0" anchor="ctr"/>
          <a:lstStyle/>
          <a:p>
            <a:pPr indent="0" marL="0">
              <a:buNone/>
            </a:pPr>
            <a:r>
              <a:rPr lang="en-US" sz="2200" b="1" dirty="0">
                <a:solidFill>
                  <a:srgbClr val="2B2B2B"/>
                </a:solidFill>
                <a:latin typeface="Calibri" pitchFamily="34" charset="0"/>
                <a:ea typeface="Calibri" pitchFamily="34" charset="-122"/>
                <a:cs typeface="Calibri" pitchFamily="34" charset="-120"/>
              </a:rPr>
              <a:t>AI-Strategi</a:t>
            </a:r>
            <a:endParaRPr lang="en-US" sz="2200" dirty="0"/>
          </a:p>
        </p:txBody>
      </p:sp>
      <p:sp>
        <p:nvSpPr>
          <p:cNvPr id="7" name="Text 5"/>
          <p:cNvSpPr/>
          <p:nvPr/>
        </p:nvSpPr>
        <p:spPr>
          <a:xfrm>
            <a:off x="530352" y="2176272"/>
            <a:ext cx="2286000" cy="320040"/>
          </a:xfrm>
          <a:prstGeom prst="rect">
            <a:avLst/>
          </a:prstGeom>
          <a:noFill/>
          <a:ln/>
        </p:spPr>
        <p:txBody>
          <a:bodyPr wrap="square" lIns="0" tIns="0" rIns="0" bIns="0" rtlCol="0" anchor="ctr"/>
          <a:lstStyle/>
          <a:p>
            <a:pPr indent="0" marL="0">
              <a:buNone/>
            </a:pPr>
            <a:r>
              <a:rPr lang="en-US" sz="1200" i="1" dirty="0">
                <a:solidFill>
                  <a:srgbClr val="8A8A8A"/>
                </a:solidFill>
                <a:latin typeface="Calibri" pitchFamily="34" charset="0"/>
                <a:ea typeface="Calibri" pitchFamily="34" charset="-122"/>
                <a:cs typeface="Calibri" pitchFamily="34" charset="-120"/>
              </a:rPr>
              <a:t>Kartläggning och riktning</a:t>
            </a:r>
            <a:endParaRPr lang="en-US" sz="1200" dirty="0"/>
          </a:p>
        </p:txBody>
      </p:sp>
      <p:sp>
        <p:nvSpPr>
          <p:cNvPr id="8" name="Text 6"/>
          <p:cNvSpPr/>
          <p:nvPr/>
        </p:nvSpPr>
        <p:spPr>
          <a:xfrm>
            <a:off x="530352" y="265176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AI-profil och mognadsbedömning</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Prioriterade use cases</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AI-policy och governance</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Mätbara mål och KPI:er</a:t>
            </a:r>
            <a:endParaRPr lang="en-US" sz="1200" dirty="0"/>
          </a:p>
        </p:txBody>
      </p:sp>
      <p:sp>
        <p:nvSpPr>
          <p:cNvPr id="9" name="Shape 7"/>
          <p:cNvSpPr/>
          <p:nvPr/>
        </p:nvSpPr>
        <p:spPr>
          <a:xfrm>
            <a:off x="3200400" y="1234440"/>
            <a:ext cx="2606040" cy="3657600"/>
          </a:xfrm>
          <a:prstGeom prst="rect">
            <a:avLst/>
          </a:prstGeom>
          <a:solidFill>
            <a:srgbClr val="D95818"/>
          </a:solidFill>
          <a:ln w="12700">
            <a:solidFill>
              <a:srgbClr val="D95818"/>
            </a:solidFill>
            <a:prstDash val="solid"/>
          </a:ln>
          <a:effectLst>
            <a:outerShdw sx="100000" sy="100000" kx="0" ky="0" algn="bl" rotWithShape="0" blurRad="127000" dist="50800" dir="8100000">
              <a:srgbClr val="000000">
                <a:alpha val="12000"/>
              </a:srgbClr>
            </a:outerShdw>
          </a:effectLst>
        </p:spPr>
      </p:sp>
      <p:sp>
        <p:nvSpPr>
          <p:cNvPr id="10" name="Text 8"/>
          <p:cNvSpPr/>
          <p:nvPr/>
        </p:nvSpPr>
        <p:spPr>
          <a:xfrm>
            <a:off x="3364992" y="1389888"/>
            <a:ext cx="1371600" cy="292608"/>
          </a:xfrm>
          <a:prstGeom prst="rect">
            <a:avLst/>
          </a:prstGeom>
          <a:noFill/>
          <a:ln/>
        </p:spPr>
        <p:txBody>
          <a:bodyPr wrap="square" lIns="0" tIns="0" rIns="0" bIns="0" rtlCol="0" anchor="ctr"/>
          <a:lstStyle/>
          <a:p>
            <a:pPr indent="0" marL="0">
              <a:buNone/>
            </a:pPr>
            <a:r>
              <a:rPr lang="en-US" sz="1100" b="1" dirty="0">
                <a:solidFill>
                  <a:srgbClr val="FFD4B8"/>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3364992" y="1691640"/>
            <a:ext cx="2286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AI-Toolbox</a:t>
            </a:r>
            <a:endParaRPr lang="en-US" sz="2200" dirty="0"/>
          </a:p>
        </p:txBody>
      </p:sp>
      <p:sp>
        <p:nvSpPr>
          <p:cNvPr id="12" name="Text 10"/>
          <p:cNvSpPr/>
          <p:nvPr/>
        </p:nvSpPr>
        <p:spPr>
          <a:xfrm>
            <a:off x="3364992" y="2176272"/>
            <a:ext cx="2286000" cy="320040"/>
          </a:xfrm>
          <a:prstGeom prst="rect">
            <a:avLst/>
          </a:prstGeom>
          <a:noFill/>
          <a:ln/>
        </p:spPr>
        <p:txBody>
          <a:bodyPr wrap="square" lIns="0" tIns="0" rIns="0" bIns="0" rtlCol="0" anchor="ctr"/>
          <a:lstStyle/>
          <a:p>
            <a:pPr indent="0" marL="0">
              <a:buNone/>
            </a:pPr>
            <a:r>
              <a:rPr lang="en-US" sz="1200" i="1" dirty="0">
                <a:solidFill>
                  <a:srgbClr val="FFD4B8"/>
                </a:solidFill>
                <a:latin typeface="Calibri" pitchFamily="34" charset="0"/>
                <a:ea typeface="Calibri" pitchFamily="34" charset="-122"/>
                <a:cs typeface="Calibri" pitchFamily="34" charset="-120"/>
              </a:rPr>
              <a:t>Implementering och verktyg</a:t>
            </a:r>
            <a:endParaRPr lang="en-US" sz="1200" dirty="0"/>
          </a:p>
        </p:txBody>
      </p:sp>
      <p:sp>
        <p:nvSpPr>
          <p:cNvPr id="13" name="Text 11"/>
          <p:cNvSpPr/>
          <p:nvPr/>
        </p:nvSpPr>
        <p:spPr>
          <a:xfrm>
            <a:off x="3364992" y="265176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E8D8"/>
                </a:solidFill>
                <a:latin typeface="Calibri" pitchFamily="34" charset="0"/>
                <a:ea typeface="Calibri" pitchFamily="34" charset="-122"/>
                <a:cs typeface="Calibri" pitchFamily="34" charset="-120"/>
              </a:rPr>
              <a:t>Assistenter och chattbotar</a:t>
            </a:r>
            <a:endParaRPr lang="en-US" sz="1200" dirty="0"/>
          </a:p>
          <a:p>
            <a:pPr marL="342900" indent="-342900">
              <a:spcAft>
                <a:spcPts val="600"/>
              </a:spcAft>
              <a:buSzPct val="100000"/>
              <a:buChar char="•"/>
            </a:pPr>
            <a:r>
              <a:rPr lang="en-US" sz="1200" dirty="0">
                <a:solidFill>
                  <a:srgbClr val="FFE8D8"/>
                </a:solidFill>
                <a:latin typeface="Calibri" pitchFamily="34" charset="0"/>
                <a:ea typeface="Calibri" pitchFamily="34" charset="-122"/>
                <a:cs typeface="Calibri" pitchFamily="34" charset="-120"/>
              </a:rPr>
              <a:t>Automatisering av processer</a:t>
            </a:r>
            <a:endParaRPr lang="en-US" sz="1200" dirty="0"/>
          </a:p>
          <a:p>
            <a:pPr marL="342900" indent="-342900">
              <a:spcAft>
                <a:spcPts val="600"/>
              </a:spcAft>
              <a:buSzPct val="100000"/>
              <a:buChar char="•"/>
            </a:pPr>
            <a:r>
              <a:rPr lang="en-US" sz="1200" dirty="0">
                <a:solidFill>
                  <a:srgbClr val="FFE8D8"/>
                </a:solidFill>
                <a:latin typeface="Calibri" pitchFamily="34" charset="0"/>
                <a:ea typeface="Calibri" pitchFamily="34" charset="-122"/>
                <a:cs typeface="Calibri" pitchFamily="34" charset="-120"/>
              </a:rPr>
              <a:t>Innehållsproduktion med AI</a:t>
            </a:r>
            <a:endParaRPr lang="en-US" sz="1200" dirty="0"/>
          </a:p>
          <a:p>
            <a:pPr marL="342900" indent="-342900">
              <a:spcAft>
                <a:spcPts val="600"/>
              </a:spcAft>
              <a:buSzPct val="100000"/>
              <a:buChar char="•"/>
            </a:pPr>
            <a:r>
              <a:rPr lang="en-US" sz="1200" dirty="0">
                <a:solidFill>
                  <a:srgbClr val="FFE8D8"/>
                </a:solidFill>
                <a:latin typeface="Calibri" pitchFamily="34" charset="0"/>
                <a:ea typeface="Calibri" pitchFamily="34" charset="-122"/>
                <a:cs typeface="Calibri" pitchFamily="34" charset="-120"/>
              </a:rPr>
              <a:t>Analys och datainsikter</a:t>
            </a:r>
            <a:endParaRPr lang="en-US" sz="1200" dirty="0"/>
          </a:p>
        </p:txBody>
      </p:sp>
      <p:sp>
        <p:nvSpPr>
          <p:cNvPr id="14" name="Shape 12"/>
          <p:cNvSpPr/>
          <p:nvPr/>
        </p:nvSpPr>
        <p:spPr>
          <a:xfrm>
            <a:off x="6035040" y="1234440"/>
            <a:ext cx="2606040" cy="36576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5" name="Text 13"/>
          <p:cNvSpPr/>
          <p:nvPr/>
        </p:nvSpPr>
        <p:spPr>
          <a:xfrm>
            <a:off x="6199632" y="1389888"/>
            <a:ext cx="1371600" cy="292608"/>
          </a:xfrm>
          <a:prstGeom prst="rect">
            <a:avLst/>
          </a:prstGeom>
          <a:noFill/>
          <a:ln/>
        </p:spPr>
        <p:txBody>
          <a:bodyPr wrap="square" lIns="0" tIns="0" rIns="0" bIns="0" rtlCol="0" anchor="ctr"/>
          <a:lstStyle/>
          <a:p>
            <a:pPr indent="0" marL="0">
              <a:buNone/>
            </a:pPr>
            <a:r>
              <a:rPr lang="en-US" sz="1100" b="1" dirty="0">
                <a:solidFill>
                  <a:srgbClr val="D95818"/>
                </a:solidFill>
                <a:latin typeface="Calibri" pitchFamily="34" charset="0"/>
                <a:ea typeface="Calibri" pitchFamily="34" charset="-122"/>
                <a:cs typeface="Calibri" pitchFamily="34" charset="-120"/>
              </a:rPr>
              <a:t>03</a:t>
            </a:r>
            <a:endParaRPr lang="en-US" sz="1100" dirty="0"/>
          </a:p>
        </p:txBody>
      </p:sp>
      <p:sp>
        <p:nvSpPr>
          <p:cNvPr id="16" name="Text 14"/>
          <p:cNvSpPr/>
          <p:nvPr/>
        </p:nvSpPr>
        <p:spPr>
          <a:xfrm>
            <a:off x="6199632" y="1691640"/>
            <a:ext cx="2286000" cy="502920"/>
          </a:xfrm>
          <a:prstGeom prst="rect">
            <a:avLst/>
          </a:prstGeom>
          <a:noFill/>
          <a:ln/>
        </p:spPr>
        <p:txBody>
          <a:bodyPr wrap="square" lIns="0" tIns="0" rIns="0" bIns="0" rtlCol="0" anchor="ctr"/>
          <a:lstStyle/>
          <a:p>
            <a:pPr indent="0" marL="0">
              <a:buNone/>
            </a:pPr>
            <a:r>
              <a:rPr lang="en-US" sz="2200" b="1" dirty="0">
                <a:solidFill>
                  <a:srgbClr val="2B2B2B"/>
                </a:solidFill>
                <a:latin typeface="Calibri" pitchFamily="34" charset="0"/>
                <a:ea typeface="Calibri" pitchFamily="34" charset="-122"/>
                <a:cs typeface="Calibri" pitchFamily="34" charset="-120"/>
              </a:rPr>
              <a:t>AI-Konsult</a:t>
            </a:r>
            <a:endParaRPr lang="en-US" sz="2200" dirty="0"/>
          </a:p>
        </p:txBody>
      </p:sp>
      <p:sp>
        <p:nvSpPr>
          <p:cNvPr id="17" name="Text 15"/>
          <p:cNvSpPr/>
          <p:nvPr/>
        </p:nvSpPr>
        <p:spPr>
          <a:xfrm>
            <a:off x="6199632" y="2176272"/>
            <a:ext cx="2286000" cy="320040"/>
          </a:xfrm>
          <a:prstGeom prst="rect">
            <a:avLst/>
          </a:prstGeom>
          <a:noFill/>
          <a:ln/>
        </p:spPr>
        <p:txBody>
          <a:bodyPr wrap="square" lIns="0" tIns="0" rIns="0" bIns="0" rtlCol="0" anchor="ctr"/>
          <a:lstStyle/>
          <a:p>
            <a:pPr indent="0" marL="0">
              <a:buNone/>
            </a:pPr>
            <a:r>
              <a:rPr lang="en-US" sz="1200" i="1" dirty="0">
                <a:solidFill>
                  <a:srgbClr val="8A8A8A"/>
                </a:solidFill>
                <a:latin typeface="Calibri" pitchFamily="34" charset="0"/>
                <a:ea typeface="Calibri" pitchFamily="34" charset="-122"/>
                <a:cs typeface="Calibri" pitchFamily="34" charset="-120"/>
              </a:rPr>
              <a:t>Partnerskap och skalning</a:t>
            </a:r>
            <a:endParaRPr lang="en-US" sz="1200" dirty="0"/>
          </a:p>
        </p:txBody>
      </p:sp>
      <p:sp>
        <p:nvSpPr>
          <p:cNvPr id="18" name="Text 16"/>
          <p:cNvSpPr/>
          <p:nvPr/>
        </p:nvSpPr>
        <p:spPr>
          <a:xfrm>
            <a:off x="6199632" y="2651760"/>
            <a:ext cx="2286000" cy="20116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Löpande strategisk rådgivning</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Utbildning och förankring</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Iterativ förbättring</a:t>
            </a:r>
            <a:endParaRPr lang="en-US" sz="1200" dirty="0"/>
          </a:p>
          <a:p>
            <a:pPr marL="342900" indent="-342900">
              <a:spcAft>
                <a:spcPts val="600"/>
              </a:spcAft>
              <a:buSzPct val="100000"/>
              <a:buChar char="•"/>
            </a:pPr>
            <a:r>
              <a:rPr lang="en-US" sz="1200" dirty="0">
                <a:solidFill>
                  <a:srgbClr val="4A4A4A"/>
                </a:solidFill>
                <a:latin typeface="Calibri" pitchFamily="34" charset="0"/>
                <a:ea typeface="Calibri" pitchFamily="34" charset="-122"/>
                <a:cs typeface="Calibri" pitchFamily="34" charset="-120"/>
              </a:rPr>
              <a:t>Skalning av vad som fungerar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Vad vi föreslår för Reinholt</a:t>
            </a:r>
            <a:endParaRPr lang="en-US" sz="3200" dirty="0"/>
          </a:p>
        </p:txBody>
      </p:sp>
      <p:sp>
        <p:nvSpPr>
          <p:cNvPr id="3" name="Text 1"/>
          <p:cNvSpPr/>
          <p:nvPr/>
        </p:nvSpPr>
        <p:spPr>
          <a:xfrm>
            <a:off x="411480" y="777240"/>
            <a:ext cx="8321040" cy="320040"/>
          </a:xfrm>
          <a:prstGeom prst="rect">
            <a:avLst/>
          </a:prstGeom>
          <a:noFill/>
          <a:ln/>
        </p:spPr>
        <p:txBody>
          <a:bodyPr wrap="square" lIns="0" tIns="0" rIns="0" bIns="0" rtlCol="0" anchor="ctr"/>
          <a:lstStyle/>
          <a:p>
            <a:pPr indent="0" marL="0">
              <a:buNone/>
            </a:pPr>
            <a:r>
              <a:rPr lang="en-US" sz="1500" i="1" dirty="0">
                <a:solidFill>
                  <a:srgbClr val="8A8A8A"/>
                </a:solidFill>
                <a:latin typeface="Calibri" pitchFamily="34" charset="0"/>
                <a:ea typeface="Calibri" pitchFamily="34" charset="-122"/>
                <a:cs typeface="Calibri" pitchFamily="34" charset="-120"/>
              </a:rPr>
              <a:t>Tre prioriterade use cases – konkreta, lönsamma, genomförbara</a:t>
            </a:r>
            <a:endParaRPr lang="en-US" sz="1500" dirty="0"/>
          </a:p>
        </p:txBody>
      </p:sp>
      <p:sp>
        <p:nvSpPr>
          <p:cNvPr id="4" name="Shape 2"/>
          <p:cNvSpPr/>
          <p:nvPr/>
        </p:nvSpPr>
        <p:spPr>
          <a:xfrm>
            <a:off x="365760" y="1234440"/>
            <a:ext cx="2606040" cy="36576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5" name="Shape 3"/>
          <p:cNvSpPr/>
          <p:nvPr/>
        </p:nvSpPr>
        <p:spPr>
          <a:xfrm>
            <a:off x="1188720" y="1389888"/>
            <a:ext cx="960120" cy="960120"/>
          </a:xfrm>
          <a:prstGeom prst="ellipse">
            <a:avLst/>
          </a:prstGeom>
          <a:solidFill>
            <a:srgbClr val="D95818"/>
          </a:solidFill>
          <a:ln w="12700">
            <a:solidFill>
              <a:srgbClr val="D95818"/>
            </a:solidFill>
            <a:prstDash val="solid"/>
          </a:ln>
        </p:spPr>
      </p:sp>
      <p:pic>
        <p:nvPicPr>
          <p:cNvPr id="6" name="Image 0" descr="preencoded.png">    </p:cNvPr>
          <p:cNvPicPr>
            <a:picLocks noChangeAspect="1"/>
          </p:cNvPicPr>
          <p:nvPr/>
        </p:nvPicPr>
        <p:blipFill>
          <a:blip r:embed="rId1"/>
          <a:stretch>
            <a:fillRect/>
          </a:stretch>
        </p:blipFill>
        <p:spPr>
          <a:xfrm>
            <a:off x="1325880" y="1527048"/>
            <a:ext cx="685800" cy="685800"/>
          </a:xfrm>
          <a:prstGeom prst="rect">
            <a:avLst/>
          </a:prstGeom>
        </p:spPr>
      </p:pic>
      <p:sp>
        <p:nvSpPr>
          <p:cNvPr id="7" name="Text 4"/>
          <p:cNvSpPr/>
          <p:nvPr/>
        </p:nvSpPr>
        <p:spPr>
          <a:xfrm>
            <a:off x="502920" y="2487168"/>
            <a:ext cx="2331720" cy="475488"/>
          </a:xfrm>
          <a:prstGeom prst="rect">
            <a:avLst/>
          </a:prstGeom>
          <a:noFill/>
          <a:ln/>
        </p:spPr>
        <p:txBody>
          <a:bodyPr wrap="square" lIns="0" tIns="0" rIns="0" bIns="0" rtlCol="0" anchor="ctr"/>
          <a:lstStyle/>
          <a:p>
            <a:pPr algn="ctr" indent="0" marL="0">
              <a:buNone/>
            </a:pPr>
            <a:r>
              <a:rPr lang="en-US" sz="1700" b="1" dirty="0">
                <a:solidFill>
                  <a:srgbClr val="2B2B2B"/>
                </a:solidFill>
                <a:latin typeface="Calibri" pitchFamily="34" charset="0"/>
                <a:ea typeface="Calibri" pitchFamily="34" charset="-122"/>
                <a:cs typeface="Calibri" pitchFamily="34" charset="-120"/>
              </a:rPr>
              <a:t>Admin-automatisering</a:t>
            </a:r>
            <a:endParaRPr lang="en-US" sz="1700" dirty="0"/>
          </a:p>
        </p:txBody>
      </p:sp>
      <p:sp>
        <p:nvSpPr>
          <p:cNvPr id="8" name="Text 5"/>
          <p:cNvSpPr/>
          <p:nvPr/>
        </p:nvSpPr>
        <p:spPr>
          <a:xfrm>
            <a:off x="530352" y="3017520"/>
            <a:ext cx="2286000" cy="137160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Automatisera repetitiva uppgifter: orderhantering, fakturering, intern kommunikation och rapportering.</a:t>
            </a:r>
            <a:endParaRPr lang="en-US" sz="1300" dirty="0"/>
          </a:p>
        </p:txBody>
      </p:sp>
      <p:sp>
        <p:nvSpPr>
          <p:cNvPr id="9" name="Shape 6"/>
          <p:cNvSpPr/>
          <p:nvPr/>
        </p:nvSpPr>
        <p:spPr>
          <a:xfrm>
            <a:off x="457200" y="4434840"/>
            <a:ext cx="2423160" cy="347472"/>
          </a:xfrm>
          <a:prstGeom prst="rect">
            <a:avLst/>
          </a:prstGeom>
          <a:solidFill>
            <a:srgbClr val="FFF2D9"/>
          </a:solidFill>
          <a:ln w="12700">
            <a:solidFill>
              <a:srgbClr val="E8D8B0"/>
            </a:solidFill>
            <a:prstDash val="solid"/>
          </a:ln>
        </p:spPr>
      </p:sp>
      <p:sp>
        <p:nvSpPr>
          <p:cNvPr id="10" name="Text 7"/>
          <p:cNvSpPr/>
          <p:nvPr/>
        </p:nvSpPr>
        <p:spPr>
          <a:xfrm>
            <a:off x="502920" y="4453128"/>
            <a:ext cx="2331720" cy="310896"/>
          </a:xfrm>
          <a:prstGeom prst="rect">
            <a:avLst/>
          </a:prstGeom>
          <a:noFill/>
          <a:ln/>
        </p:spPr>
        <p:txBody>
          <a:bodyPr wrap="square" lIns="0" tIns="0" rIns="0" bIns="0" rtlCol="0" anchor="ctr"/>
          <a:lstStyle/>
          <a:p>
            <a:pPr algn="ctr" indent="0" marL="0">
              <a:buNone/>
            </a:pPr>
            <a:r>
              <a:rPr lang="en-US" sz="1100" b="1" dirty="0">
                <a:solidFill>
                  <a:srgbClr val="640D02"/>
                </a:solidFill>
                <a:latin typeface="Calibri" pitchFamily="34" charset="0"/>
                <a:ea typeface="Calibri" pitchFamily="34" charset="-122"/>
                <a:cs typeface="Calibri" pitchFamily="34" charset="-120"/>
              </a:rPr>
              <a:t>15–25% tidsbesparring per medarbetare</a:t>
            </a:r>
            <a:endParaRPr lang="en-US" sz="1100" dirty="0"/>
          </a:p>
        </p:txBody>
      </p:sp>
      <p:sp>
        <p:nvSpPr>
          <p:cNvPr id="11" name="Shape 8"/>
          <p:cNvSpPr/>
          <p:nvPr/>
        </p:nvSpPr>
        <p:spPr>
          <a:xfrm>
            <a:off x="3200400" y="1234440"/>
            <a:ext cx="2606040" cy="36576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2" name="Shape 9"/>
          <p:cNvSpPr/>
          <p:nvPr/>
        </p:nvSpPr>
        <p:spPr>
          <a:xfrm>
            <a:off x="4023360" y="1389888"/>
            <a:ext cx="960120" cy="960120"/>
          </a:xfrm>
          <a:prstGeom prst="ellipse">
            <a:avLst/>
          </a:prstGeom>
          <a:solidFill>
            <a:srgbClr val="D95818"/>
          </a:solidFill>
          <a:ln w="12700">
            <a:solidFill>
              <a:srgbClr val="D95818"/>
            </a:solidFill>
            <a:prstDash val="solid"/>
          </a:ln>
        </p:spPr>
      </p:sp>
      <p:pic>
        <p:nvPicPr>
          <p:cNvPr id="13" name="Image 1" descr="preencoded.png">    </p:cNvPr>
          <p:cNvPicPr>
            <a:picLocks noChangeAspect="1"/>
          </p:cNvPicPr>
          <p:nvPr/>
        </p:nvPicPr>
        <p:blipFill>
          <a:blip r:embed="rId2"/>
          <a:stretch>
            <a:fillRect/>
          </a:stretch>
        </p:blipFill>
        <p:spPr>
          <a:xfrm>
            <a:off x="4160520" y="1527048"/>
            <a:ext cx="685800" cy="685800"/>
          </a:xfrm>
          <a:prstGeom prst="rect">
            <a:avLst/>
          </a:prstGeom>
        </p:spPr>
      </p:pic>
      <p:sp>
        <p:nvSpPr>
          <p:cNvPr id="14" name="Text 10"/>
          <p:cNvSpPr/>
          <p:nvPr/>
        </p:nvSpPr>
        <p:spPr>
          <a:xfrm>
            <a:off x="3337560" y="2487168"/>
            <a:ext cx="2331720" cy="475488"/>
          </a:xfrm>
          <a:prstGeom prst="rect">
            <a:avLst/>
          </a:prstGeom>
          <a:noFill/>
          <a:ln/>
        </p:spPr>
        <p:txBody>
          <a:bodyPr wrap="square" lIns="0" tIns="0" rIns="0" bIns="0" rtlCol="0" anchor="ctr"/>
          <a:lstStyle/>
          <a:p>
            <a:pPr algn="ctr" indent="0" marL="0">
              <a:buNone/>
            </a:pPr>
            <a:r>
              <a:rPr lang="en-US" sz="1700" b="1" dirty="0">
                <a:solidFill>
                  <a:srgbClr val="2B2B2B"/>
                </a:solidFill>
                <a:latin typeface="Calibri" pitchFamily="34" charset="0"/>
                <a:ea typeface="Calibri" pitchFamily="34" charset="-122"/>
                <a:cs typeface="Calibri" pitchFamily="34" charset="-120"/>
              </a:rPr>
              <a:t>Kundservice-AI</a:t>
            </a:r>
            <a:endParaRPr lang="en-US" sz="1700" dirty="0"/>
          </a:p>
        </p:txBody>
      </p:sp>
      <p:sp>
        <p:nvSpPr>
          <p:cNvPr id="15" name="Text 11"/>
          <p:cNvSpPr/>
          <p:nvPr/>
        </p:nvSpPr>
        <p:spPr>
          <a:xfrm>
            <a:off x="3364992" y="3017520"/>
            <a:ext cx="2286000" cy="137160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AI-driven ärendehantering som svarar på vanliga frågor, eskalerar rätt ärenden och minskar svarstider.</a:t>
            </a:r>
            <a:endParaRPr lang="en-US" sz="1300" dirty="0"/>
          </a:p>
        </p:txBody>
      </p:sp>
      <p:sp>
        <p:nvSpPr>
          <p:cNvPr id="16" name="Shape 12"/>
          <p:cNvSpPr/>
          <p:nvPr/>
        </p:nvSpPr>
        <p:spPr>
          <a:xfrm>
            <a:off x="3291840" y="4434840"/>
            <a:ext cx="2423160" cy="347472"/>
          </a:xfrm>
          <a:prstGeom prst="rect">
            <a:avLst/>
          </a:prstGeom>
          <a:solidFill>
            <a:srgbClr val="FFF2D9"/>
          </a:solidFill>
          <a:ln w="12700">
            <a:solidFill>
              <a:srgbClr val="E8D8B0"/>
            </a:solidFill>
            <a:prstDash val="solid"/>
          </a:ln>
        </p:spPr>
      </p:sp>
      <p:sp>
        <p:nvSpPr>
          <p:cNvPr id="17" name="Text 13"/>
          <p:cNvSpPr/>
          <p:nvPr/>
        </p:nvSpPr>
        <p:spPr>
          <a:xfrm>
            <a:off x="3337560" y="4453128"/>
            <a:ext cx="2331720" cy="310896"/>
          </a:xfrm>
          <a:prstGeom prst="rect">
            <a:avLst/>
          </a:prstGeom>
          <a:noFill/>
          <a:ln/>
        </p:spPr>
        <p:txBody>
          <a:bodyPr wrap="square" lIns="0" tIns="0" rIns="0" bIns="0" rtlCol="0" anchor="ctr"/>
          <a:lstStyle/>
          <a:p>
            <a:pPr algn="ctr" indent="0" marL="0">
              <a:buNone/>
            </a:pPr>
            <a:r>
              <a:rPr lang="en-US" sz="1100" b="1" dirty="0">
                <a:solidFill>
                  <a:srgbClr val="640D02"/>
                </a:solidFill>
                <a:latin typeface="Calibri" pitchFamily="34" charset="0"/>
                <a:ea typeface="Calibri" pitchFamily="34" charset="-122"/>
                <a:cs typeface="Calibri" pitchFamily="34" charset="-120"/>
              </a:rPr>
              <a:t>40–60% av ärenden hanteras automatiskt</a:t>
            </a:r>
            <a:endParaRPr lang="en-US" sz="1100" dirty="0"/>
          </a:p>
        </p:txBody>
      </p:sp>
      <p:sp>
        <p:nvSpPr>
          <p:cNvPr id="18" name="Shape 14"/>
          <p:cNvSpPr/>
          <p:nvPr/>
        </p:nvSpPr>
        <p:spPr>
          <a:xfrm>
            <a:off x="6035040" y="1234440"/>
            <a:ext cx="2606040" cy="36576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9" name="Shape 15"/>
          <p:cNvSpPr/>
          <p:nvPr/>
        </p:nvSpPr>
        <p:spPr>
          <a:xfrm>
            <a:off x="6858000" y="1389888"/>
            <a:ext cx="960120" cy="960120"/>
          </a:xfrm>
          <a:prstGeom prst="ellipse">
            <a:avLst/>
          </a:prstGeom>
          <a:solidFill>
            <a:srgbClr val="D95818"/>
          </a:solidFill>
          <a:ln w="12700">
            <a:solidFill>
              <a:srgbClr val="D95818"/>
            </a:solidFill>
            <a:prstDash val="solid"/>
          </a:ln>
        </p:spPr>
      </p:sp>
      <p:pic>
        <p:nvPicPr>
          <p:cNvPr id="20" name="Image 2" descr="preencoded.png">    </p:cNvPr>
          <p:cNvPicPr>
            <a:picLocks noChangeAspect="1"/>
          </p:cNvPicPr>
          <p:nvPr/>
        </p:nvPicPr>
        <p:blipFill>
          <a:blip r:embed="rId3"/>
          <a:stretch>
            <a:fillRect/>
          </a:stretch>
        </p:blipFill>
        <p:spPr>
          <a:xfrm>
            <a:off x="6995160" y="1527048"/>
            <a:ext cx="685800" cy="685800"/>
          </a:xfrm>
          <a:prstGeom prst="rect">
            <a:avLst/>
          </a:prstGeom>
        </p:spPr>
      </p:pic>
      <p:sp>
        <p:nvSpPr>
          <p:cNvPr id="21" name="Text 16"/>
          <p:cNvSpPr/>
          <p:nvPr/>
        </p:nvSpPr>
        <p:spPr>
          <a:xfrm>
            <a:off x="6172200" y="2487168"/>
            <a:ext cx="2331720" cy="475488"/>
          </a:xfrm>
          <a:prstGeom prst="rect">
            <a:avLst/>
          </a:prstGeom>
          <a:noFill/>
          <a:ln/>
        </p:spPr>
        <p:txBody>
          <a:bodyPr wrap="square" lIns="0" tIns="0" rIns="0" bIns="0" rtlCol="0" anchor="ctr"/>
          <a:lstStyle/>
          <a:p>
            <a:pPr algn="ctr" indent="0" marL="0">
              <a:buNone/>
            </a:pPr>
            <a:r>
              <a:rPr lang="en-US" sz="1700" b="1" dirty="0">
                <a:solidFill>
                  <a:srgbClr val="2B2B2B"/>
                </a:solidFill>
                <a:latin typeface="Calibri" pitchFamily="34" charset="0"/>
                <a:ea typeface="Calibri" pitchFamily="34" charset="-122"/>
                <a:cs typeface="Calibri" pitchFamily="34" charset="-120"/>
              </a:rPr>
              <a:t>Resursplanering</a:t>
            </a:r>
            <a:endParaRPr lang="en-US" sz="1700" dirty="0"/>
          </a:p>
        </p:txBody>
      </p:sp>
      <p:sp>
        <p:nvSpPr>
          <p:cNvPr id="22" name="Text 17"/>
          <p:cNvSpPr/>
          <p:nvPr/>
        </p:nvSpPr>
        <p:spPr>
          <a:xfrm>
            <a:off x="6199632" y="3017520"/>
            <a:ext cx="2286000" cy="1371600"/>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AI-stöd för att optimera bemanning och kapacitet baserat på historiska mönster och prognoser.</a:t>
            </a:r>
            <a:endParaRPr lang="en-US" sz="1300" dirty="0"/>
          </a:p>
        </p:txBody>
      </p:sp>
      <p:sp>
        <p:nvSpPr>
          <p:cNvPr id="23" name="Shape 18"/>
          <p:cNvSpPr/>
          <p:nvPr/>
        </p:nvSpPr>
        <p:spPr>
          <a:xfrm>
            <a:off x="6126480" y="4434840"/>
            <a:ext cx="2423160" cy="347472"/>
          </a:xfrm>
          <a:prstGeom prst="rect">
            <a:avLst/>
          </a:prstGeom>
          <a:solidFill>
            <a:srgbClr val="FFF2D9"/>
          </a:solidFill>
          <a:ln w="12700">
            <a:solidFill>
              <a:srgbClr val="E8D8B0"/>
            </a:solidFill>
            <a:prstDash val="solid"/>
          </a:ln>
        </p:spPr>
      </p:sp>
      <p:sp>
        <p:nvSpPr>
          <p:cNvPr id="24" name="Text 19"/>
          <p:cNvSpPr/>
          <p:nvPr/>
        </p:nvSpPr>
        <p:spPr>
          <a:xfrm>
            <a:off x="6172200" y="4453128"/>
            <a:ext cx="2331720" cy="310896"/>
          </a:xfrm>
          <a:prstGeom prst="rect">
            <a:avLst/>
          </a:prstGeom>
          <a:noFill/>
          <a:ln/>
        </p:spPr>
        <p:txBody>
          <a:bodyPr wrap="square" lIns="0" tIns="0" rIns="0" bIns="0" rtlCol="0" anchor="ctr"/>
          <a:lstStyle/>
          <a:p>
            <a:pPr algn="ctr" indent="0" marL="0">
              <a:buNone/>
            </a:pPr>
            <a:r>
              <a:rPr lang="en-US" sz="1100" b="1" dirty="0">
                <a:solidFill>
                  <a:srgbClr val="640D02"/>
                </a:solidFill>
                <a:latin typeface="Calibri" pitchFamily="34" charset="0"/>
                <a:ea typeface="Calibri" pitchFamily="34" charset="-122"/>
                <a:cs typeface="Calibri" pitchFamily="34" charset="-120"/>
              </a:rPr>
              <a:t>Bättre kapacitetsutnyttjande inför tillväxt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Så här kan det se ut i praktiken</a:t>
            </a:r>
            <a:endParaRPr lang="en-US" sz="3200" dirty="0"/>
          </a:p>
        </p:txBody>
      </p:sp>
      <p:sp>
        <p:nvSpPr>
          <p:cNvPr id="3" name="Shape 1"/>
          <p:cNvSpPr/>
          <p:nvPr/>
        </p:nvSpPr>
        <p:spPr>
          <a:xfrm>
            <a:off x="411480" y="960120"/>
            <a:ext cx="4937760" cy="3913632"/>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4" name="Shape 2"/>
          <p:cNvSpPr/>
          <p:nvPr/>
        </p:nvSpPr>
        <p:spPr>
          <a:xfrm>
            <a:off x="411480" y="960120"/>
            <a:ext cx="4937760" cy="502920"/>
          </a:xfrm>
          <a:prstGeom prst="rect">
            <a:avLst/>
          </a:prstGeom>
          <a:solidFill>
            <a:srgbClr val="D95818"/>
          </a:solidFill>
          <a:ln w="12700">
            <a:solidFill>
              <a:srgbClr val="D95818"/>
            </a:solidFill>
            <a:prstDash val="solid"/>
          </a:ln>
        </p:spPr>
      </p:sp>
      <p:sp>
        <p:nvSpPr>
          <p:cNvPr id="5" name="Text 3"/>
          <p:cNvSpPr/>
          <p:nvPr/>
        </p:nvSpPr>
        <p:spPr>
          <a:xfrm>
            <a:off x="548640" y="1005840"/>
            <a:ext cx="4663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Liknande uppdrag: Distributions- och e-handelslogistik</a:t>
            </a:r>
            <a:endParaRPr lang="en-US" sz="1300" dirty="0"/>
          </a:p>
        </p:txBody>
      </p:sp>
      <p:sp>
        <p:nvSpPr>
          <p:cNvPr id="6" name="Text 4"/>
          <p:cNvSpPr/>
          <p:nvPr/>
        </p:nvSpPr>
        <p:spPr>
          <a:xfrm>
            <a:off x="566928" y="1627632"/>
            <a:ext cx="1097280" cy="320040"/>
          </a:xfrm>
          <a:prstGeom prst="rect">
            <a:avLst/>
          </a:prstGeom>
          <a:noFill/>
          <a:ln/>
        </p:spPr>
        <p:txBody>
          <a:bodyPr wrap="square" lIns="0" tIns="0" rIns="0" bIns="0" rtlCol="0" anchor="ctr"/>
          <a:lstStyle/>
          <a:p>
            <a:pPr indent="0" marL="0">
              <a:buNone/>
            </a:pPr>
            <a:r>
              <a:rPr lang="en-US" sz="1200" b="1" dirty="0">
                <a:solidFill>
                  <a:srgbClr val="D95818"/>
                </a:solidFill>
                <a:latin typeface="Calibri" pitchFamily="34" charset="0"/>
                <a:ea typeface="Calibri" pitchFamily="34" charset="-122"/>
                <a:cs typeface="Calibri" pitchFamily="34" charset="-120"/>
              </a:rPr>
              <a:t>Situation</a:t>
            </a:r>
            <a:endParaRPr lang="en-US" sz="1200" dirty="0"/>
          </a:p>
        </p:txBody>
      </p:sp>
      <p:sp>
        <p:nvSpPr>
          <p:cNvPr id="7" name="Text 5"/>
          <p:cNvSpPr/>
          <p:nvPr/>
        </p:nvSpPr>
        <p:spPr>
          <a:xfrm>
            <a:off x="566928" y="1920240"/>
            <a:ext cx="4663440" cy="658368"/>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Medelstort logistikbolag med hög administrativ börda och ökande kundvolym.</a:t>
            </a:r>
            <a:endParaRPr lang="en-US" sz="1300" dirty="0"/>
          </a:p>
        </p:txBody>
      </p:sp>
      <p:sp>
        <p:nvSpPr>
          <p:cNvPr id="8" name="Text 6"/>
          <p:cNvSpPr/>
          <p:nvPr/>
        </p:nvSpPr>
        <p:spPr>
          <a:xfrm>
            <a:off x="566928" y="2679192"/>
            <a:ext cx="1097280" cy="320040"/>
          </a:xfrm>
          <a:prstGeom prst="rect">
            <a:avLst/>
          </a:prstGeom>
          <a:noFill/>
          <a:ln/>
        </p:spPr>
        <p:txBody>
          <a:bodyPr wrap="square" lIns="0" tIns="0" rIns="0" bIns="0" rtlCol="0" anchor="ctr"/>
          <a:lstStyle/>
          <a:p>
            <a:pPr indent="0" marL="0">
              <a:buNone/>
            </a:pPr>
            <a:r>
              <a:rPr lang="en-US" sz="1200" b="1" dirty="0">
                <a:solidFill>
                  <a:srgbClr val="D95818"/>
                </a:solidFill>
                <a:latin typeface="Calibri" pitchFamily="34" charset="0"/>
                <a:ea typeface="Calibri" pitchFamily="34" charset="-122"/>
                <a:cs typeface="Calibri" pitchFamily="34" charset="-120"/>
              </a:rPr>
              <a:t>Uppdrag</a:t>
            </a:r>
            <a:endParaRPr lang="en-US" sz="1200" dirty="0"/>
          </a:p>
        </p:txBody>
      </p:sp>
      <p:sp>
        <p:nvSpPr>
          <p:cNvPr id="9" name="Text 7"/>
          <p:cNvSpPr/>
          <p:nvPr/>
        </p:nvSpPr>
        <p:spPr>
          <a:xfrm>
            <a:off x="566928" y="2971800"/>
            <a:ext cx="4663440" cy="658368"/>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AI-strategi + implementering av automatiserad ärendehantering och kundservice-chattbot.</a:t>
            </a:r>
            <a:endParaRPr lang="en-US" sz="1300" dirty="0"/>
          </a:p>
        </p:txBody>
      </p:sp>
      <p:sp>
        <p:nvSpPr>
          <p:cNvPr id="10" name="Text 8"/>
          <p:cNvSpPr/>
          <p:nvPr/>
        </p:nvSpPr>
        <p:spPr>
          <a:xfrm>
            <a:off x="566928" y="3730752"/>
            <a:ext cx="1097280" cy="320040"/>
          </a:xfrm>
          <a:prstGeom prst="rect">
            <a:avLst/>
          </a:prstGeom>
          <a:noFill/>
          <a:ln/>
        </p:spPr>
        <p:txBody>
          <a:bodyPr wrap="square" lIns="0" tIns="0" rIns="0" bIns="0" rtlCol="0" anchor="ctr"/>
          <a:lstStyle/>
          <a:p>
            <a:pPr indent="0" marL="0">
              <a:buNone/>
            </a:pPr>
            <a:r>
              <a:rPr lang="en-US" sz="1200" b="1" dirty="0">
                <a:solidFill>
                  <a:srgbClr val="D95818"/>
                </a:solidFill>
                <a:latin typeface="Calibri" pitchFamily="34" charset="0"/>
                <a:ea typeface="Calibri" pitchFamily="34" charset="-122"/>
                <a:cs typeface="Calibri" pitchFamily="34" charset="-120"/>
              </a:rPr>
              <a:t>Resultat</a:t>
            </a:r>
            <a:endParaRPr lang="en-US" sz="1200" dirty="0"/>
          </a:p>
        </p:txBody>
      </p:sp>
      <p:sp>
        <p:nvSpPr>
          <p:cNvPr id="11" name="Text 9"/>
          <p:cNvSpPr/>
          <p:nvPr/>
        </p:nvSpPr>
        <p:spPr>
          <a:xfrm>
            <a:off x="566928" y="4023360"/>
            <a:ext cx="4663440" cy="658368"/>
          </a:xfrm>
          <a:prstGeom prst="rect">
            <a:avLst/>
          </a:prstGeom>
          <a:noFill/>
          <a:ln/>
        </p:spPr>
        <p:txBody>
          <a:bodyPr wrap="square" lIns="0" tIns="0" rIns="0" bIns="0" rtlCol="0" anchor="ctr"/>
          <a:lstStyle/>
          <a:p>
            <a:pPr indent="0" marL="0">
              <a:buNone/>
            </a:pPr>
            <a:r>
              <a:rPr lang="en-US" sz="1300" dirty="0">
                <a:solidFill>
                  <a:srgbClr val="4A4A4A"/>
                </a:solidFill>
                <a:latin typeface="Calibri" pitchFamily="34" charset="0"/>
                <a:ea typeface="Calibri" pitchFamily="34" charset="-122"/>
                <a:cs typeface="Calibri" pitchFamily="34" charset="-120"/>
              </a:rPr>
              <a:t>52% av kundärenden hanterades automatiskt inom 3 månader. 2 heltidstjänster frigjordes för mer kvalificerat arbete.</a:t>
            </a:r>
            <a:endParaRPr lang="en-US" sz="1300" dirty="0"/>
          </a:p>
        </p:txBody>
      </p:sp>
      <p:sp>
        <p:nvSpPr>
          <p:cNvPr id="12" name="Shape 10"/>
          <p:cNvSpPr/>
          <p:nvPr/>
        </p:nvSpPr>
        <p:spPr>
          <a:xfrm>
            <a:off x="5669280" y="960120"/>
            <a:ext cx="3063240" cy="11430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3" name="Text 11"/>
          <p:cNvSpPr/>
          <p:nvPr/>
        </p:nvSpPr>
        <p:spPr>
          <a:xfrm>
            <a:off x="5669280" y="1033272"/>
            <a:ext cx="3063240" cy="640080"/>
          </a:xfrm>
          <a:prstGeom prst="rect">
            <a:avLst/>
          </a:prstGeom>
          <a:noFill/>
          <a:ln/>
        </p:spPr>
        <p:txBody>
          <a:bodyPr wrap="square" lIns="0" tIns="0" rIns="0" bIns="0" rtlCol="0" anchor="ctr"/>
          <a:lstStyle/>
          <a:p>
            <a:pPr algn="ctr" indent="0" marL="0">
              <a:buNone/>
            </a:pPr>
            <a:r>
              <a:rPr lang="en-US" sz="3200" b="1" dirty="0">
                <a:solidFill>
                  <a:srgbClr val="D95818"/>
                </a:solidFill>
                <a:latin typeface="Calibri" pitchFamily="34" charset="0"/>
                <a:ea typeface="Calibri" pitchFamily="34" charset="-122"/>
                <a:cs typeface="Calibri" pitchFamily="34" charset="-120"/>
              </a:rPr>
              <a:t>3 mån</a:t>
            </a:r>
            <a:endParaRPr lang="en-US" sz="3200" dirty="0"/>
          </a:p>
        </p:txBody>
      </p:sp>
      <p:sp>
        <p:nvSpPr>
          <p:cNvPr id="14" name="Text 12"/>
          <p:cNvSpPr/>
          <p:nvPr/>
        </p:nvSpPr>
        <p:spPr>
          <a:xfrm>
            <a:off x="5760720" y="1673352"/>
            <a:ext cx="2880360" cy="347472"/>
          </a:xfrm>
          <a:prstGeom prst="rect">
            <a:avLst/>
          </a:prstGeom>
          <a:noFill/>
          <a:ln/>
        </p:spPr>
        <p:txBody>
          <a:bodyPr wrap="square" lIns="0" tIns="0" rIns="0" bIns="0" rtlCol="0" anchor="ctr"/>
          <a:lstStyle/>
          <a:p>
            <a:pPr algn="ctr" indent="0" marL="0">
              <a:buNone/>
            </a:pPr>
            <a:r>
              <a:rPr lang="en-US" sz="1200" dirty="0">
                <a:solidFill>
                  <a:srgbClr val="8A8A8A"/>
                </a:solidFill>
                <a:latin typeface="Calibri" pitchFamily="34" charset="0"/>
                <a:ea typeface="Calibri" pitchFamily="34" charset="-122"/>
                <a:cs typeface="Calibri" pitchFamily="34" charset="-120"/>
              </a:rPr>
              <a:t>till första mätbara resultat</a:t>
            </a:r>
            <a:endParaRPr lang="en-US" sz="1200" dirty="0"/>
          </a:p>
        </p:txBody>
      </p:sp>
      <p:sp>
        <p:nvSpPr>
          <p:cNvPr id="15" name="Shape 13"/>
          <p:cNvSpPr/>
          <p:nvPr/>
        </p:nvSpPr>
        <p:spPr>
          <a:xfrm>
            <a:off x="5669280" y="2267712"/>
            <a:ext cx="3063240" cy="1143000"/>
          </a:xfrm>
          <a:prstGeom prst="rect">
            <a:avLst/>
          </a:prstGeom>
          <a:solidFill>
            <a:srgbClr val="D95818"/>
          </a:solidFill>
          <a:ln w="12700">
            <a:solidFill>
              <a:srgbClr val="D95818"/>
            </a:solidFill>
            <a:prstDash val="solid"/>
          </a:ln>
          <a:effectLst>
            <a:outerShdw sx="100000" sy="100000" kx="0" ky="0" algn="bl" rotWithShape="0" blurRad="127000" dist="50800" dir="8100000">
              <a:srgbClr val="000000">
                <a:alpha val="12000"/>
              </a:srgbClr>
            </a:outerShdw>
          </a:effectLst>
        </p:spPr>
      </p:sp>
      <p:sp>
        <p:nvSpPr>
          <p:cNvPr id="16" name="Text 14"/>
          <p:cNvSpPr/>
          <p:nvPr/>
        </p:nvSpPr>
        <p:spPr>
          <a:xfrm>
            <a:off x="5669280" y="2340864"/>
            <a:ext cx="306324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52%</a:t>
            </a:r>
            <a:endParaRPr lang="en-US" sz="3200" dirty="0"/>
          </a:p>
        </p:txBody>
      </p:sp>
      <p:sp>
        <p:nvSpPr>
          <p:cNvPr id="17" name="Text 15"/>
          <p:cNvSpPr/>
          <p:nvPr/>
        </p:nvSpPr>
        <p:spPr>
          <a:xfrm>
            <a:off x="5760720" y="2980944"/>
            <a:ext cx="2880360" cy="347472"/>
          </a:xfrm>
          <a:prstGeom prst="rect">
            <a:avLst/>
          </a:prstGeom>
          <a:noFill/>
          <a:ln/>
        </p:spPr>
        <p:txBody>
          <a:bodyPr wrap="square" lIns="0" tIns="0" rIns="0" bIns="0" rtlCol="0" anchor="ctr"/>
          <a:lstStyle/>
          <a:p>
            <a:pPr algn="ctr" indent="0" marL="0">
              <a:buNone/>
            </a:pPr>
            <a:r>
              <a:rPr lang="en-US" sz="1200" dirty="0">
                <a:solidFill>
                  <a:srgbClr val="FFE8D8"/>
                </a:solidFill>
                <a:latin typeface="Calibri" pitchFamily="34" charset="0"/>
                <a:ea typeface="Calibri" pitchFamily="34" charset="-122"/>
                <a:cs typeface="Calibri" pitchFamily="34" charset="-120"/>
              </a:rPr>
              <a:t>av ärenden automatiserat</a:t>
            </a:r>
            <a:endParaRPr lang="en-US" sz="1200" dirty="0"/>
          </a:p>
        </p:txBody>
      </p:sp>
      <p:sp>
        <p:nvSpPr>
          <p:cNvPr id="18" name="Shape 16"/>
          <p:cNvSpPr/>
          <p:nvPr/>
        </p:nvSpPr>
        <p:spPr>
          <a:xfrm>
            <a:off x="5669280" y="3575304"/>
            <a:ext cx="3063240" cy="114300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9" name="Text 17"/>
          <p:cNvSpPr/>
          <p:nvPr/>
        </p:nvSpPr>
        <p:spPr>
          <a:xfrm>
            <a:off x="5669280" y="3648456"/>
            <a:ext cx="3063240" cy="640080"/>
          </a:xfrm>
          <a:prstGeom prst="rect">
            <a:avLst/>
          </a:prstGeom>
          <a:noFill/>
          <a:ln/>
        </p:spPr>
        <p:txBody>
          <a:bodyPr wrap="square" lIns="0" tIns="0" rIns="0" bIns="0" rtlCol="0" anchor="ctr"/>
          <a:lstStyle/>
          <a:p>
            <a:pPr algn="ctr" indent="0" marL="0">
              <a:buNone/>
            </a:pPr>
            <a:r>
              <a:rPr lang="en-US" sz="3200" b="1" dirty="0">
                <a:solidFill>
                  <a:srgbClr val="D95818"/>
                </a:solidFill>
                <a:latin typeface="Calibri" pitchFamily="34" charset="0"/>
                <a:ea typeface="Calibri" pitchFamily="34" charset="-122"/>
                <a:cs typeface="Calibri" pitchFamily="34" charset="-120"/>
              </a:rPr>
              <a:t>2 tjänster</a:t>
            </a:r>
            <a:endParaRPr lang="en-US" sz="3200" dirty="0"/>
          </a:p>
        </p:txBody>
      </p:sp>
      <p:sp>
        <p:nvSpPr>
          <p:cNvPr id="20" name="Text 18"/>
          <p:cNvSpPr/>
          <p:nvPr/>
        </p:nvSpPr>
        <p:spPr>
          <a:xfrm>
            <a:off x="5760720" y="4288536"/>
            <a:ext cx="2880360" cy="347472"/>
          </a:xfrm>
          <a:prstGeom prst="rect">
            <a:avLst/>
          </a:prstGeom>
          <a:noFill/>
          <a:ln/>
        </p:spPr>
        <p:txBody>
          <a:bodyPr wrap="square" lIns="0" tIns="0" rIns="0" bIns="0" rtlCol="0" anchor="ctr"/>
          <a:lstStyle/>
          <a:p>
            <a:pPr algn="ctr" indent="0" marL="0">
              <a:buNone/>
            </a:pPr>
            <a:r>
              <a:rPr lang="en-US" sz="1200" dirty="0">
                <a:solidFill>
                  <a:srgbClr val="8A8A8A"/>
                </a:solidFill>
                <a:latin typeface="Calibri" pitchFamily="34" charset="0"/>
                <a:ea typeface="Calibri" pitchFamily="34" charset="-122"/>
                <a:cs typeface="Calibri" pitchFamily="34" charset="-120"/>
              </a:rPr>
              <a:t>frigjordes för värdeskapande arbete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Tidsplan</a:t>
            </a:r>
            <a:endParaRPr lang="en-US" sz="3200" dirty="0"/>
          </a:p>
        </p:txBody>
      </p:sp>
      <p:sp>
        <p:nvSpPr>
          <p:cNvPr id="3" name="Text 1"/>
          <p:cNvSpPr/>
          <p:nvPr/>
        </p:nvSpPr>
        <p:spPr>
          <a:xfrm>
            <a:off x="411480" y="777240"/>
            <a:ext cx="8321040" cy="320040"/>
          </a:xfrm>
          <a:prstGeom prst="rect">
            <a:avLst/>
          </a:prstGeom>
          <a:noFill/>
          <a:ln/>
        </p:spPr>
        <p:txBody>
          <a:bodyPr wrap="square" lIns="0" tIns="0" rIns="0" bIns="0" rtlCol="0" anchor="ctr"/>
          <a:lstStyle/>
          <a:p>
            <a:pPr indent="0" marL="0">
              <a:buNone/>
            </a:pPr>
            <a:r>
              <a:rPr lang="en-US" sz="1500" i="1" dirty="0">
                <a:solidFill>
                  <a:srgbClr val="8A8A8A"/>
                </a:solidFill>
                <a:latin typeface="Calibri" pitchFamily="34" charset="0"/>
                <a:ea typeface="Calibri" pitchFamily="34" charset="-122"/>
                <a:cs typeface="Calibri" pitchFamily="34" charset="-120"/>
              </a:rPr>
              <a:t>Realistisk i tre faser – vi börjar smalt och skalar brett</a:t>
            </a:r>
            <a:endParaRPr lang="en-US" sz="1500" dirty="0"/>
          </a:p>
        </p:txBody>
      </p:sp>
      <p:sp>
        <p:nvSpPr>
          <p:cNvPr id="4" name="Shape 2"/>
          <p:cNvSpPr/>
          <p:nvPr/>
        </p:nvSpPr>
        <p:spPr>
          <a:xfrm>
            <a:off x="1234440" y="1719072"/>
            <a:ext cx="6675120" cy="54864"/>
          </a:xfrm>
          <a:prstGeom prst="rect">
            <a:avLst/>
          </a:prstGeom>
          <a:solidFill>
            <a:srgbClr val="E0D8CC"/>
          </a:solidFill>
          <a:ln w="12700">
            <a:solidFill>
              <a:srgbClr val="E0D8CC"/>
            </a:solidFill>
            <a:prstDash val="solid"/>
          </a:ln>
        </p:spPr>
      </p:sp>
      <p:sp>
        <p:nvSpPr>
          <p:cNvPr id="5" name="Shape 3"/>
          <p:cNvSpPr/>
          <p:nvPr/>
        </p:nvSpPr>
        <p:spPr>
          <a:xfrm>
            <a:off x="1417320" y="1572768"/>
            <a:ext cx="329184" cy="329184"/>
          </a:xfrm>
          <a:prstGeom prst="ellipse">
            <a:avLst/>
          </a:prstGeom>
          <a:solidFill>
            <a:srgbClr val="E0D8CC"/>
          </a:solidFill>
          <a:ln w="12700">
            <a:solidFill>
              <a:srgbClr val="E0D8CC"/>
            </a:solidFill>
            <a:prstDash val="solid"/>
          </a:ln>
        </p:spPr>
      </p:sp>
      <p:sp>
        <p:nvSpPr>
          <p:cNvPr id="6" name="Shape 4"/>
          <p:cNvSpPr/>
          <p:nvPr/>
        </p:nvSpPr>
        <p:spPr>
          <a:xfrm>
            <a:off x="365760" y="1993392"/>
            <a:ext cx="2606040" cy="2907792"/>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7" name="Text 5"/>
          <p:cNvSpPr/>
          <p:nvPr/>
        </p:nvSpPr>
        <p:spPr>
          <a:xfrm>
            <a:off x="502920" y="2103120"/>
            <a:ext cx="2331720" cy="256032"/>
          </a:xfrm>
          <a:prstGeom prst="rect">
            <a:avLst/>
          </a:prstGeom>
          <a:noFill/>
          <a:ln/>
        </p:spPr>
        <p:txBody>
          <a:bodyPr wrap="square" lIns="0" tIns="0" rIns="0" bIns="0" rtlCol="0" anchor="ctr"/>
          <a:lstStyle/>
          <a:p>
            <a:pPr indent="0" marL="0">
              <a:buNone/>
            </a:pPr>
            <a:r>
              <a:rPr lang="en-US" sz="1100" b="1" dirty="0">
                <a:solidFill>
                  <a:srgbClr val="D95818"/>
                </a:solidFill>
                <a:latin typeface="Calibri" pitchFamily="34" charset="0"/>
                <a:ea typeface="Calibri" pitchFamily="34" charset="-122"/>
                <a:cs typeface="Calibri" pitchFamily="34" charset="-120"/>
              </a:rPr>
              <a:t>Fas 1</a:t>
            </a:r>
            <a:endParaRPr lang="en-US" sz="1100" dirty="0"/>
          </a:p>
        </p:txBody>
      </p:sp>
      <p:sp>
        <p:nvSpPr>
          <p:cNvPr id="8" name="Text 6"/>
          <p:cNvSpPr/>
          <p:nvPr/>
        </p:nvSpPr>
        <p:spPr>
          <a:xfrm>
            <a:off x="502920" y="2331720"/>
            <a:ext cx="2331720" cy="256032"/>
          </a:xfrm>
          <a:prstGeom prst="rect">
            <a:avLst/>
          </a:prstGeom>
          <a:noFill/>
          <a:ln/>
        </p:spPr>
        <p:txBody>
          <a:bodyPr wrap="square" lIns="0" tIns="0" rIns="0" bIns="0" rtlCol="0" anchor="ctr"/>
          <a:lstStyle/>
          <a:p>
            <a:pPr indent="0" marL="0">
              <a:buNone/>
            </a:pPr>
            <a:r>
              <a:rPr lang="en-US" sz="1100" dirty="0">
                <a:solidFill>
                  <a:srgbClr val="8A8A8A"/>
                </a:solidFill>
                <a:latin typeface="Calibri" pitchFamily="34" charset="0"/>
                <a:ea typeface="Calibri" pitchFamily="34" charset="-122"/>
                <a:cs typeface="Calibri" pitchFamily="34" charset="-120"/>
              </a:rPr>
              <a:t>Augusti 2026</a:t>
            </a:r>
            <a:endParaRPr lang="en-US" sz="1100" dirty="0"/>
          </a:p>
        </p:txBody>
      </p:sp>
      <p:sp>
        <p:nvSpPr>
          <p:cNvPr id="9" name="Text 7"/>
          <p:cNvSpPr/>
          <p:nvPr/>
        </p:nvSpPr>
        <p:spPr>
          <a:xfrm>
            <a:off x="502920" y="2606040"/>
            <a:ext cx="2331720" cy="475488"/>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Kartläggning</a:t>
            </a:r>
            <a:endParaRPr lang="en-US" sz="2000" dirty="0"/>
          </a:p>
        </p:txBody>
      </p:sp>
      <p:sp>
        <p:nvSpPr>
          <p:cNvPr id="10" name="Text 8"/>
          <p:cNvSpPr/>
          <p:nvPr/>
        </p:nvSpPr>
        <p:spPr>
          <a:xfrm>
            <a:off x="502920" y="3154680"/>
            <a:ext cx="2331720" cy="16002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AI-mognadsanalys</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Processgenomgång</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Prioritering av use cases</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Beslutsunderlag</a:t>
            </a:r>
            <a:endParaRPr lang="en-US" sz="1200" dirty="0"/>
          </a:p>
        </p:txBody>
      </p:sp>
      <p:sp>
        <p:nvSpPr>
          <p:cNvPr id="11" name="Shape 9"/>
          <p:cNvSpPr/>
          <p:nvPr/>
        </p:nvSpPr>
        <p:spPr>
          <a:xfrm>
            <a:off x="4251960" y="1572768"/>
            <a:ext cx="329184" cy="329184"/>
          </a:xfrm>
          <a:prstGeom prst="ellipse">
            <a:avLst/>
          </a:prstGeom>
          <a:solidFill>
            <a:srgbClr val="D95818"/>
          </a:solidFill>
          <a:ln w="12700">
            <a:solidFill>
              <a:srgbClr val="D95818"/>
            </a:solidFill>
            <a:prstDash val="solid"/>
          </a:ln>
        </p:spPr>
      </p:sp>
      <p:sp>
        <p:nvSpPr>
          <p:cNvPr id="12" name="Shape 10"/>
          <p:cNvSpPr/>
          <p:nvPr/>
        </p:nvSpPr>
        <p:spPr>
          <a:xfrm>
            <a:off x="3200400" y="1993392"/>
            <a:ext cx="2606040" cy="2907792"/>
          </a:xfrm>
          <a:prstGeom prst="rect">
            <a:avLst/>
          </a:prstGeom>
          <a:solidFill>
            <a:srgbClr val="D95818"/>
          </a:solidFill>
          <a:ln w="12700">
            <a:solidFill>
              <a:srgbClr val="D95818"/>
            </a:solidFill>
            <a:prstDash val="solid"/>
          </a:ln>
          <a:effectLst>
            <a:outerShdw sx="100000" sy="100000" kx="0" ky="0" algn="bl" rotWithShape="0" blurRad="127000" dist="50800" dir="8100000">
              <a:srgbClr val="000000">
                <a:alpha val="12000"/>
              </a:srgbClr>
            </a:outerShdw>
          </a:effectLst>
        </p:spPr>
      </p:sp>
      <p:sp>
        <p:nvSpPr>
          <p:cNvPr id="13" name="Text 11"/>
          <p:cNvSpPr/>
          <p:nvPr/>
        </p:nvSpPr>
        <p:spPr>
          <a:xfrm>
            <a:off x="3337560" y="2103120"/>
            <a:ext cx="2331720" cy="256032"/>
          </a:xfrm>
          <a:prstGeom prst="rect">
            <a:avLst/>
          </a:prstGeom>
          <a:noFill/>
          <a:ln/>
        </p:spPr>
        <p:txBody>
          <a:bodyPr wrap="square" lIns="0" tIns="0" rIns="0" bIns="0" rtlCol="0" anchor="ctr"/>
          <a:lstStyle/>
          <a:p>
            <a:pPr indent="0" marL="0">
              <a:buNone/>
            </a:pPr>
            <a:r>
              <a:rPr lang="en-US" sz="1100" b="1" dirty="0">
                <a:solidFill>
                  <a:srgbClr val="FFD4B8"/>
                </a:solidFill>
                <a:latin typeface="Calibri" pitchFamily="34" charset="0"/>
                <a:ea typeface="Calibri" pitchFamily="34" charset="-122"/>
                <a:cs typeface="Calibri" pitchFamily="34" charset="-120"/>
              </a:rPr>
              <a:t>Fas 2</a:t>
            </a:r>
            <a:endParaRPr lang="en-US" sz="1100" dirty="0"/>
          </a:p>
        </p:txBody>
      </p:sp>
      <p:sp>
        <p:nvSpPr>
          <p:cNvPr id="14" name="Text 12"/>
          <p:cNvSpPr/>
          <p:nvPr/>
        </p:nvSpPr>
        <p:spPr>
          <a:xfrm>
            <a:off x="3337560" y="2331720"/>
            <a:ext cx="2331720" cy="256032"/>
          </a:xfrm>
          <a:prstGeom prst="rect">
            <a:avLst/>
          </a:prstGeom>
          <a:noFill/>
          <a:ln/>
        </p:spPr>
        <p:txBody>
          <a:bodyPr wrap="square" lIns="0" tIns="0" rIns="0" bIns="0" rtlCol="0" anchor="ctr"/>
          <a:lstStyle/>
          <a:p>
            <a:pPr indent="0" marL="0">
              <a:buNone/>
            </a:pPr>
            <a:r>
              <a:rPr lang="en-US" sz="1100" dirty="0">
                <a:solidFill>
                  <a:srgbClr val="FFD4B8"/>
                </a:solidFill>
                <a:latin typeface="Calibri" pitchFamily="34" charset="0"/>
                <a:ea typeface="Calibri" pitchFamily="34" charset="-122"/>
                <a:cs typeface="Calibri" pitchFamily="34" charset="-120"/>
              </a:rPr>
              <a:t>Sep–Okt 2026</a:t>
            </a:r>
            <a:endParaRPr lang="en-US" sz="1100" dirty="0"/>
          </a:p>
        </p:txBody>
      </p:sp>
      <p:sp>
        <p:nvSpPr>
          <p:cNvPr id="15" name="Text 13"/>
          <p:cNvSpPr/>
          <p:nvPr/>
        </p:nvSpPr>
        <p:spPr>
          <a:xfrm>
            <a:off x="3337560" y="2606040"/>
            <a:ext cx="2331720" cy="47548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Pilotprojekt</a:t>
            </a:r>
            <a:endParaRPr lang="en-US" sz="2000" dirty="0"/>
          </a:p>
        </p:txBody>
      </p:sp>
      <p:sp>
        <p:nvSpPr>
          <p:cNvPr id="16" name="Text 14"/>
          <p:cNvSpPr/>
          <p:nvPr/>
        </p:nvSpPr>
        <p:spPr>
          <a:xfrm>
            <a:off x="3337560" y="3154680"/>
            <a:ext cx="2331720" cy="16002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FFE8D8"/>
                </a:solidFill>
                <a:latin typeface="Calibri" pitchFamily="34" charset="0"/>
                <a:ea typeface="Calibri" pitchFamily="34" charset="-122"/>
                <a:cs typeface="Calibri" pitchFamily="34" charset="-120"/>
              </a:rPr>
              <a:t>Implementering use case #1</a:t>
            </a:r>
            <a:endParaRPr lang="en-US" sz="1200" dirty="0"/>
          </a:p>
          <a:p>
            <a:pPr marL="342900" indent="-342900">
              <a:spcAft>
                <a:spcPts val="500"/>
              </a:spcAft>
              <a:buSzPct val="100000"/>
              <a:buChar char="•"/>
            </a:pPr>
            <a:r>
              <a:rPr lang="en-US" sz="1200" dirty="0">
                <a:solidFill>
                  <a:srgbClr val="FFE8D8"/>
                </a:solidFill>
                <a:latin typeface="Calibri" pitchFamily="34" charset="0"/>
                <a:ea typeface="Calibri" pitchFamily="34" charset="-122"/>
                <a:cs typeface="Calibri" pitchFamily="34" charset="-120"/>
              </a:rPr>
              <a:t>Intern utbildning</a:t>
            </a:r>
            <a:endParaRPr lang="en-US" sz="1200" dirty="0"/>
          </a:p>
          <a:p>
            <a:pPr marL="342900" indent="-342900">
              <a:spcAft>
                <a:spcPts val="500"/>
              </a:spcAft>
              <a:buSzPct val="100000"/>
              <a:buChar char="•"/>
            </a:pPr>
            <a:r>
              <a:rPr lang="en-US" sz="1200" dirty="0">
                <a:solidFill>
                  <a:srgbClr val="FFE8D8"/>
                </a:solidFill>
                <a:latin typeface="Calibri" pitchFamily="34" charset="0"/>
                <a:ea typeface="Calibri" pitchFamily="34" charset="-122"/>
                <a:cs typeface="Calibri" pitchFamily="34" charset="-120"/>
              </a:rPr>
              <a:t>Mätning och uppföljning</a:t>
            </a:r>
            <a:endParaRPr lang="en-US" sz="1200" dirty="0"/>
          </a:p>
          <a:p>
            <a:pPr marL="342900" indent="-342900">
              <a:spcAft>
                <a:spcPts val="500"/>
              </a:spcAft>
              <a:buSzPct val="100000"/>
              <a:buChar char="•"/>
            </a:pPr>
            <a:r>
              <a:rPr lang="en-US" sz="1200" dirty="0">
                <a:solidFill>
                  <a:srgbClr val="FFE8D8"/>
                </a:solidFill>
                <a:latin typeface="Calibri" pitchFamily="34" charset="0"/>
                <a:ea typeface="Calibri" pitchFamily="34" charset="-122"/>
                <a:cs typeface="Calibri" pitchFamily="34" charset="-120"/>
              </a:rPr>
              <a:t>Justering och förbättring</a:t>
            </a:r>
            <a:endParaRPr lang="en-US" sz="1200" dirty="0"/>
          </a:p>
        </p:txBody>
      </p:sp>
      <p:sp>
        <p:nvSpPr>
          <p:cNvPr id="17" name="Shape 15"/>
          <p:cNvSpPr/>
          <p:nvPr/>
        </p:nvSpPr>
        <p:spPr>
          <a:xfrm>
            <a:off x="7086600" y="1572768"/>
            <a:ext cx="329184" cy="329184"/>
          </a:xfrm>
          <a:prstGeom prst="ellipse">
            <a:avLst/>
          </a:prstGeom>
          <a:solidFill>
            <a:srgbClr val="E0D8CC"/>
          </a:solidFill>
          <a:ln w="12700">
            <a:solidFill>
              <a:srgbClr val="E0D8CC"/>
            </a:solidFill>
            <a:prstDash val="solid"/>
          </a:ln>
        </p:spPr>
      </p:sp>
      <p:sp>
        <p:nvSpPr>
          <p:cNvPr id="18" name="Shape 16"/>
          <p:cNvSpPr/>
          <p:nvPr/>
        </p:nvSpPr>
        <p:spPr>
          <a:xfrm>
            <a:off x="6035040" y="1993392"/>
            <a:ext cx="2606040" cy="2907792"/>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9" name="Text 17"/>
          <p:cNvSpPr/>
          <p:nvPr/>
        </p:nvSpPr>
        <p:spPr>
          <a:xfrm>
            <a:off x="6172200" y="2103120"/>
            <a:ext cx="2331720" cy="256032"/>
          </a:xfrm>
          <a:prstGeom prst="rect">
            <a:avLst/>
          </a:prstGeom>
          <a:noFill/>
          <a:ln/>
        </p:spPr>
        <p:txBody>
          <a:bodyPr wrap="square" lIns="0" tIns="0" rIns="0" bIns="0" rtlCol="0" anchor="ctr"/>
          <a:lstStyle/>
          <a:p>
            <a:pPr indent="0" marL="0">
              <a:buNone/>
            </a:pPr>
            <a:r>
              <a:rPr lang="en-US" sz="1100" b="1" dirty="0">
                <a:solidFill>
                  <a:srgbClr val="D95818"/>
                </a:solidFill>
                <a:latin typeface="Calibri" pitchFamily="34" charset="0"/>
                <a:ea typeface="Calibri" pitchFamily="34" charset="-122"/>
                <a:cs typeface="Calibri" pitchFamily="34" charset="-120"/>
              </a:rPr>
              <a:t>Fas 3</a:t>
            </a:r>
            <a:endParaRPr lang="en-US" sz="1100" dirty="0"/>
          </a:p>
        </p:txBody>
      </p:sp>
      <p:sp>
        <p:nvSpPr>
          <p:cNvPr id="20" name="Text 18"/>
          <p:cNvSpPr/>
          <p:nvPr/>
        </p:nvSpPr>
        <p:spPr>
          <a:xfrm>
            <a:off x="6172200" y="2331720"/>
            <a:ext cx="2331720" cy="256032"/>
          </a:xfrm>
          <a:prstGeom prst="rect">
            <a:avLst/>
          </a:prstGeom>
          <a:noFill/>
          <a:ln/>
        </p:spPr>
        <p:txBody>
          <a:bodyPr wrap="square" lIns="0" tIns="0" rIns="0" bIns="0" rtlCol="0" anchor="ctr"/>
          <a:lstStyle/>
          <a:p>
            <a:pPr indent="0" marL="0">
              <a:buNone/>
            </a:pPr>
            <a:r>
              <a:rPr lang="en-US" sz="1100" dirty="0">
                <a:solidFill>
                  <a:srgbClr val="8A8A8A"/>
                </a:solidFill>
                <a:latin typeface="Calibri" pitchFamily="34" charset="0"/>
                <a:ea typeface="Calibri" pitchFamily="34" charset="-122"/>
                <a:cs typeface="Calibri" pitchFamily="34" charset="-120"/>
              </a:rPr>
              <a:t>Nov 2026 –</a:t>
            </a:r>
            <a:endParaRPr lang="en-US" sz="1100" dirty="0"/>
          </a:p>
        </p:txBody>
      </p:sp>
      <p:sp>
        <p:nvSpPr>
          <p:cNvPr id="21" name="Text 19"/>
          <p:cNvSpPr/>
          <p:nvPr/>
        </p:nvSpPr>
        <p:spPr>
          <a:xfrm>
            <a:off x="6172200" y="2606040"/>
            <a:ext cx="2331720" cy="475488"/>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Skalning</a:t>
            </a:r>
            <a:endParaRPr lang="en-US" sz="2000" dirty="0"/>
          </a:p>
        </p:txBody>
      </p:sp>
      <p:sp>
        <p:nvSpPr>
          <p:cNvPr id="22" name="Text 20"/>
          <p:cNvSpPr/>
          <p:nvPr/>
        </p:nvSpPr>
        <p:spPr>
          <a:xfrm>
            <a:off x="6172200" y="3154680"/>
            <a:ext cx="2331720" cy="16002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Rulla ut fler use cases</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Bygga intern AI-kompetens</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Löpande partnerskap</a:t>
            </a:r>
            <a:endParaRPr lang="en-US" sz="1200" dirty="0"/>
          </a:p>
          <a:p>
            <a:pPr marL="342900" indent="-342900">
              <a:spcAft>
                <a:spcPts val="500"/>
              </a:spcAft>
              <a:buSzPct val="100000"/>
              <a:buChar char="•"/>
            </a:pPr>
            <a:r>
              <a:rPr lang="en-US" sz="1200" dirty="0">
                <a:solidFill>
                  <a:srgbClr val="4A4A4A"/>
                </a:solidFill>
                <a:latin typeface="Calibri" pitchFamily="34" charset="0"/>
                <a:ea typeface="Calibri" pitchFamily="34" charset="-122"/>
                <a:cs typeface="Calibri" pitchFamily="34" charset="-120"/>
              </a:rPr>
              <a:t>Kontinuerlig optimering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Vad ni kan förvänta er</a:t>
            </a:r>
            <a:endParaRPr lang="en-US" sz="3200" dirty="0"/>
          </a:p>
        </p:txBody>
      </p:sp>
      <p:sp>
        <p:nvSpPr>
          <p:cNvPr id="3" name="Shape 1"/>
          <p:cNvSpPr/>
          <p:nvPr/>
        </p:nvSpPr>
        <p:spPr>
          <a:xfrm>
            <a:off x="365760" y="960120"/>
            <a:ext cx="2606040" cy="1389888"/>
          </a:xfrm>
          <a:prstGeom prst="rect">
            <a:avLst/>
          </a:prstGeom>
          <a:solidFill>
            <a:srgbClr val="FFF2D9"/>
          </a:solidFill>
          <a:ln w="12700">
            <a:solidFill>
              <a:srgbClr val="E0CC9A"/>
            </a:solidFill>
            <a:prstDash val="solid"/>
          </a:ln>
        </p:spPr>
      </p:sp>
      <p:sp>
        <p:nvSpPr>
          <p:cNvPr id="4" name="Text 2"/>
          <p:cNvSpPr/>
          <p:nvPr/>
        </p:nvSpPr>
        <p:spPr>
          <a:xfrm>
            <a:off x="365760" y="1005840"/>
            <a:ext cx="2606040" cy="749808"/>
          </a:xfrm>
          <a:prstGeom prst="rect">
            <a:avLst/>
          </a:prstGeom>
          <a:noFill/>
          <a:ln/>
        </p:spPr>
        <p:txBody>
          <a:bodyPr wrap="square" lIns="0" tIns="0" rIns="0" bIns="0" rtlCol="0" anchor="ctr"/>
          <a:lstStyle/>
          <a:p>
            <a:pPr algn="ctr" indent="0" marL="0">
              <a:buNone/>
            </a:pPr>
            <a:r>
              <a:rPr lang="en-US" sz="2800" b="1" dirty="0">
                <a:solidFill>
                  <a:srgbClr val="D95818"/>
                </a:solidFill>
                <a:latin typeface="Calibri" pitchFamily="34" charset="0"/>
                <a:ea typeface="Calibri" pitchFamily="34" charset="-122"/>
                <a:cs typeface="Calibri" pitchFamily="34" charset="-120"/>
              </a:rPr>
              <a:t>3–6 mån</a:t>
            </a:r>
            <a:endParaRPr lang="en-US" sz="2800" dirty="0"/>
          </a:p>
        </p:txBody>
      </p:sp>
      <p:sp>
        <p:nvSpPr>
          <p:cNvPr id="5" name="Text 3"/>
          <p:cNvSpPr/>
          <p:nvPr/>
        </p:nvSpPr>
        <p:spPr>
          <a:xfrm>
            <a:off x="457200" y="1737360"/>
            <a:ext cx="2423160" cy="530352"/>
          </a:xfrm>
          <a:prstGeom prst="rect">
            <a:avLst/>
          </a:prstGeom>
          <a:noFill/>
          <a:ln/>
        </p:spPr>
        <p:txBody>
          <a:bodyPr wrap="square" lIns="0" tIns="0" rIns="0" bIns="0" rtlCol="0" anchor="ctr"/>
          <a:lstStyle/>
          <a:p>
            <a:pPr algn="ctr" indent="0" marL="0">
              <a:buNone/>
            </a:pPr>
            <a:r>
              <a:rPr lang="en-US" sz="1100" dirty="0">
                <a:solidFill>
                  <a:srgbClr val="2B2B2B"/>
                </a:solidFill>
                <a:latin typeface="Calibri" pitchFamily="34" charset="0"/>
                <a:ea typeface="Calibri" pitchFamily="34" charset="-122"/>
                <a:cs typeface="Calibri" pitchFamily="34" charset="-120"/>
              </a:rPr>
              <a:t>till mätbara resultat från piloten</a:t>
            </a:r>
            <a:endParaRPr lang="en-US" sz="1100" dirty="0"/>
          </a:p>
        </p:txBody>
      </p:sp>
      <p:sp>
        <p:nvSpPr>
          <p:cNvPr id="6" name="Shape 4"/>
          <p:cNvSpPr/>
          <p:nvPr/>
        </p:nvSpPr>
        <p:spPr>
          <a:xfrm>
            <a:off x="3200400" y="960120"/>
            <a:ext cx="2606040" cy="1389888"/>
          </a:xfrm>
          <a:prstGeom prst="rect">
            <a:avLst/>
          </a:prstGeom>
          <a:solidFill>
            <a:srgbClr val="FFF2D9"/>
          </a:solidFill>
          <a:ln w="12700">
            <a:solidFill>
              <a:srgbClr val="E0CC9A"/>
            </a:solidFill>
            <a:prstDash val="solid"/>
          </a:ln>
        </p:spPr>
      </p:sp>
      <p:sp>
        <p:nvSpPr>
          <p:cNvPr id="7" name="Text 5"/>
          <p:cNvSpPr/>
          <p:nvPr/>
        </p:nvSpPr>
        <p:spPr>
          <a:xfrm>
            <a:off x="3200400" y="1005840"/>
            <a:ext cx="2606040" cy="749808"/>
          </a:xfrm>
          <a:prstGeom prst="rect">
            <a:avLst/>
          </a:prstGeom>
          <a:noFill/>
          <a:ln/>
        </p:spPr>
        <p:txBody>
          <a:bodyPr wrap="square" lIns="0" tIns="0" rIns="0" bIns="0" rtlCol="0" anchor="ctr"/>
          <a:lstStyle/>
          <a:p>
            <a:pPr algn="ctr" indent="0" marL="0">
              <a:buNone/>
            </a:pPr>
            <a:r>
              <a:rPr lang="en-US" sz="2800" b="1" dirty="0">
                <a:solidFill>
                  <a:srgbClr val="D95818"/>
                </a:solidFill>
                <a:latin typeface="Calibri" pitchFamily="34" charset="0"/>
                <a:ea typeface="Calibri" pitchFamily="34" charset="-122"/>
                <a:cs typeface="Calibri" pitchFamily="34" charset="-120"/>
              </a:rPr>
              <a:t>20–40%</a:t>
            </a:r>
            <a:endParaRPr lang="en-US" sz="2800" dirty="0"/>
          </a:p>
        </p:txBody>
      </p:sp>
      <p:sp>
        <p:nvSpPr>
          <p:cNvPr id="8" name="Text 6"/>
          <p:cNvSpPr/>
          <p:nvPr/>
        </p:nvSpPr>
        <p:spPr>
          <a:xfrm>
            <a:off x="3291840" y="1737360"/>
            <a:ext cx="2423160" cy="530352"/>
          </a:xfrm>
          <a:prstGeom prst="rect">
            <a:avLst/>
          </a:prstGeom>
          <a:noFill/>
          <a:ln/>
        </p:spPr>
        <p:txBody>
          <a:bodyPr wrap="square" lIns="0" tIns="0" rIns="0" bIns="0" rtlCol="0" anchor="ctr"/>
          <a:lstStyle/>
          <a:p>
            <a:pPr algn="ctr" indent="0" marL="0">
              <a:buNone/>
            </a:pPr>
            <a:r>
              <a:rPr lang="en-US" sz="1100" dirty="0">
                <a:solidFill>
                  <a:srgbClr val="2B2B2B"/>
                </a:solidFill>
                <a:latin typeface="Calibri" pitchFamily="34" charset="0"/>
                <a:ea typeface="Calibri" pitchFamily="34" charset="-122"/>
                <a:cs typeface="Calibri" pitchFamily="34" charset="-120"/>
              </a:rPr>
              <a:t>effektivitetsökning i automatiserade processer</a:t>
            </a:r>
            <a:endParaRPr lang="en-US" sz="1100" dirty="0"/>
          </a:p>
        </p:txBody>
      </p:sp>
      <p:sp>
        <p:nvSpPr>
          <p:cNvPr id="9" name="Shape 7"/>
          <p:cNvSpPr/>
          <p:nvPr/>
        </p:nvSpPr>
        <p:spPr>
          <a:xfrm>
            <a:off x="6035040" y="960120"/>
            <a:ext cx="2606040" cy="1389888"/>
          </a:xfrm>
          <a:prstGeom prst="rect">
            <a:avLst/>
          </a:prstGeom>
          <a:solidFill>
            <a:srgbClr val="FFF2D9"/>
          </a:solidFill>
          <a:ln w="12700">
            <a:solidFill>
              <a:srgbClr val="E0CC9A"/>
            </a:solidFill>
            <a:prstDash val="solid"/>
          </a:ln>
        </p:spPr>
      </p:sp>
      <p:sp>
        <p:nvSpPr>
          <p:cNvPr id="10" name="Text 8"/>
          <p:cNvSpPr/>
          <p:nvPr/>
        </p:nvSpPr>
        <p:spPr>
          <a:xfrm>
            <a:off x="6035040" y="1005840"/>
            <a:ext cx="2606040" cy="749808"/>
          </a:xfrm>
          <a:prstGeom prst="rect">
            <a:avLst/>
          </a:prstGeom>
          <a:noFill/>
          <a:ln/>
        </p:spPr>
        <p:txBody>
          <a:bodyPr wrap="square" lIns="0" tIns="0" rIns="0" bIns="0" rtlCol="0" anchor="ctr"/>
          <a:lstStyle/>
          <a:p>
            <a:pPr algn="ctr" indent="0" marL="0">
              <a:buNone/>
            </a:pPr>
            <a:r>
              <a:rPr lang="en-US" sz="2800" b="1" dirty="0">
                <a:solidFill>
                  <a:srgbClr val="D95818"/>
                </a:solidFill>
                <a:latin typeface="Calibri" pitchFamily="34" charset="0"/>
                <a:ea typeface="Calibri" pitchFamily="34" charset="-122"/>
                <a:cs typeface="Calibri" pitchFamily="34" charset="-120"/>
              </a:rPr>
              <a:t>100%</a:t>
            </a:r>
            <a:endParaRPr lang="en-US" sz="2800" dirty="0"/>
          </a:p>
        </p:txBody>
      </p:sp>
      <p:sp>
        <p:nvSpPr>
          <p:cNvPr id="11" name="Text 9"/>
          <p:cNvSpPr/>
          <p:nvPr/>
        </p:nvSpPr>
        <p:spPr>
          <a:xfrm>
            <a:off x="6126480" y="1737360"/>
            <a:ext cx="2423160" cy="530352"/>
          </a:xfrm>
          <a:prstGeom prst="rect">
            <a:avLst/>
          </a:prstGeom>
          <a:noFill/>
          <a:ln/>
        </p:spPr>
        <p:txBody>
          <a:bodyPr wrap="square" lIns="0" tIns="0" rIns="0" bIns="0" rtlCol="0" anchor="ctr"/>
          <a:lstStyle/>
          <a:p>
            <a:pPr algn="ctr" indent="0" marL="0">
              <a:buNone/>
            </a:pPr>
            <a:r>
              <a:rPr lang="en-US" sz="1100" dirty="0">
                <a:solidFill>
                  <a:srgbClr val="2B2B2B"/>
                </a:solidFill>
                <a:latin typeface="Calibri" pitchFamily="34" charset="0"/>
                <a:ea typeface="Calibri" pitchFamily="34" charset="-122"/>
                <a:cs typeface="Calibri" pitchFamily="34" charset="-120"/>
              </a:rPr>
              <a:t>transparens och kontroll under hela resan</a:t>
            </a:r>
            <a:endParaRPr lang="en-US" sz="1100" dirty="0"/>
          </a:p>
        </p:txBody>
      </p:sp>
      <p:sp>
        <p:nvSpPr>
          <p:cNvPr id="12" name="Text 10"/>
          <p:cNvSpPr/>
          <p:nvPr/>
        </p:nvSpPr>
        <p:spPr>
          <a:xfrm>
            <a:off x="411480" y="2578608"/>
            <a:ext cx="4114800" cy="365760"/>
          </a:xfrm>
          <a:prstGeom prst="rect">
            <a:avLst/>
          </a:prstGeom>
          <a:noFill/>
          <a:ln/>
        </p:spPr>
        <p:txBody>
          <a:bodyPr wrap="square" lIns="0" tIns="0" rIns="0" bIns="0" rtlCol="0" anchor="ctr"/>
          <a:lstStyle/>
          <a:p>
            <a:pPr indent="0" marL="0">
              <a:buNone/>
            </a:pPr>
            <a:r>
              <a:rPr lang="en-US" sz="1600" b="1" dirty="0">
                <a:solidFill>
                  <a:srgbClr val="2B2B2B"/>
                </a:solidFill>
                <a:latin typeface="Calibri" pitchFamily="34" charset="0"/>
                <a:ea typeface="Calibri" pitchFamily="34" charset="-122"/>
                <a:cs typeface="Calibri" pitchFamily="34" charset="-120"/>
              </a:rPr>
              <a:t>Vad ingår i samarbetet:</a:t>
            </a:r>
            <a:endParaRPr lang="en-US" sz="1600" dirty="0"/>
          </a:p>
        </p:txBody>
      </p:sp>
      <p:sp>
        <p:nvSpPr>
          <p:cNvPr id="13" name="Text 11"/>
          <p:cNvSpPr/>
          <p:nvPr/>
        </p:nvSpPr>
        <p:spPr>
          <a:xfrm>
            <a:off x="411480" y="2999232"/>
            <a:ext cx="4114800" cy="192024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En dedikerad AI-konsult som känner er verksamhet</a:t>
            </a:r>
            <a:endParaRPr lang="en-US" sz="1400" dirty="0"/>
          </a:p>
          <a:p>
            <a:pPr marL="342900" indent="-3429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Tydlig roadmap med prioriterade use cases</a:t>
            </a:r>
            <a:endParaRPr lang="en-US" sz="1400" dirty="0"/>
          </a:p>
          <a:p>
            <a:pPr marL="342900" indent="-3429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Implementering och utbildning i er organisation</a:t>
            </a:r>
            <a:endParaRPr lang="en-US" sz="1400" dirty="0"/>
          </a:p>
          <a:p>
            <a:pPr marL="342900" indent="-342900">
              <a:spcAft>
                <a:spcPts val="1000"/>
              </a:spcAft>
              <a:buSzPct val="100000"/>
              <a:buChar char="•"/>
            </a:pPr>
            <a:r>
              <a:rPr lang="en-US" sz="1400" dirty="0">
                <a:solidFill>
                  <a:srgbClr val="4A4A4A"/>
                </a:solidFill>
                <a:latin typeface="Calibri" pitchFamily="34" charset="0"/>
                <a:ea typeface="Calibri" pitchFamily="34" charset="-122"/>
                <a:cs typeface="Calibri" pitchFamily="34" charset="-120"/>
              </a:rPr>
              <a:t>Löpande mätning och rapportering av resultat</a:t>
            </a:r>
            <a:endParaRPr lang="en-US" sz="1400" dirty="0"/>
          </a:p>
        </p:txBody>
      </p:sp>
      <p:sp>
        <p:nvSpPr>
          <p:cNvPr id="14" name="Shape 12"/>
          <p:cNvSpPr/>
          <p:nvPr/>
        </p:nvSpPr>
        <p:spPr>
          <a:xfrm>
            <a:off x="4846320" y="2542032"/>
            <a:ext cx="3886200" cy="2377440"/>
          </a:xfrm>
          <a:prstGeom prst="rect">
            <a:avLst/>
          </a:prstGeom>
          <a:solidFill>
            <a:srgbClr val="2B2B2B"/>
          </a:solidFill>
          <a:ln w="12700">
            <a:solidFill>
              <a:srgbClr val="2B2B2B"/>
            </a:solidFill>
            <a:prstDash val="solid"/>
          </a:ln>
          <a:effectLst>
            <a:outerShdw sx="100000" sy="100000" kx="0" ky="0" algn="bl" rotWithShape="0" blurRad="127000" dist="50800" dir="8100000">
              <a:srgbClr val="000000">
                <a:alpha val="12000"/>
              </a:srgbClr>
            </a:outerShdw>
          </a:effectLst>
        </p:spPr>
      </p:sp>
      <p:sp>
        <p:nvSpPr>
          <p:cNvPr id="15" name="Text 13"/>
          <p:cNvSpPr/>
          <p:nvPr/>
        </p:nvSpPr>
        <p:spPr>
          <a:xfrm>
            <a:off x="5074920" y="2724912"/>
            <a:ext cx="3474720" cy="164592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“De flesta företag har börjat använda AI – men väldigt få har omvandlat det till verklig affärsnytta.”</a:t>
            </a:r>
            <a:endParaRPr lang="en-US" sz="1500" dirty="0"/>
          </a:p>
        </p:txBody>
      </p:sp>
      <p:sp>
        <p:nvSpPr>
          <p:cNvPr id="16" name="Text 14"/>
          <p:cNvSpPr/>
          <p:nvPr/>
        </p:nvSpPr>
        <p:spPr>
          <a:xfrm>
            <a:off x="5074920" y="4407408"/>
            <a:ext cx="3474720" cy="274320"/>
          </a:xfrm>
          <a:prstGeom prst="rect">
            <a:avLst/>
          </a:prstGeom>
          <a:noFill/>
          <a:ln/>
        </p:spPr>
        <p:txBody>
          <a:bodyPr wrap="square" lIns="0" tIns="0" rIns="0" bIns="0" rtlCol="0" anchor="ctr"/>
          <a:lstStyle/>
          <a:p>
            <a:pPr indent="0" marL="0">
              <a:buNone/>
            </a:pPr>
            <a:r>
              <a:rPr lang="en-US" sz="1200" b="1" dirty="0">
                <a:solidFill>
                  <a:srgbClr val="D95818"/>
                </a:solidFill>
                <a:latin typeface="Calibri" pitchFamily="34" charset="0"/>
                <a:ea typeface="Calibri" pitchFamily="34" charset="-122"/>
                <a:cs typeface="Calibri" pitchFamily="34" charset="-120"/>
              </a:rPr>
              <a:t>– INKA AI Labs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95818"/>
          </a:solidFill>
          <a:ln w="12700">
            <a:solidFill>
              <a:srgbClr val="D95818"/>
            </a:solidFill>
            <a:prstDash val="solid"/>
          </a:ln>
        </p:spPr>
      </p:sp>
      <p:sp>
        <p:nvSpPr>
          <p:cNvPr id="3" name="Text 1"/>
          <p:cNvSpPr/>
          <p:nvPr/>
        </p:nvSpPr>
        <p:spPr>
          <a:xfrm>
            <a:off x="320040" y="274320"/>
            <a:ext cx="8503920" cy="62179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Nästa steg</a:t>
            </a:r>
            <a:endParaRPr lang="en-US" sz="3600" dirty="0"/>
          </a:p>
        </p:txBody>
      </p:sp>
      <p:sp>
        <p:nvSpPr>
          <p:cNvPr id="4" name="Text 2"/>
          <p:cNvSpPr/>
          <p:nvPr/>
        </p:nvSpPr>
        <p:spPr>
          <a:xfrm>
            <a:off x="320040" y="868680"/>
            <a:ext cx="7315200" cy="347472"/>
          </a:xfrm>
          <a:prstGeom prst="rect">
            <a:avLst/>
          </a:prstGeom>
          <a:noFill/>
          <a:ln/>
        </p:spPr>
        <p:txBody>
          <a:bodyPr wrap="square" lIns="0" tIns="0" rIns="0" bIns="0" rtlCol="0" anchor="ctr"/>
          <a:lstStyle/>
          <a:p>
            <a:pPr indent="0" marL="0">
              <a:buNone/>
            </a:pPr>
            <a:r>
              <a:rPr lang="en-US" sz="1500" i="1" dirty="0">
                <a:solidFill>
                  <a:srgbClr val="8A8A8A"/>
                </a:solidFill>
                <a:latin typeface="Calibri" pitchFamily="34" charset="0"/>
                <a:ea typeface="Calibri" pitchFamily="34" charset="-122"/>
                <a:cs typeface="Calibri" pitchFamily="34" charset="-120"/>
              </a:rPr>
              <a:t>Vad händer om vi bestämmer oss för att gå vidare?</a:t>
            </a:r>
            <a:endParaRPr lang="en-US" sz="1500" dirty="0"/>
          </a:p>
        </p:txBody>
      </p:sp>
      <p:sp>
        <p:nvSpPr>
          <p:cNvPr id="5" name="Shape 3"/>
          <p:cNvSpPr/>
          <p:nvPr/>
        </p:nvSpPr>
        <p:spPr>
          <a:xfrm>
            <a:off x="320040" y="1417320"/>
            <a:ext cx="530352" cy="530352"/>
          </a:xfrm>
          <a:prstGeom prst="rect">
            <a:avLst/>
          </a:prstGeom>
          <a:solidFill>
            <a:srgbClr val="D95818"/>
          </a:solidFill>
          <a:ln w="12700">
            <a:solidFill>
              <a:srgbClr val="D95818"/>
            </a:solidFill>
            <a:prstDash val="solid"/>
          </a:ln>
        </p:spPr>
      </p:sp>
      <p:sp>
        <p:nvSpPr>
          <p:cNvPr id="6" name="Text 4"/>
          <p:cNvSpPr/>
          <p:nvPr/>
        </p:nvSpPr>
        <p:spPr>
          <a:xfrm>
            <a:off x="320040" y="14173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pic>
        <p:nvPicPr>
          <p:cNvPr id="7" name="Image 0" descr="preencoded.png">    </p:cNvPr>
          <p:cNvPicPr>
            <a:picLocks noChangeAspect="1"/>
          </p:cNvPicPr>
          <p:nvPr/>
        </p:nvPicPr>
        <p:blipFill>
          <a:blip r:embed="rId1"/>
          <a:stretch>
            <a:fillRect/>
          </a:stretch>
        </p:blipFill>
        <p:spPr>
          <a:xfrm>
            <a:off x="987552" y="1545336"/>
            <a:ext cx="274320" cy="274320"/>
          </a:xfrm>
          <a:prstGeom prst="rect">
            <a:avLst/>
          </a:prstGeom>
        </p:spPr>
      </p:pic>
      <p:sp>
        <p:nvSpPr>
          <p:cNvPr id="8" name="Text 5"/>
          <p:cNvSpPr/>
          <p:nvPr/>
        </p:nvSpPr>
        <p:spPr>
          <a:xfrm>
            <a:off x="1371600" y="1472184"/>
            <a:ext cx="7406640" cy="43891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Ni bekräftar intresset och vi bokar ett uppstartsmöte (ca 2 timmar)</a:t>
            </a:r>
            <a:endParaRPr lang="en-US" sz="1500" dirty="0"/>
          </a:p>
        </p:txBody>
      </p:sp>
      <p:sp>
        <p:nvSpPr>
          <p:cNvPr id="9" name="Shape 6"/>
          <p:cNvSpPr/>
          <p:nvPr/>
        </p:nvSpPr>
        <p:spPr>
          <a:xfrm>
            <a:off x="320040" y="2286000"/>
            <a:ext cx="530352" cy="530352"/>
          </a:xfrm>
          <a:prstGeom prst="rect">
            <a:avLst/>
          </a:prstGeom>
          <a:solidFill>
            <a:srgbClr val="D95818"/>
          </a:solidFill>
          <a:ln w="12700">
            <a:solidFill>
              <a:srgbClr val="D95818"/>
            </a:solidFill>
            <a:prstDash val="solid"/>
          </a:ln>
        </p:spPr>
      </p:sp>
      <p:sp>
        <p:nvSpPr>
          <p:cNvPr id="10" name="Text 7"/>
          <p:cNvSpPr/>
          <p:nvPr/>
        </p:nvSpPr>
        <p:spPr>
          <a:xfrm>
            <a:off x="320040" y="22860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pic>
        <p:nvPicPr>
          <p:cNvPr id="11" name="Image 1" descr="preencoded.png">    </p:cNvPr>
          <p:cNvPicPr>
            <a:picLocks noChangeAspect="1"/>
          </p:cNvPicPr>
          <p:nvPr/>
        </p:nvPicPr>
        <p:blipFill>
          <a:blip r:embed="rId2"/>
          <a:stretch>
            <a:fillRect/>
          </a:stretch>
        </p:blipFill>
        <p:spPr>
          <a:xfrm>
            <a:off x="987552" y="2414016"/>
            <a:ext cx="274320" cy="274320"/>
          </a:xfrm>
          <a:prstGeom prst="rect">
            <a:avLst/>
          </a:prstGeom>
        </p:spPr>
      </p:pic>
      <p:sp>
        <p:nvSpPr>
          <p:cNvPr id="12" name="Text 8"/>
          <p:cNvSpPr/>
          <p:nvPr/>
        </p:nvSpPr>
        <p:spPr>
          <a:xfrm>
            <a:off x="1371600" y="2340864"/>
            <a:ext cx="7406640" cy="43891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Vi skickar en enkel behovsanalys som ni fyller i inför mötet</a:t>
            </a:r>
            <a:endParaRPr lang="en-US" sz="1500" dirty="0"/>
          </a:p>
        </p:txBody>
      </p:sp>
      <p:sp>
        <p:nvSpPr>
          <p:cNvPr id="13" name="Shape 9"/>
          <p:cNvSpPr/>
          <p:nvPr/>
        </p:nvSpPr>
        <p:spPr>
          <a:xfrm>
            <a:off x="320040" y="3154680"/>
            <a:ext cx="530352" cy="530352"/>
          </a:xfrm>
          <a:prstGeom prst="rect">
            <a:avLst/>
          </a:prstGeom>
          <a:solidFill>
            <a:srgbClr val="D95818"/>
          </a:solidFill>
          <a:ln w="12700">
            <a:solidFill>
              <a:srgbClr val="D95818"/>
            </a:solidFill>
            <a:prstDash val="solid"/>
          </a:ln>
        </p:spPr>
      </p:sp>
      <p:sp>
        <p:nvSpPr>
          <p:cNvPr id="14" name="Text 10"/>
          <p:cNvSpPr/>
          <p:nvPr/>
        </p:nvSpPr>
        <p:spPr>
          <a:xfrm>
            <a:off x="320040" y="31546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pic>
        <p:nvPicPr>
          <p:cNvPr id="15" name="Image 2" descr="preencoded.png">    </p:cNvPr>
          <p:cNvPicPr>
            <a:picLocks noChangeAspect="1"/>
          </p:cNvPicPr>
          <p:nvPr/>
        </p:nvPicPr>
        <p:blipFill>
          <a:blip r:embed="rId3"/>
          <a:stretch>
            <a:fillRect/>
          </a:stretch>
        </p:blipFill>
        <p:spPr>
          <a:xfrm>
            <a:off x="987552" y="3282696"/>
            <a:ext cx="274320" cy="274320"/>
          </a:xfrm>
          <a:prstGeom prst="rect">
            <a:avLst/>
          </a:prstGeom>
        </p:spPr>
      </p:pic>
      <p:sp>
        <p:nvSpPr>
          <p:cNvPr id="16" name="Text 11"/>
          <p:cNvSpPr/>
          <p:nvPr/>
        </p:nvSpPr>
        <p:spPr>
          <a:xfrm>
            <a:off x="1371600" y="3209544"/>
            <a:ext cx="7406640" cy="43891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Vi presenterar ett konkret uppdragsförslag med scope, budget och tidsplan</a:t>
            </a:r>
            <a:endParaRPr lang="en-US" sz="1500" dirty="0"/>
          </a:p>
        </p:txBody>
      </p:sp>
      <p:sp>
        <p:nvSpPr>
          <p:cNvPr id="17" name="Shape 12"/>
          <p:cNvSpPr/>
          <p:nvPr/>
        </p:nvSpPr>
        <p:spPr>
          <a:xfrm>
            <a:off x="320040" y="4023360"/>
            <a:ext cx="530352" cy="530352"/>
          </a:xfrm>
          <a:prstGeom prst="rect">
            <a:avLst/>
          </a:prstGeom>
          <a:solidFill>
            <a:srgbClr val="D95818"/>
          </a:solidFill>
          <a:ln w="12700">
            <a:solidFill>
              <a:srgbClr val="D95818"/>
            </a:solidFill>
            <a:prstDash val="solid"/>
          </a:ln>
        </p:spPr>
      </p:sp>
      <p:sp>
        <p:nvSpPr>
          <p:cNvPr id="18" name="Text 13"/>
          <p:cNvSpPr/>
          <p:nvPr/>
        </p:nvSpPr>
        <p:spPr>
          <a:xfrm>
            <a:off x="320040" y="402336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pic>
        <p:nvPicPr>
          <p:cNvPr id="19" name="Image 3" descr="preencoded.png">    </p:cNvPr>
          <p:cNvPicPr>
            <a:picLocks noChangeAspect="1"/>
          </p:cNvPicPr>
          <p:nvPr/>
        </p:nvPicPr>
        <p:blipFill>
          <a:blip r:embed="rId4"/>
          <a:stretch>
            <a:fillRect/>
          </a:stretch>
        </p:blipFill>
        <p:spPr>
          <a:xfrm>
            <a:off x="987552" y="4151376"/>
            <a:ext cx="274320" cy="274320"/>
          </a:xfrm>
          <a:prstGeom prst="rect">
            <a:avLst/>
          </a:prstGeom>
        </p:spPr>
      </p:pic>
      <p:sp>
        <p:nvSpPr>
          <p:cNvPr id="20" name="Text 14"/>
          <p:cNvSpPr/>
          <p:nvPr/>
        </p:nvSpPr>
        <p:spPr>
          <a:xfrm>
            <a:off x="1371600" y="4078224"/>
            <a:ext cx="7406640" cy="43891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Kartläggningsfasen startar – senast 1 augusti 2026</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AF1"/>
        </a:solidFill>
      </p:bgPr>
    </p:bg>
    <p:spTree>
      <p:nvGrpSpPr>
        <p:cNvPr id="1" name=""/>
        <p:cNvGrpSpPr/>
        <p:nvPr/>
      </p:nvGrpSpPr>
      <p:grpSpPr>
        <a:xfrm>
          <a:off x="0" y="0"/>
          <a:ext cx="0" cy="0"/>
          <a:chOff x="0" y="0"/>
          <a:chExt cx="0" cy="0"/>
        </a:xfrm>
      </p:grpSpPr>
      <p:sp>
        <p:nvSpPr>
          <p:cNvPr id="2" name="Text 0"/>
          <p:cNvSpPr/>
          <p:nvPr/>
        </p:nvSpPr>
        <p:spPr>
          <a:xfrm>
            <a:off x="411480" y="256032"/>
            <a:ext cx="8321040" cy="548640"/>
          </a:xfrm>
          <a:prstGeom prst="rect">
            <a:avLst/>
          </a:prstGeom>
          <a:noFill/>
          <a:ln/>
        </p:spPr>
        <p:txBody>
          <a:bodyPr wrap="square" lIns="0" tIns="0" rIns="0" bIns="0" rtlCol="0" anchor="ctr"/>
          <a:lstStyle/>
          <a:p>
            <a:pPr indent="0" marL="0">
              <a:buNone/>
            </a:pPr>
            <a:r>
              <a:rPr lang="en-US" sz="3200" b="1" dirty="0">
                <a:solidFill>
                  <a:srgbClr val="2B2B2B"/>
                </a:solidFill>
                <a:latin typeface="Calibri" pitchFamily="34" charset="0"/>
                <a:ea typeface="Calibri" pitchFamily="34" charset="-122"/>
                <a:cs typeface="Calibri" pitchFamily="34" charset="-120"/>
              </a:rPr>
              <a:t>Om INKA AI Labs</a:t>
            </a:r>
            <a:endParaRPr lang="en-US" sz="3200" dirty="0"/>
          </a:p>
        </p:txBody>
      </p:sp>
      <p:sp>
        <p:nvSpPr>
          <p:cNvPr id="3" name="Text 1"/>
          <p:cNvSpPr/>
          <p:nvPr/>
        </p:nvSpPr>
        <p:spPr>
          <a:xfrm>
            <a:off x="411480" y="777240"/>
            <a:ext cx="5029200" cy="347472"/>
          </a:xfrm>
          <a:prstGeom prst="rect">
            <a:avLst/>
          </a:prstGeom>
          <a:noFill/>
          <a:ln/>
        </p:spPr>
        <p:txBody>
          <a:bodyPr wrap="square" lIns="0" tIns="0" rIns="0" bIns="0" rtlCol="0" anchor="ctr"/>
          <a:lstStyle/>
          <a:p>
            <a:pPr indent="0" marL="0">
              <a:buNone/>
            </a:pPr>
            <a:r>
              <a:rPr lang="en-US" sz="1600" b="1" dirty="0">
                <a:solidFill>
                  <a:srgbClr val="D95818"/>
                </a:solidFill>
                <a:latin typeface="Calibri" pitchFamily="34" charset="0"/>
                <a:ea typeface="Calibri" pitchFamily="34" charset="-122"/>
                <a:cs typeface="Calibri" pitchFamily="34" charset="-120"/>
              </a:rPr>
              <a:t>AI-byrå i Malmö – del av INKA Interactive</a:t>
            </a:r>
            <a:endParaRPr lang="en-US" sz="1600" dirty="0"/>
          </a:p>
        </p:txBody>
      </p:sp>
      <p:sp>
        <p:nvSpPr>
          <p:cNvPr id="4" name="Text 2"/>
          <p:cNvSpPr/>
          <p:nvPr/>
        </p:nvSpPr>
        <p:spPr>
          <a:xfrm>
            <a:off x="411480" y="1234440"/>
            <a:ext cx="5029200" cy="2240280"/>
          </a:xfrm>
          <a:prstGeom prst="rect">
            <a:avLst/>
          </a:prstGeom>
          <a:noFill/>
          <a:ln/>
        </p:spPr>
        <p:txBody>
          <a:bodyPr wrap="square" lIns="0" tIns="0" rIns="0" bIns="0" rtlCol="0" anchor="ctr"/>
          <a:lstStyle/>
          <a:p>
            <a:pPr indent="0" marL="0">
              <a:buNone/>
            </a:pPr>
            <a:r>
              <a:rPr lang="en-US" sz="1400" dirty="0">
                <a:solidFill>
                  <a:srgbClr val="4A4A4A"/>
                </a:solidFill>
                <a:latin typeface="Calibri" pitchFamily="34" charset="0"/>
                <a:ea typeface="Calibri" pitchFamily="34" charset="-122"/>
                <a:cs typeface="Calibri" pitchFamily="34" charset="-120"/>
              </a:rPr>
              <a:t>INKA AI Labs hjälper medelstora till stora svenska företag att omsätta AI till verklig affärsnytta – inte bara testa, utan faktiskt implementera och skala.</a:t>
            </a:r>
            <a:endParaRPr lang="en-US" sz="1400" dirty="0"/>
          </a:p>
          <a:p>
            <a:pPr indent="0" marL="0">
              <a:buNone/>
            </a:pPr>
            <a:endParaRPr lang="en-US" sz="1400" dirty="0"/>
          </a:p>
          <a:p>
            <a:pPr indent="0" marL="0">
              <a:buNone/>
            </a:pPr>
            <a:r>
              <a:rPr lang="en-US" sz="1400" dirty="0">
                <a:solidFill>
                  <a:srgbClr val="4A4A4A"/>
                </a:solidFill>
                <a:latin typeface="Calibri" pitchFamily="34" charset="0"/>
                <a:ea typeface="Calibri" pitchFamily="34" charset="-122"/>
                <a:cs typeface="Calibri" pitchFamily="34" charset="-120"/>
              </a:rPr>
              <a:t>Vi bygger på INKA Interactives 20+ år av digital erfarenhet kombinerat med AI-spetskompetens – ett helhetsperspektiv från strategi till implementation som de flesta AI-bolag saknar.</a:t>
            </a:r>
            <a:endParaRPr lang="en-US" sz="1400" dirty="0"/>
          </a:p>
        </p:txBody>
      </p:sp>
      <p:sp>
        <p:nvSpPr>
          <p:cNvPr id="5" name="Text 3"/>
          <p:cNvSpPr/>
          <p:nvPr/>
        </p:nvSpPr>
        <p:spPr>
          <a:xfrm>
            <a:off x="411480" y="3584448"/>
            <a:ext cx="1828800" cy="292608"/>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Nuvarande kunder:</a:t>
            </a:r>
            <a:endParaRPr lang="en-US" sz="1300" dirty="0"/>
          </a:p>
        </p:txBody>
      </p:sp>
      <p:sp>
        <p:nvSpPr>
          <p:cNvPr id="6" name="Text 4"/>
          <p:cNvSpPr/>
          <p:nvPr/>
        </p:nvSpPr>
        <p:spPr>
          <a:xfrm>
            <a:off x="411480" y="3913632"/>
            <a:ext cx="5029200" cy="292608"/>
          </a:xfrm>
          <a:prstGeom prst="rect">
            <a:avLst/>
          </a:prstGeom>
          <a:noFill/>
          <a:ln/>
        </p:spPr>
        <p:txBody>
          <a:bodyPr wrap="square" lIns="0" tIns="0" rIns="0" bIns="0" rtlCol="0" anchor="ctr"/>
          <a:lstStyle/>
          <a:p>
            <a:pPr indent="0" marL="0">
              <a:buNone/>
            </a:pPr>
            <a:r>
              <a:rPr lang="en-US" sz="1300" dirty="0">
                <a:solidFill>
                  <a:srgbClr val="8A8A8A"/>
                </a:solidFill>
                <a:latin typeface="Calibri" pitchFamily="34" charset="0"/>
                <a:ea typeface="Calibri" pitchFamily="34" charset="-122"/>
                <a:cs typeface="Calibri" pitchFamily="34" charset="-120"/>
              </a:rPr>
              <a:t>HydX  ·  Forsen  ·  Jape  ·  Classicum</a:t>
            </a:r>
            <a:endParaRPr lang="en-US" sz="1300" dirty="0"/>
          </a:p>
        </p:txBody>
      </p:sp>
      <p:sp>
        <p:nvSpPr>
          <p:cNvPr id="7" name="Shape 5"/>
          <p:cNvSpPr/>
          <p:nvPr/>
        </p:nvSpPr>
        <p:spPr>
          <a:xfrm>
            <a:off x="5760720" y="960120"/>
            <a:ext cx="2971800" cy="118872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8" name="Shape 6"/>
          <p:cNvSpPr/>
          <p:nvPr/>
        </p:nvSpPr>
        <p:spPr>
          <a:xfrm>
            <a:off x="5760720" y="960120"/>
            <a:ext cx="91440" cy="1188720"/>
          </a:xfrm>
          <a:prstGeom prst="rect">
            <a:avLst/>
          </a:prstGeom>
          <a:solidFill>
            <a:srgbClr val="D95818"/>
          </a:solidFill>
          <a:ln w="12700">
            <a:solidFill>
              <a:srgbClr val="D95818"/>
            </a:solidFill>
            <a:prstDash val="solid"/>
          </a:ln>
        </p:spPr>
      </p:sp>
      <p:sp>
        <p:nvSpPr>
          <p:cNvPr id="9" name="Text 7"/>
          <p:cNvSpPr/>
          <p:nvPr/>
        </p:nvSpPr>
        <p:spPr>
          <a:xfrm>
            <a:off x="5961888" y="1051560"/>
            <a:ext cx="2697480" cy="621792"/>
          </a:xfrm>
          <a:prstGeom prst="rect">
            <a:avLst/>
          </a:prstGeom>
          <a:noFill/>
          <a:ln/>
        </p:spPr>
        <p:txBody>
          <a:bodyPr wrap="square" lIns="0" tIns="0" rIns="0" bIns="0" rtlCol="0" anchor="ctr"/>
          <a:lstStyle/>
          <a:p>
            <a:pPr indent="0" marL="0">
              <a:buNone/>
            </a:pPr>
            <a:r>
              <a:rPr lang="en-US" sz="3000" b="1" dirty="0">
                <a:solidFill>
                  <a:srgbClr val="D95818"/>
                </a:solidFill>
                <a:latin typeface="Calibri" pitchFamily="34" charset="0"/>
                <a:ea typeface="Calibri" pitchFamily="34" charset="-122"/>
                <a:cs typeface="Calibri" pitchFamily="34" charset="-120"/>
              </a:rPr>
              <a:t>20+</a:t>
            </a:r>
            <a:endParaRPr lang="en-US" sz="3000" dirty="0"/>
          </a:p>
        </p:txBody>
      </p:sp>
      <p:sp>
        <p:nvSpPr>
          <p:cNvPr id="10" name="Text 8"/>
          <p:cNvSpPr/>
          <p:nvPr/>
        </p:nvSpPr>
        <p:spPr>
          <a:xfrm>
            <a:off x="5961888" y="1645920"/>
            <a:ext cx="2697480" cy="411480"/>
          </a:xfrm>
          <a:prstGeom prst="rect">
            <a:avLst/>
          </a:prstGeom>
          <a:noFill/>
          <a:ln/>
        </p:spPr>
        <p:txBody>
          <a:bodyPr wrap="square" lIns="0" tIns="0" rIns="0" bIns="0" rtlCol="0" anchor="ctr"/>
          <a:lstStyle/>
          <a:p>
            <a:pPr indent="0" marL="0">
              <a:buNone/>
            </a:pPr>
            <a:r>
              <a:rPr lang="en-US" sz="1200" dirty="0">
                <a:solidFill>
                  <a:srgbClr val="8A8A8A"/>
                </a:solidFill>
                <a:latin typeface="Calibri" pitchFamily="34" charset="0"/>
                <a:ea typeface="Calibri" pitchFamily="34" charset="-122"/>
                <a:cs typeface="Calibri" pitchFamily="34" charset="-120"/>
              </a:rPr>
              <a:t>års digital erfarenhet</a:t>
            </a:r>
            <a:endParaRPr lang="en-US" sz="1200" dirty="0"/>
          </a:p>
        </p:txBody>
      </p:sp>
      <p:sp>
        <p:nvSpPr>
          <p:cNvPr id="11" name="Shape 9"/>
          <p:cNvSpPr/>
          <p:nvPr/>
        </p:nvSpPr>
        <p:spPr>
          <a:xfrm>
            <a:off x="5760720" y="2350008"/>
            <a:ext cx="2971800" cy="118872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2" name="Shape 10"/>
          <p:cNvSpPr/>
          <p:nvPr/>
        </p:nvSpPr>
        <p:spPr>
          <a:xfrm>
            <a:off x="5760720" y="2350008"/>
            <a:ext cx="91440" cy="1188720"/>
          </a:xfrm>
          <a:prstGeom prst="rect">
            <a:avLst/>
          </a:prstGeom>
          <a:solidFill>
            <a:srgbClr val="D95818"/>
          </a:solidFill>
          <a:ln w="12700">
            <a:solidFill>
              <a:srgbClr val="D95818"/>
            </a:solidFill>
            <a:prstDash val="solid"/>
          </a:ln>
        </p:spPr>
      </p:sp>
      <p:sp>
        <p:nvSpPr>
          <p:cNvPr id="13" name="Text 11"/>
          <p:cNvSpPr/>
          <p:nvPr/>
        </p:nvSpPr>
        <p:spPr>
          <a:xfrm>
            <a:off x="5961888" y="2441448"/>
            <a:ext cx="2697480" cy="621792"/>
          </a:xfrm>
          <a:prstGeom prst="rect">
            <a:avLst/>
          </a:prstGeom>
          <a:noFill/>
          <a:ln/>
        </p:spPr>
        <p:txBody>
          <a:bodyPr wrap="square" lIns="0" tIns="0" rIns="0" bIns="0" rtlCol="0" anchor="ctr"/>
          <a:lstStyle/>
          <a:p>
            <a:pPr indent="0" marL="0">
              <a:buNone/>
            </a:pPr>
            <a:r>
              <a:rPr lang="en-US" sz="3000" b="1" dirty="0">
                <a:solidFill>
                  <a:srgbClr val="D95818"/>
                </a:solidFill>
                <a:latin typeface="Calibri" pitchFamily="34" charset="0"/>
                <a:ea typeface="Calibri" pitchFamily="34" charset="-122"/>
                <a:cs typeface="Calibri" pitchFamily="34" charset="-120"/>
              </a:rPr>
              <a:t>3</a:t>
            </a:r>
            <a:endParaRPr lang="en-US" sz="3000" dirty="0"/>
          </a:p>
        </p:txBody>
      </p:sp>
      <p:sp>
        <p:nvSpPr>
          <p:cNvPr id="14" name="Text 12"/>
          <p:cNvSpPr/>
          <p:nvPr/>
        </p:nvSpPr>
        <p:spPr>
          <a:xfrm>
            <a:off x="5961888" y="3035808"/>
            <a:ext cx="2697480" cy="411480"/>
          </a:xfrm>
          <a:prstGeom prst="rect">
            <a:avLst/>
          </a:prstGeom>
          <a:noFill/>
          <a:ln/>
        </p:spPr>
        <p:txBody>
          <a:bodyPr wrap="square" lIns="0" tIns="0" rIns="0" bIns="0" rtlCol="0" anchor="ctr"/>
          <a:lstStyle/>
          <a:p>
            <a:pPr indent="0" marL="0">
              <a:buNone/>
            </a:pPr>
            <a:r>
              <a:rPr lang="en-US" sz="1200" dirty="0">
                <a:solidFill>
                  <a:srgbClr val="8A8A8A"/>
                </a:solidFill>
                <a:latin typeface="Calibri" pitchFamily="34" charset="0"/>
                <a:ea typeface="Calibri" pitchFamily="34" charset="-122"/>
                <a:cs typeface="Calibri" pitchFamily="34" charset="-120"/>
              </a:rPr>
              <a:t>tjänstepelare i helhet</a:t>
            </a:r>
            <a:endParaRPr lang="en-US" sz="1200" dirty="0"/>
          </a:p>
        </p:txBody>
      </p:sp>
      <p:sp>
        <p:nvSpPr>
          <p:cNvPr id="15" name="Shape 13"/>
          <p:cNvSpPr/>
          <p:nvPr/>
        </p:nvSpPr>
        <p:spPr>
          <a:xfrm>
            <a:off x="5760720" y="3739896"/>
            <a:ext cx="2971800" cy="1188720"/>
          </a:xfrm>
          <a:prstGeom prst="rect">
            <a:avLst/>
          </a:prstGeom>
          <a:solidFill>
            <a:srgbClr val="FFFFFF"/>
          </a:solidFill>
          <a:ln w="12700">
            <a:solidFill>
              <a:srgbClr val="E0D8CC"/>
            </a:solidFill>
            <a:prstDash val="solid"/>
          </a:ln>
          <a:effectLst>
            <a:outerShdw sx="100000" sy="100000" kx="0" ky="0" algn="bl" rotWithShape="0" blurRad="127000" dist="50800" dir="8100000">
              <a:srgbClr val="000000">
                <a:alpha val="12000"/>
              </a:srgbClr>
            </a:outerShdw>
          </a:effectLst>
        </p:spPr>
      </p:sp>
      <p:sp>
        <p:nvSpPr>
          <p:cNvPr id="16" name="Shape 14"/>
          <p:cNvSpPr/>
          <p:nvPr/>
        </p:nvSpPr>
        <p:spPr>
          <a:xfrm>
            <a:off x="5760720" y="3739896"/>
            <a:ext cx="91440" cy="1188720"/>
          </a:xfrm>
          <a:prstGeom prst="rect">
            <a:avLst/>
          </a:prstGeom>
          <a:solidFill>
            <a:srgbClr val="D95818"/>
          </a:solidFill>
          <a:ln w="12700">
            <a:solidFill>
              <a:srgbClr val="D95818"/>
            </a:solidFill>
            <a:prstDash val="solid"/>
          </a:ln>
        </p:spPr>
      </p:sp>
      <p:sp>
        <p:nvSpPr>
          <p:cNvPr id="17" name="Text 15"/>
          <p:cNvSpPr/>
          <p:nvPr/>
        </p:nvSpPr>
        <p:spPr>
          <a:xfrm>
            <a:off x="5961888" y="3831336"/>
            <a:ext cx="2697480" cy="621792"/>
          </a:xfrm>
          <a:prstGeom prst="rect">
            <a:avLst/>
          </a:prstGeom>
          <a:noFill/>
          <a:ln/>
        </p:spPr>
        <p:txBody>
          <a:bodyPr wrap="square" lIns="0" tIns="0" rIns="0" bIns="0" rtlCol="0" anchor="ctr"/>
          <a:lstStyle/>
          <a:p>
            <a:pPr indent="0" marL="0">
              <a:buNone/>
            </a:pPr>
            <a:r>
              <a:rPr lang="en-US" sz="3000" b="1" dirty="0">
                <a:solidFill>
                  <a:srgbClr val="D95818"/>
                </a:solidFill>
                <a:latin typeface="Calibri" pitchFamily="34" charset="0"/>
                <a:ea typeface="Calibri" pitchFamily="34" charset="-122"/>
                <a:cs typeface="Calibri" pitchFamily="34" charset="-120"/>
              </a:rPr>
              <a:t>Malmö</a:t>
            </a:r>
            <a:endParaRPr lang="en-US" sz="3000" dirty="0"/>
          </a:p>
        </p:txBody>
      </p:sp>
      <p:sp>
        <p:nvSpPr>
          <p:cNvPr id="18" name="Text 16"/>
          <p:cNvSpPr/>
          <p:nvPr/>
        </p:nvSpPr>
        <p:spPr>
          <a:xfrm>
            <a:off x="5961888" y="4425696"/>
            <a:ext cx="2697480" cy="411480"/>
          </a:xfrm>
          <a:prstGeom prst="rect">
            <a:avLst/>
          </a:prstGeom>
          <a:noFill/>
          <a:ln/>
        </p:spPr>
        <p:txBody>
          <a:bodyPr wrap="square" lIns="0" tIns="0" rIns="0" bIns="0" rtlCol="0" anchor="ctr"/>
          <a:lstStyle/>
          <a:p>
            <a:pPr indent="0" marL="0">
              <a:buNone/>
            </a:pPr>
            <a:r>
              <a:rPr lang="en-US" sz="1200" dirty="0">
                <a:solidFill>
                  <a:srgbClr val="8A8A8A"/>
                </a:solidFill>
                <a:latin typeface="Calibri" pitchFamily="34" charset="0"/>
                <a:ea typeface="Calibri" pitchFamily="34" charset="-122"/>
                <a:cs typeface="Calibri" pitchFamily="34" charset="-120"/>
              </a:rPr>
              <a:t>lokal förankring, nationell räckvidd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D95818"/>
          </a:solidFill>
          <a:ln w="12700">
            <a:solidFill>
              <a:srgbClr val="D95818"/>
            </a:solidFill>
            <a:prstDash val="solid"/>
          </a:ln>
        </p:spPr>
      </p:sp>
      <p:sp>
        <p:nvSpPr>
          <p:cNvPr id="3" name="Text 1"/>
          <p:cNvSpPr/>
          <p:nvPr/>
        </p:nvSpPr>
        <p:spPr>
          <a:xfrm>
            <a:off x="228600" y="640080"/>
            <a:ext cx="3017520" cy="2560320"/>
          </a:xfrm>
          <a:prstGeom prst="rect">
            <a:avLst/>
          </a:prstGeom>
          <a:noFill/>
          <a:ln/>
        </p:spPr>
        <p:txBody>
          <a:bodyPr wrap="square" lIns="0" tIns="0" rIns="0" bIns="0" rtlCol="0" anchor="ctr"/>
          <a:lstStyle/>
          <a:p>
            <a:pPr indent="0" marL="0">
              <a:buNone/>
            </a:pPr>
            <a:r>
              <a:rPr lang="en-US" sz="3400" b="1" i="1" dirty="0">
                <a:solidFill>
                  <a:srgbClr val="FFFFFF"/>
                </a:solidFill>
                <a:latin typeface="Calibri" pitchFamily="34" charset="0"/>
                <a:ea typeface="Calibri" pitchFamily="34" charset="-122"/>
                <a:cs typeface="Calibri" pitchFamily="34" charset="-120"/>
              </a:rPr>
              <a:t>Från</a:t>
            </a:r>
            <a:endParaRPr lang="en-US" sz="3400" dirty="0"/>
          </a:p>
          <a:p>
            <a:pPr indent="0" marL="0">
              <a:buNone/>
            </a:pPr>
            <a:r>
              <a:rPr lang="en-US" sz="3400" b="1" i="1" dirty="0">
                <a:solidFill>
                  <a:srgbClr val="FFFFFF"/>
                </a:solidFill>
                <a:latin typeface="Calibri" pitchFamily="34" charset="0"/>
                <a:ea typeface="Calibri" pitchFamily="34" charset="-122"/>
                <a:cs typeface="Calibri" pitchFamily="34" charset="-120"/>
              </a:rPr>
              <a:t>tanke till</a:t>
            </a:r>
            <a:endParaRPr lang="en-US" sz="3400" dirty="0"/>
          </a:p>
          <a:p>
            <a:pPr indent="0" marL="0">
              <a:buNone/>
            </a:pPr>
            <a:r>
              <a:rPr lang="en-US" sz="3400" b="1" i="1" dirty="0">
                <a:solidFill>
                  <a:srgbClr val="FFFFFF"/>
                </a:solidFill>
                <a:latin typeface="Calibri" pitchFamily="34" charset="0"/>
                <a:ea typeface="Calibri" pitchFamily="34" charset="-122"/>
                <a:cs typeface="Calibri" pitchFamily="34" charset="-120"/>
              </a:rPr>
              <a:t>handling.</a:t>
            </a:r>
            <a:endParaRPr lang="en-US" sz="3400" dirty="0"/>
          </a:p>
        </p:txBody>
      </p:sp>
      <p:sp>
        <p:nvSpPr>
          <p:cNvPr id="4" name="Shape 2"/>
          <p:cNvSpPr/>
          <p:nvPr/>
        </p:nvSpPr>
        <p:spPr>
          <a:xfrm>
            <a:off x="228600" y="3337560"/>
            <a:ext cx="1097280" cy="54864"/>
          </a:xfrm>
          <a:prstGeom prst="rect">
            <a:avLst/>
          </a:prstGeom>
          <a:solidFill>
            <a:srgbClr val="FFFFFF"/>
          </a:solidFill>
          <a:ln w="12700">
            <a:solidFill>
              <a:srgbClr val="FFFFFF"/>
            </a:solidFill>
            <a:prstDash val="solid"/>
          </a:ln>
        </p:spPr>
      </p:sp>
      <p:sp>
        <p:nvSpPr>
          <p:cNvPr id="5" name="Text 3"/>
          <p:cNvSpPr/>
          <p:nvPr/>
        </p:nvSpPr>
        <p:spPr>
          <a:xfrm>
            <a:off x="228600" y="3520440"/>
            <a:ext cx="301752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INKA AI Labs</a:t>
            </a:r>
            <a:endParaRPr lang="en-US" sz="1400" dirty="0"/>
          </a:p>
        </p:txBody>
      </p:sp>
      <p:sp>
        <p:nvSpPr>
          <p:cNvPr id="6" name="Text 4"/>
          <p:cNvSpPr/>
          <p:nvPr/>
        </p:nvSpPr>
        <p:spPr>
          <a:xfrm>
            <a:off x="228600" y="3858768"/>
            <a:ext cx="3017520" cy="274320"/>
          </a:xfrm>
          <a:prstGeom prst="rect">
            <a:avLst/>
          </a:prstGeom>
          <a:noFill/>
          <a:ln/>
        </p:spPr>
        <p:txBody>
          <a:bodyPr wrap="square" lIns="0" tIns="0" rIns="0" bIns="0" rtlCol="0" anchor="ctr"/>
          <a:lstStyle/>
          <a:p>
            <a:pPr indent="0" marL="0">
              <a:buNone/>
            </a:pPr>
            <a:r>
              <a:rPr lang="en-US" sz="1200" dirty="0">
                <a:solidFill>
                  <a:srgbClr val="FFE8D8"/>
                </a:solidFill>
                <a:latin typeface="Calibri" pitchFamily="34" charset="0"/>
                <a:ea typeface="Calibri" pitchFamily="34" charset="-122"/>
                <a:cs typeface="Calibri" pitchFamily="34" charset="-120"/>
              </a:rPr>
              <a:t>Malmö, Sverige</a:t>
            </a:r>
            <a:endParaRPr lang="en-US" sz="1200" dirty="0"/>
          </a:p>
        </p:txBody>
      </p:sp>
      <p:sp>
        <p:nvSpPr>
          <p:cNvPr id="7" name="Text 5"/>
          <p:cNvSpPr/>
          <p:nvPr/>
        </p:nvSpPr>
        <p:spPr>
          <a:xfrm>
            <a:off x="3840480" y="594360"/>
            <a:ext cx="5029200" cy="128016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Tack!</a:t>
            </a:r>
            <a:endParaRPr lang="en-US" sz="7200" dirty="0"/>
          </a:p>
        </p:txBody>
      </p:sp>
      <p:sp>
        <p:nvSpPr>
          <p:cNvPr id="8" name="Text 6"/>
          <p:cNvSpPr/>
          <p:nvPr/>
        </p:nvSpPr>
        <p:spPr>
          <a:xfrm>
            <a:off x="3840480" y="1920240"/>
            <a:ext cx="5029200" cy="822960"/>
          </a:xfrm>
          <a:prstGeom prst="rect">
            <a:avLst/>
          </a:prstGeom>
          <a:noFill/>
          <a:ln/>
        </p:spPr>
        <p:txBody>
          <a:bodyPr wrap="square" lIns="0" tIns="0" rIns="0" bIns="0" rtlCol="0" anchor="ctr"/>
          <a:lstStyle/>
          <a:p>
            <a:pPr indent="0" marL="0">
              <a:buNone/>
            </a:pPr>
            <a:r>
              <a:rPr lang="en-US" sz="1800" i="1" dirty="0">
                <a:solidFill>
                  <a:srgbClr val="8A8A8A"/>
                </a:solidFill>
                <a:latin typeface="Calibri" pitchFamily="34" charset="0"/>
                <a:ea typeface="Calibri" pitchFamily="34" charset="-122"/>
                <a:cs typeface="Calibri" pitchFamily="34" charset="-120"/>
              </a:rPr>
              <a:t>Vi ser fram emot att hjälpa</a:t>
            </a:r>
            <a:endParaRPr lang="en-US" sz="1800" dirty="0"/>
          </a:p>
          <a:p>
            <a:pPr indent="0" marL="0">
              <a:buNone/>
            </a:pPr>
            <a:r>
              <a:rPr lang="en-US" sz="1800" i="1" dirty="0">
                <a:solidFill>
                  <a:srgbClr val="8A8A8A"/>
                </a:solidFill>
                <a:latin typeface="Calibri" pitchFamily="34" charset="0"/>
                <a:ea typeface="Calibri" pitchFamily="34" charset="-122"/>
                <a:cs typeface="Calibri" pitchFamily="34" charset="-120"/>
              </a:rPr>
              <a:t>Reinholt Logistik ta nästa steg.</a:t>
            </a:r>
            <a:endParaRPr lang="en-US" sz="1800" dirty="0"/>
          </a:p>
        </p:txBody>
      </p:sp>
      <p:sp>
        <p:nvSpPr>
          <p:cNvPr id="9" name="Shape 7"/>
          <p:cNvSpPr/>
          <p:nvPr/>
        </p:nvSpPr>
        <p:spPr>
          <a:xfrm>
            <a:off x="3840480" y="2926080"/>
            <a:ext cx="5029200" cy="1920240"/>
          </a:xfrm>
          <a:prstGeom prst="rect">
            <a:avLst/>
          </a:prstGeom>
          <a:solidFill>
            <a:srgbClr val="3A3A3A"/>
          </a:solidFill>
          <a:ln w="12700">
            <a:solidFill>
              <a:srgbClr val="3A3A3A"/>
            </a:solidFill>
            <a:prstDash val="solid"/>
          </a:ln>
        </p:spPr>
      </p:sp>
      <p:sp>
        <p:nvSpPr>
          <p:cNvPr id="10" name="Text 8"/>
          <p:cNvSpPr/>
          <p:nvPr/>
        </p:nvSpPr>
        <p:spPr>
          <a:xfrm>
            <a:off x="4023360" y="3063240"/>
            <a:ext cx="4663440" cy="347472"/>
          </a:xfrm>
          <a:prstGeom prst="rect">
            <a:avLst/>
          </a:prstGeom>
          <a:noFill/>
          <a:ln/>
        </p:spPr>
        <p:txBody>
          <a:bodyPr wrap="square" lIns="0" tIns="0" rIns="0" bIns="0" rtlCol="0" anchor="ctr"/>
          <a:lstStyle/>
          <a:p>
            <a:pPr indent="0" marL="0">
              <a:buNone/>
            </a:pPr>
            <a:r>
              <a:rPr lang="en-US" sz="1300" b="1" dirty="0">
                <a:solidFill>
                  <a:srgbClr val="D95818"/>
                </a:solidFill>
                <a:latin typeface="Calibri" pitchFamily="34" charset="0"/>
                <a:ea typeface="Calibri" pitchFamily="34" charset="-122"/>
                <a:cs typeface="Calibri" pitchFamily="34" charset="-120"/>
              </a:rPr>
              <a:t>Kontakta oss</a:t>
            </a:r>
            <a:endParaRPr lang="en-US" sz="1300" dirty="0"/>
          </a:p>
        </p:txBody>
      </p:sp>
      <p:sp>
        <p:nvSpPr>
          <p:cNvPr id="11" name="Text 9"/>
          <p:cNvSpPr/>
          <p:nvPr/>
        </p:nvSpPr>
        <p:spPr>
          <a:xfrm>
            <a:off x="4023360" y="3456432"/>
            <a:ext cx="4663440" cy="12344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info@inkaailabs.se</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inkaailabs.se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Reinholt Logistik × INKA AI Labs</dc:title>
  <dc:subject>PptxGenJS Presentation</dc:subject>
  <dc:creator>PptxGenJS</dc:creator>
  <cp:lastModifiedBy>PptxGenJS</cp:lastModifiedBy>
  <cp:revision>1</cp:revision>
  <dcterms:created xsi:type="dcterms:W3CDTF">2026-06-05T10:35:21Z</dcterms:created>
  <dcterms:modified xsi:type="dcterms:W3CDTF">2026-06-05T10:35:21Z</dcterms:modified>
</cp:coreProperties>
</file>