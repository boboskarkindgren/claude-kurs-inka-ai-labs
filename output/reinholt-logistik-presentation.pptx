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0" d="100"/>
          <a:sy n="40" d="100"/>
        </p:scale>
        <p:origin x="81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DA0047-8BCB-412F-8AA3-A499CDD70F88}" type="datetimeFigureOut">
              <a:rPr lang="sv-SE" smtClean="0"/>
              <a:t>2026-06-05</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D88A84-708E-4D69-AE1A-E59098A24C20}" type="slidenum">
              <a:rPr lang="sv-SE" smtClean="0"/>
              <a:t>‹#›</a:t>
            </a:fld>
            <a:endParaRPr lang="sv-SE"/>
          </a:p>
        </p:txBody>
      </p:sp>
    </p:spTree>
    <p:extLst>
      <p:ext uri="{BB962C8B-B14F-4D97-AF65-F5344CB8AC3E}">
        <p14:creationId xmlns:p14="http://schemas.microsoft.com/office/powerpoint/2010/main" val="204779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a:t>Välkomna! Det är ett privilegium att få träffa er. Vi på INKA AI Labs har lyssnat på vad ni berättat och ser direkt att Reinholt Logistik har rätt förutsättningar att ta AI från testfas till konkret affärsnytta. Idag visar vi hur vi tänker – och hur vi tänker jobba med er.</a:t>
            </a:r>
          </a:p>
        </p:txBody>
      </p:sp>
      <p:sp>
        <p:nvSpPr>
          <p:cNvPr id="4" name="Platshållare för bildnummer 3"/>
          <p:cNvSpPr>
            <a:spLocks noGrp="1"/>
          </p:cNvSpPr>
          <p:nvPr>
            <p:ph type="sldNum" sz="quarter" idx="5"/>
          </p:nvPr>
        </p:nvSpPr>
        <p:spPr/>
        <p:txBody>
          <a:bodyPr/>
          <a:lstStyle/>
          <a:p>
            <a:fld id="{DAD88A84-708E-4D69-AE1A-E59098A24C20}" type="slidenum">
              <a:rPr lang="sv-SE" smtClean="0"/>
              <a:t>1</a:t>
            </a:fld>
            <a:endParaRPr lang="sv-SE"/>
          </a:p>
        </p:txBody>
      </p:sp>
    </p:spTree>
    <p:extLst>
      <p:ext uri="{BB962C8B-B14F-4D97-AF65-F5344CB8AC3E}">
        <p14:creationId xmlns:p14="http://schemas.microsoft.com/office/powerpoint/2010/main" val="32682947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a:t>Ni berättade att AI-användningen idag är splittrad – och det är precis det vi ser hos de flesta företag i er fas. Det är inte ett tecken på misslyckande, utan ett typiskt stadium. Ni har provat, ni har lärt er – nu handlar det om att sätta riktning. Tillväxten med de nya storkunderna skapar dessutom ett naturligt tryck att göra mer med samma resurser.</a:t>
            </a:r>
          </a:p>
        </p:txBody>
      </p:sp>
      <p:sp>
        <p:nvSpPr>
          <p:cNvPr id="4" name="Platshållare för bildnummer 3"/>
          <p:cNvSpPr>
            <a:spLocks noGrp="1"/>
          </p:cNvSpPr>
          <p:nvPr>
            <p:ph type="sldNum" sz="quarter" idx="5"/>
          </p:nvPr>
        </p:nvSpPr>
        <p:spPr/>
        <p:txBody>
          <a:bodyPr/>
          <a:lstStyle/>
          <a:p>
            <a:fld id="{DAD88A84-708E-4D69-AE1A-E59098A24C20}" type="slidenum">
              <a:rPr lang="sv-SE" smtClean="0"/>
              <a:t>2</a:t>
            </a:fld>
            <a:endParaRPr lang="sv-SE"/>
          </a:p>
        </p:txBody>
      </p:sp>
    </p:spTree>
    <p:extLst>
      <p:ext uri="{BB962C8B-B14F-4D97-AF65-F5344CB8AC3E}">
        <p14:creationId xmlns:p14="http://schemas.microsoft.com/office/powerpoint/2010/main" val="33294936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a:t>Det vi ser gång på gång är att det inte handlar om brist på ambition – det handlar om att AI-resan är genuint komplex. Tre hinder återkommer: man försöker göra för mycket på en gång, man pratar abstrakt istället för konkret, och man försöker göra det ensam. Det vi gör hos INKA AI Labs är att ta er igenom dessa tre hinder på ett strukturerat sätt.</a:t>
            </a:r>
          </a:p>
        </p:txBody>
      </p:sp>
      <p:sp>
        <p:nvSpPr>
          <p:cNvPr id="4" name="Platshållare för bildnummer 3"/>
          <p:cNvSpPr>
            <a:spLocks noGrp="1"/>
          </p:cNvSpPr>
          <p:nvPr>
            <p:ph type="sldNum" sz="quarter" idx="5"/>
          </p:nvPr>
        </p:nvSpPr>
        <p:spPr/>
        <p:txBody>
          <a:bodyPr/>
          <a:lstStyle/>
          <a:p>
            <a:fld id="{DAD88A84-708E-4D69-AE1A-E59098A24C20}" type="slidenum">
              <a:rPr lang="sv-SE" smtClean="0"/>
              <a:t>3</a:t>
            </a:fld>
            <a:endParaRPr lang="sv-SE"/>
          </a:p>
        </p:txBody>
      </p:sp>
    </p:spTree>
    <p:extLst>
      <p:ext uri="{BB962C8B-B14F-4D97-AF65-F5344CB8AC3E}">
        <p14:creationId xmlns:p14="http://schemas.microsoft.com/office/powerpoint/2010/main" val="3656698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a:t>Vår metodik bygger på tre pelare som hänger ihop. Vi börjar alltid med strategin – för utan riktning blir verktyg bara leksaker. AI-Toolbox är där vi implementerar konkreta lösningar, anpassade för er verksamhet. Och AI-Konsult är det löpande partnerskapet som säkerställer att ni faktiskt skalar det som fungerar.</a:t>
            </a:r>
          </a:p>
        </p:txBody>
      </p:sp>
      <p:sp>
        <p:nvSpPr>
          <p:cNvPr id="4" name="Platshållare för bildnummer 3"/>
          <p:cNvSpPr>
            <a:spLocks noGrp="1"/>
          </p:cNvSpPr>
          <p:nvPr>
            <p:ph type="sldNum" sz="quarter" idx="5"/>
          </p:nvPr>
        </p:nvSpPr>
        <p:spPr/>
        <p:txBody>
          <a:bodyPr/>
          <a:lstStyle/>
          <a:p>
            <a:fld id="{DAD88A84-708E-4D69-AE1A-E59098A24C20}" type="slidenum">
              <a:rPr lang="sv-SE" smtClean="0"/>
              <a:t>4</a:t>
            </a:fld>
            <a:endParaRPr lang="sv-SE"/>
          </a:p>
        </p:txBody>
      </p:sp>
    </p:spTree>
    <p:extLst>
      <p:ext uri="{BB962C8B-B14F-4D97-AF65-F5344CB8AC3E}">
        <p14:creationId xmlns:p14="http://schemas.microsoft.com/office/powerpoint/2010/main" val="2836579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a:t>Vi har tittat specifikt på er verksamhet och identifierat tre use cases som passar er fas och era prioriteringar. Admin-automatisering är oftast det snabbaste att implementera och ger direkt synliga resultat. Kundservice-AI kan transformera hur ni hanterar ökad kundvolym utan att anställa lika mycket. Och resursplanering är extra relevant nu när ni skalar med de nya storkunderna.</a:t>
            </a:r>
          </a:p>
        </p:txBody>
      </p:sp>
      <p:sp>
        <p:nvSpPr>
          <p:cNvPr id="4" name="Platshållare för bildnummer 3"/>
          <p:cNvSpPr>
            <a:spLocks noGrp="1"/>
          </p:cNvSpPr>
          <p:nvPr>
            <p:ph type="sldNum" sz="quarter" idx="5"/>
          </p:nvPr>
        </p:nvSpPr>
        <p:spPr/>
        <p:txBody>
          <a:bodyPr/>
          <a:lstStyle/>
          <a:p>
            <a:fld id="{DAD88A84-708E-4D69-AE1A-E59098A24C20}" type="slidenum">
              <a:rPr lang="sv-SE" smtClean="0"/>
              <a:t>5</a:t>
            </a:fld>
            <a:endParaRPr lang="sv-SE"/>
          </a:p>
        </p:txBody>
      </p:sp>
    </p:spTree>
    <p:extLst>
      <p:ext uri="{BB962C8B-B14F-4D97-AF65-F5344CB8AC3E}">
        <p14:creationId xmlns:p14="http://schemas.microsoft.com/office/powerpoint/2010/main" val="10204665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a:t>Vi vill inte bara presentera teorier – vi vill visa vad som faktiskt är möjligt. Det här exemplet från ett liknande uppdrag visar att vi inom 3 månader kan leverera konkreta, mätbara resultat. 52% av kundärenden automatiserade är inte en siffra vi hittade på – det är vad som faktiskt hände.</a:t>
            </a:r>
          </a:p>
        </p:txBody>
      </p:sp>
      <p:sp>
        <p:nvSpPr>
          <p:cNvPr id="4" name="Platshållare för bildnummer 3"/>
          <p:cNvSpPr>
            <a:spLocks noGrp="1"/>
          </p:cNvSpPr>
          <p:nvPr>
            <p:ph type="sldNum" sz="quarter" idx="5"/>
          </p:nvPr>
        </p:nvSpPr>
        <p:spPr/>
        <p:txBody>
          <a:bodyPr/>
          <a:lstStyle/>
          <a:p>
            <a:fld id="{DAD88A84-708E-4D69-AE1A-E59098A24C20}" type="slidenum">
              <a:rPr lang="sv-SE" smtClean="0"/>
              <a:t>6</a:t>
            </a:fld>
            <a:endParaRPr lang="sv-SE"/>
          </a:p>
        </p:txBody>
      </p:sp>
    </p:spTree>
    <p:extLst>
      <p:ext uri="{BB962C8B-B14F-4D97-AF65-F5344CB8AC3E}">
        <p14:creationId xmlns:p14="http://schemas.microsoft.com/office/powerpoint/2010/main" val="24502221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a:t>Tidsplanen är medvetet realistisk. Vi börjar med kartläggning i augusti – fokuserat arbete där vi förstår er verksamhet på djupet. Sedan kör vi ett pilotprojekt under hösten – ett tydligt avgränsat use case som ger mätbara resultat. Fungerar det, skalar vi brett från november. Vi sätter aldrig igång med allt på en gång.</a:t>
            </a:r>
          </a:p>
        </p:txBody>
      </p:sp>
      <p:sp>
        <p:nvSpPr>
          <p:cNvPr id="4" name="Platshållare för bildnummer 3"/>
          <p:cNvSpPr>
            <a:spLocks noGrp="1"/>
          </p:cNvSpPr>
          <p:nvPr>
            <p:ph type="sldNum" sz="quarter" idx="5"/>
          </p:nvPr>
        </p:nvSpPr>
        <p:spPr/>
        <p:txBody>
          <a:bodyPr/>
          <a:lstStyle/>
          <a:p>
            <a:fld id="{DAD88A84-708E-4D69-AE1A-E59098A24C20}" type="slidenum">
              <a:rPr lang="sv-SE" smtClean="0"/>
              <a:t>7</a:t>
            </a:fld>
            <a:endParaRPr lang="sv-SE"/>
          </a:p>
        </p:txBody>
      </p:sp>
    </p:spTree>
    <p:extLst>
      <p:ext uri="{BB962C8B-B14F-4D97-AF65-F5344CB8AC3E}">
        <p14:creationId xmlns:p14="http://schemas.microsoft.com/office/powerpoint/2010/main" val="3106096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a:t>Konkreta förväntningar är viktiga. Vi lovar inte magi – vi lovar ett strukturerat samarbete med tydliga leverabler och mätbara mål. 3-6 månader till resultat är realistiskt för ett pilotprojekt. 20-40% effektivitetsökning är vad vi sett i liknande uppdrag. Och 100% transparens är ett löfte om att ni alltid vet vad vi gör och varför.</a:t>
            </a:r>
          </a:p>
        </p:txBody>
      </p:sp>
      <p:sp>
        <p:nvSpPr>
          <p:cNvPr id="4" name="Platshållare för bildnummer 3"/>
          <p:cNvSpPr>
            <a:spLocks noGrp="1"/>
          </p:cNvSpPr>
          <p:nvPr>
            <p:ph type="sldNum" sz="quarter" idx="5"/>
          </p:nvPr>
        </p:nvSpPr>
        <p:spPr/>
        <p:txBody>
          <a:bodyPr/>
          <a:lstStyle/>
          <a:p>
            <a:fld id="{DAD88A84-708E-4D69-AE1A-E59098A24C20}" type="slidenum">
              <a:rPr lang="sv-SE" smtClean="0"/>
              <a:t>8</a:t>
            </a:fld>
            <a:endParaRPr lang="sv-SE"/>
          </a:p>
        </p:txBody>
      </p:sp>
    </p:spTree>
    <p:extLst>
      <p:ext uri="{BB962C8B-B14F-4D97-AF65-F5344CB8AC3E}">
        <p14:creationId xmlns:p14="http://schemas.microsoft.com/office/powerpoint/2010/main" val="11909503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a:t>Nu vill vi veta: ser ni samma potential som vi ser? Om svaret är ja, är nästa steg väldigt konkret och utan risk. Vi startar med ett uppstartsmöte, ni fyller i en enkel behovsanalys, och vi presenterar ett förslag med tydligt scope och budget. Sedan startar kartläggningen. Ingen lång upphandling, inget abstrakt – bara konkret arbete.</a:t>
            </a:r>
          </a:p>
        </p:txBody>
      </p:sp>
      <p:sp>
        <p:nvSpPr>
          <p:cNvPr id="4" name="Platshållare för bildnummer 3"/>
          <p:cNvSpPr>
            <a:spLocks noGrp="1"/>
          </p:cNvSpPr>
          <p:nvPr>
            <p:ph type="sldNum" sz="quarter" idx="5"/>
          </p:nvPr>
        </p:nvSpPr>
        <p:spPr/>
        <p:txBody>
          <a:bodyPr/>
          <a:lstStyle/>
          <a:p>
            <a:fld id="{DAD88A84-708E-4D69-AE1A-E59098A24C20}" type="slidenum">
              <a:rPr lang="sv-SE" smtClean="0"/>
              <a:t>9</a:t>
            </a:fld>
            <a:endParaRPr lang="sv-SE"/>
          </a:p>
        </p:txBody>
      </p:sp>
    </p:spTree>
    <p:extLst>
      <p:ext uri="{BB962C8B-B14F-4D97-AF65-F5344CB8AC3E}">
        <p14:creationId xmlns:p14="http://schemas.microsoft.com/office/powerpoint/2010/main" val="910210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a:t>INKA AI Labs är inte ett nystartat bolag. Vi bygger på 20 års digital erfarenhet från INKA Interactive, och det märks i hur vi jobbar. Vi är inte här för att sälja er det senaste AI-verktyget – vi är här för att hjälpa er bygga en varaktig AI-förmåga som skapar konkret affärsnytta.</a:t>
            </a:r>
          </a:p>
        </p:txBody>
      </p:sp>
      <p:sp>
        <p:nvSpPr>
          <p:cNvPr id="4" name="Platshållare för bildnummer 3"/>
          <p:cNvSpPr>
            <a:spLocks noGrp="1"/>
          </p:cNvSpPr>
          <p:nvPr>
            <p:ph type="sldNum" sz="quarter" idx="5"/>
          </p:nvPr>
        </p:nvSpPr>
        <p:spPr/>
        <p:txBody>
          <a:bodyPr/>
          <a:lstStyle/>
          <a:p>
            <a:fld id="{DAD88A84-708E-4D69-AE1A-E59098A24C20}" type="slidenum">
              <a:rPr lang="sv-SE" smtClean="0"/>
              <a:t>10</a:t>
            </a:fld>
            <a:endParaRPr lang="sv-SE"/>
          </a:p>
        </p:txBody>
      </p:sp>
    </p:spTree>
    <p:extLst>
      <p:ext uri="{BB962C8B-B14F-4D97-AF65-F5344CB8AC3E}">
        <p14:creationId xmlns:p14="http://schemas.microsoft.com/office/powerpoint/2010/main" val="10795859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a:t>Tack för er tid idag. Vi hoppas att ni känner er en bit längre på vägen mot att ta AI från testfas till verklig affärsnytta. Vi är redo att starta – frågan är om ni är det. Vilka frågor har ni?</a:t>
            </a:r>
          </a:p>
        </p:txBody>
      </p:sp>
      <p:sp>
        <p:nvSpPr>
          <p:cNvPr id="4" name="Platshållare för bildnummer 3"/>
          <p:cNvSpPr>
            <a:spLocks noGrp="1"/>
          </p:cNvSpPr>
          <p:nvPr>
            <p:ph type="sldNum" sz="quarter" idx="5"/>
          </p:nvPr>
        </p:nvSpPr>
        <p:spPr/>
        <p:txBody>
          <a:bodyPr/>
          <a:lstStyle/>
          <a:p>
            <a:fld id="{DAD88A84-708E-4D69-AE1A-E59098A24C20}" type="slidenum">
              <a:rPr lang="sv-SE" smtClean="0"/>
              <a:t>11</a:t>
            </a:fld>
            <a:endParaRPr lang="sv-SE"/>
          </a:p>
        </p:txBody>
      </p:sp>
    </p:spTree>
    <p:extLst>
      <p:ext uri="{BB962C8B-B14F-4D97-AF65-F5344CB8AC3E}">
        <p14:creationId xmlns:p14="http://schemas.microsoft.com/office/powerpoint/2010/main" val="3401161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12ED4D62-64B5-8761-0775-6D74E25224CF}"/>
              </a:ext>
            </a:extLst>
          </p:cNvPr>
          <p:cNvSpPr>
            <a:spLocks noGrp="1"/>
          </p:cNvSpPr>
          <p:nvPr>
            <p:ph type="ctrTitle"/>
          </p:nvPr>
        </p:nvSpPr>
        <p:spPr>
          <a:xfrm>
            <a:off x="1524000" y="1122363"/>
            <a:ext cx="9144000" cy="2387600"/>
          </a:xfrm>
        </p:spPr>
        <p:txBody>
          <a:bodyPr anchor="b"/>
          <a:lstStyle>
            <a:lvl1pPr algn="ctr">
              <a:defRPr sz="6000"/>
            </a:lvl1pPr>
          </a:lstStyle>
          <a:p>
            <a:r>
              <a:rPr lang="sv-SE"/>
              <a:t>Klicka här för att ändra mall för rubrikformat</a:t>
            </a:r>
          </a:p>
        </p:txBody>
      </p:sp>
      <p:sp>
        <p:nvSpPr>
          <p:cNvPr id="3" name="Underrubrik 2">
            <a:extLst>
              <a:ext uri="{FF2B5EF4-FFF2-40B4-BE49-F238E27FC236}">
                <a16:creationId xmlns:a16="http://schemas.microsoft.com/office/drawing/2014/main" id="{A1DA2D90-A64E-818A-09BD-A271F1F16E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sp>
        <p:nvSpPr>
          <p:cNvPr id="4" name="Platshållare för datum 3">
            <a:extLst>
              <a:ext uri="{FF2B5EF4-FFF2-40B4-BE49-F238E27FC236}">
                <a16:creationId xmlns:a16="http://schemas.microsoft.com/office/drawing/2014/main" id="{85CD960B-5E5E-0AEF-3B9A-D666545F9F75}"/>
              </a:ext>
            </a:extLst>
          </p:cNvPr>
          <p:cNvSpPr>
            <a:spLocks noGrp="1"/>
          </p:cNvSpPr>
          <p:nvPr>
            <p:ph type="dt" sz="half" idx="10"/>
          </p:nvPr>
        </p:nvSpPr>
        <p:spPr/>
        <p:txBody>
          <a:bodyPr/>
          <a:lstStyle/>
          <a:p>
            <a:fld id="{EE5E31FF-BAA4-43CA-B5DC-D404A6BA7BC6}" type="datetimeFigureOut">
              <a:rPr lang="sv-SE" smtClean="0"/>
              <a:t>2026-06-05</a:t>
            </a:fld>
            <a:endParaRPr lang="sv-SE"/>
          </a:p>
        </p:txBody>
      </p:sp>
      <p:sp>
        <p:nvSpPr>
          <p:cNvPr id="5" name="Platshållare för sidfot 4">
            <a:extLst>
              <a:ext uri="{FF2B5EF4-FFF2-40B4-BE49-F238E27FC236}">
                <a16:creationId xmlns:a16="http://schemas.microsoft.com/office/drawing/2014/main" id="{55293255-E4C6-0C34-1339-87628B6BDCB5}"/>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BCC8A928-DF3E-0E72-EDF2-C667FB7C5972}"/>
              </a:ext>
            </a:extLst>
          </p:cNvPr>
          <p:cNvSpPr>
            <a:spLocks noGrp="1"/>
          </p:cNvSpPr>
          <p:nvPr>
            <p:ph type="sldNum" sz="quarter" idx="12"/>
          </p:nvPr>
        </p:nvSpPr>
        <p:spPr/>
        <p:txBody>
          <a:bodyPr/>
          <a:lstStyle/>
          <a:p>
            <a:fld id="{359AF03A-CF88-47D7-B1A2-E5965F59126E}" type="slidenum">
              <a:rPr lang="sv-SE" smtClean="0"/>
              <a:t>‹#›</a:t>
            </a:fld>
            <a:endParaRPr lang="sv-SE"/>
          </a:p>
        </p:txBody>
      </p:sp>
    </p:spTree>
    <p:extLst>
      <p:ext uri="{BB962C8B-B14F-4D97-AF65-F5344CB8AC3E}">
        <p14:creationId xmlns:p14="http://schemas.microsoft.com/office/powerpoint/2010/main" val="2287287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F898C327-7BF0-9955-CD52-789071166035}"/>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4166C7F3-E36A-0F8D-62E1-E688149E7B7B}"/>
              </a:ext>
            </a:extLst>
          </p:cNvPr>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5BED502C-F5A5-C344-F9F3-5F79AA58972E}"/>
              </a:ext>
            </a:extLst>
          </p:cNvPr>
          <p:cNvSpPr>
            <a:spLocks noGrp="1"/>
          </p:cNvSpPr>
          <p:nvPr>
            <p:ph type="dt" sz="half" idx="10"/>
          </p:nvPr>
        </p:nvSpPr>
        <p:spPr/>
        <p:txBody>
          <a:bodyPr/>
          <a:lstStyle/>
          <a:p>
            <a:fld id="{EE5E31FF-BAA4-43CA-B5DC-D404A6BA7BC6}" type="datetimeFigureOut">
              <a:rPr lang="sv-SE" smtClean="0"/>
              <a:t>2026-06-05</a:t>
            </a:fld>
            <a:endParaRPr lang="sv-SE"/>
          </a:p>
        </p:txBody>
      </p:sp>
      <p:sp>
        <p:nvSpPr>
          <p:cNvPr id="5" name="Platshållare för sidfot 4">
            <a:extLst>
              <a:ext uri="{FF2B5EF4-FFF2-40B4-BE49-F238E27FC236}">
                <a16:creationId xmlns:a16="http://schemas.microsoft.com/office/drawing/2014/main" id="{AB13BD43-70C8-25D4-E4F8-BDEE4C73154B}"/>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5444DBA4-B405-BBF9-4464-6E8C2BD6618D}"/>
              </a:ext>
            </a:extLst>
          </p:cNvPr>
          <p:cNvSpPr>
            <a:spLocks noGrp="1"/>
          </p:cNvSpPr>
          <p:nvPr>
            <p:ph type="sldNum" sz="quarter" idx="12"/>
          </p:nvPr>
        </p:nvSpPr>
        <p:spPr/>
        <p:txBody>
          <a:bodyPr/>
          <a:lstStyle/>
          <a:p>
            <a:fld id="{359AF03A-CF88-47D7-B1A2-E5965F59126E}" type="slidenum">
              <a:rPr lang="sv-SE" smtClean="0"/>
              <a:t>‹#›</a:t>
            </a:fld>
            <a:endParaRPr lang="sv-SE"/>
          </a:p>
        </p:txBody>
      </p:sp>
    </p:spTree>
    <p:extLst>
      <p:ext uri="{BB962C8B-B14F-4D97-AF65-F5344CB8AC3E}">
        <p14:creationId xmlns:p14="http://schemas.microsoft.com/office/powerpoint/2010/main" val="2845482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802004-B17C-CE54-F07E-45D3BF53EAF3}"/>
              </a:ext>
            </a:extLst>
          </p:cNvPr>
          <p:cNvSpPr>
            <a:spLocks noGrp="1"/>
          </p:cNvSpPr>
          <p:nvPr>
            <p:ph type="title"/>
          </p:nvPr>
        </p:nvSpPr>
        <p:spPr>
          <a:xfrm>
            <a:off x="831850" y="1709738"/>
            <a:ext cx="10515600" cy="2852737"/>
          </a:xfrm>
        </p:spPr>
        <p:txBody>
          <a:bodyPr anchor="b"/>
          <a:lstStyle>
            <a:lvl1pPr>
              <a:defRPr sz="6000"/>
            </a:lvl1pPr>
          </a:lstStyle>
          <a:p>
            <a:r>
              <a:rPr lang="sv-SE"/>
              <a:t>Klicka här för att ändra mall för rubrikformat</a:t>
            </a:r>
          </a:p>
        </p:txBody>
      </p:sp>
      <p:sp>
        <p:nvSpPr>
          <p:cNvPr id="3" name="Platshållare för text 2">
            <a:extLst>
              <a:ext uri="{FF2B5EF4-FFF2-40B4-BE49-F238E27FC236}">
                <a16:creationId xmlns:a16="http://schemas.microsoft.com/office/drawing/2014/main" id="{D5E6FFF3-27B8-1DA3-145E-1EFA564BEA2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sv-SE"/>
              <a:t>Klicka här för att ändra format på bakgrundstexten</a:t>
            </a:r>
          </a:p>
        </p:txBody>
      </p:sp>
      <p:sp>
        <p:nvSpPr>
          <p:cNvPr id="4" name="Platshållare för datum 3">
            <a:extLst>
              <a:ext uri="{FF2B5EF4-FFF2-40B4-BE49-F238E27FC236}">
                <a16:creationId xmlns:a16="http://schemas.microsoft.com/office/drawing/2014/main" id="{3F13B6A8-AE94-8DFE-F78D-B3436F11C45D}"/>
              </a:ext>
            </a:extLst>
          </p:cNvPr>
          <p:cNvSpPr>
            <a:spLocks noGrp="1"/>
          </p:cNvSpPr>
          <p:nvPr>
            <p:ph type="dt" sz="half" idx="10"/>
          </p:nvPr>
        </p:nvSpPr>
        <p:spPr/>
        <p:txBody>
          <a:bodyPr/>
          <a:lstStyle/>
          <a:p>
            <a:fld id="{EE5E31FF-BAA4-43CA-B5DC-D404A6BA7BC6}" type="datetimeFigureOut">
              <a:rPr lang="sv-SE" smtClean="0"/>
              <a:t>2026-06-05</a:t>
            </a:fld>
            <a:endParaRPr lang="sv-SE"/>
          </a:p>
        </p:txBody>
      </p:sp>
      <p:sp>
        <p:nvSpPr>
          <p:cNvPr id="5" name="Platshållare för sidfot 4">
            <a:extLst>
              <a:ext uri="{FF2B5EF4-FFF2-40B4-BE49-F238E27FC236}">
                <a16:creationId xmlns:a16="http://schemas.microsoft.com/office/drawing/2014/main" id="{313AAFEA-40D9-760E-1526-748F2A836BE7}"/>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CF150ED2-E0C2-17D0-0965-0F95C2A20025}"/>
              </a:ext>
            </a:extLst>
          </p:cNvPr>
          <p:cNvSpPr>
            <a:spLocks noGrp="1"/>
          </p:cNvSpPr>
          <p:nvPr>
            <p:ph type="sldNum" sz="quarter" idx="12"/>
          </p:nvPr>
        </p:nvSpPr>
        <p:spPr/>
        <p:txBody>
          <a:bodyPr/>
          <a:lstStyle/>
          <a:p>
            <a:fld id="{359AF03A-CF88-47D7-B1A2-E5965F59126E}" type="slidenum">
              <a:rPr lang="sv-SE" smtClean="0"/>
              <a:t>‹#›</a:t>
            </a:fld>
            <a:endParaRPr lang="sv-SE"/>
          </a:p>
        </p:txBody>
      </p:sp>
    </p:spTree>
    <p:extLst>
      <p:ext uri="{BB962C8B-B14F-4D97-AF65-F5344CB8AC3E}">
        <p14:creationId xmlns:p14="http://schemas.microsoft.com/office/powerpoint/2010/main" val="3111438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delar">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6B615FB-5C30-8257-95FB-D5BA520CEE90}"/>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7039B51A-ABE3-155C-D99F-6944E7F2018B}"/>
              </a:ext>
            </a:extLst>
          </p:cNvPr>
          <p:cNvSpPr>
            <a:spLocks noGrp="1"/>
          </p:cNvSpPr>
          <p:nvPr>
            <p:ph sz="half" idx="1"/>
          </p:nvPr>
        </p:nvSpPr>
        <p:spPr>
          <a:xfrm>
            <a:off x="838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innehåll 3">
            <a:extLst>
              <a:ext uri="{FF2B5EF4-FFF2-40B4-BE49-F238E27FC236}">
                <a16:creationId xmlns:a16="http://schemas.microsoft.com/office/drawing/2014/main" id="{C39A3138-A854-1275-C79C-BCBF4E9D4F97}"/>
              </a:ext>
            </a:extLst>
          </p:cNvPr>
          <p:cNvSpPr>
            <a:spLocks noGrp="1"/>
          </p:cNvSpPr>
          <p:nvPr>
            <p:ph sz="half" idx="2"/>
          </p:nvPr>
        </p:nvSpPr>
        <p:spPr>
          <a:xfrm>
            <a:off x="6172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a:extLst>
              <a:ext uri="{FF2B5EF4-FFF2-40B4-BE49-F238E27FC236}">
                <a16:creationId xmlns:a16="http://schemas.microsoft.com/office/drawing/2014/main" id="{45DC484B-E4F6-BF08-80DB-FC46775FBE19}"/>
              </a:ext>
            </a:extLst>
          </p:cNvPr>
          <p:cNvSpPr>
            <a:spLocks noGrp="1"/>
          </p:cNvSpPr>
          <p:nvPr>
            <p:ph type="dt" sz="half" idx="10"/>
          </p:nvPr>
        </p:nvSpPr>
        <p:spPr/>
        <p:txBody>
          <a:bodyPr/>
          <a:lstStyle/>
          <a:p>
            <a:fld id="{EE5E31FF-BAA4-43CA-B5DC-D404A6BA7BC6}" type="datetimeFigureOut">
              <a:rPr lang="sv-SE" smtClean="0"/>
              <a:t>2026-06-05</a:t>
            </a:fld>
            <a:endParaRPr lang="sv-SE"/>
          </a:p>
        </p:txBody>
      </p:sp>
      <p:sp>
        <p:nvSpPr>
          <p:cNvPr id="6" name="Platshållare för sidfot 5">
            <a:extLst>
              <a:ext uri="{FF2B5EF4-FFF2-40B4-BE49-F238E27FC236}">
                <a16:creationId xmlns:a16="http://schemas.microsoft.com/office/drawing/2014/main" id="{369E2563-F076-E027-5201-039DDDD26DFA}"/>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133B7212-A8C8-E30D-8808-4C0F31EFF780}"/>
              </a:ext>
            </a:extLst>
          </p:cNvPr>
          <p:cNvSpPr>
            <a:spLocks noGrp="1"/>
          </p:cNvSpPr>
          <p:nvPr>
            <p:ph type="sldNum" sz="quarter" idx="12"/>
          </p:nvPr>
        </p:nvSpPr>
        <p:spPr/>
        <p:txBody>
          <a:bodyPr/>
          <a:lstStyle/>
          <a:p>
            <a:fld id="{359AF03A-CF88-47D7-B1A2-E5965F59126E}" type="slidenum">
              <a:rPr lang="sv-SE" smtClean="0"/>
              <a:t>‹#›</a:t>
            </a:fld>
            <a:endParaRPr lang="sv-SE"/>
          </a:p>
        </p:txBody>
      </p:sp>
    </p:spTree>
    <p:extLst>
      <p:ext uri="{BB962C8B-B14F-4D97-AF65-F5344CB8AC3E}">
        <p14:creationId xmlns:p14="http://schemas.microsoft.com/office/powerpoint/2010/main" val="231720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2D82A4ED-095D-C46D-7174-8EB912CD909F}"/>
              </a:ext>
            </a:extLst>
          </p:cNvPr>
          <p:cNvSpPr>
            <a:spLocks noGrp="1"/>
          </p:cNvSpPr>
          <p:nvPr>
            <p:ph type="title"/>
          </p:nvPr>
        </p:nvSpPr>
        <p:spPr>
          <a:xfrm>
            <a:off x="839788" y="365125"/>
            <a:ext cx="10515600" cy="1325563"/>
          </a:xfrm>
        </p:spPr>
        <p:txBody>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38C02EE6-696C-E5A9-DE87-22A37B694F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a:extLst>
              <a:ext uri="{FF2B5EF4-FFF2-40B4-BE49-F238E27FC236}">
                <a16:creationId xmlns:a16="http://schemas.microsoft.com/office/drawing/2014/main" id="{0A6DCAA1-3479-8A43-1A08-A76456948CFF}"/>
              </a:ext>
            </a:extLst>
          </p:cNvPr>
          <p:cNvSpPr>
            <a:spLocks noGrp="1"/>
          </p:cNvSpPr>
          <p:nvPr>
            <p:ph sz="half" idx="2"/>
          </p:nvPr>
        </p:nvSpPr>
        <p:spPr>
          <a:xfrm>
            <a:off x="839788" y="2505075"/>
            <a:ext cx="5157787"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text 4">
            <a:extLst>
              <a:ext uri="{FF2B5EF4-FFF2-40B4-BE49-F238E27FC236}">
                <a16:creationId xmlns:a16="http://schemas.microsoft.com/office/drawing/2014/main" id="{AE956DA2-3A8E-2096-4426-ED8C9AAD8E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a:extLst>
              <a:ext uri="{FF2B5EF4-FFF2-40B4-BE49-F238E27FC236}">
                <a16:creationId xmlns:a16="http://schemas.microsoft.com/office/drawing/2014/main" id="{43F2060F-5F18-25A8-F528-980F835372FE}"/>
              </a:ext>
            </a:extLst>
          </p:cNvPr>
          <p:cNvSpPr>
            <a:spLocks noGrp="1"/>
          </p:cNvSpPr>
          <p:nvPr>
            <p:ph sz="quarter" idx="4"/>
          </p:nvPr>
        </p:nvSpPr>
        <p:spPr>
          <a:xfrm>
            <a:off x="6172200" y="2505075"/>
            <a:ext cx="5183188"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Platshållare för datum 6">
            <a:extLst>
              <a:ext uri="{FF2B5EF4-FFF2-40B4-BE49-F238E27FC236}">
                <a16:creationId xmlns:a16="http://schemas.microsoft.com/office/drawing/2014/main" id="{65A85687-2FDE-583D-1EF5-666499E58FA0}"/>
              </a:ext>
            </a:extLst>
          </p:cNvPr>
          <p:cNvSpPr>
            <a:spLocks noGrp="1"/>
          </p:cNvSpPr>
          <p:nvPr>
            <p:ph type="dt" sz="half" idx="10"/>
          </p:nvPr>
        </p:nvSpPr>
        <p:spPr/>
        <p:txBody>
          <a:bodyPr/>
          <a:lstStyle/>
          <a:p>
            <a:fld id="{EE5E31FF-BAA4-43CA-B5DC-D404A6BA7BC6}" type="datetimeFigureOut">
              <a:rPr lang="sv-SE" smtClean="0"/>
              <a:t>2026-06-05</a:t>
            </a:fld>
            <a:endParaRPr lang="sv-SE"/>
          </a:p>
        </p:txBody>
      </p:sp>
      <p:sp>
        <p:nvSpPr>
          <p:cNvPr id="8" name="Platshållare för sidfot 7">
            <a:extLst>
              <a:ext uri="{FF2B5EF4-FFF2-40B4-BE49-F238E27FC236}">
                <a16:creationId xmlns:a16="http://schemas.microsoft.com/office/drawing/2014/main" id="{41AC3E5E-A171-3014-0066-76B3A0F57D96}"/>
              </a:ext>
            </a:extLst>
          </p:cNvPr>
          <p:cNvSpPr>
            <a:spLocks noGrp="1"/>
          </p:cNvSpPr>
          <p:nvPr>
            <p:ph type="ftr" sz="quarter" idx="11"/>
          </p:nvPr>
        </p:nvSpPr>
        <p:spPr/>
        <p:txBody>
          <a:bodyPr/>
          <a:lstStyle/>
          <a:p>
            <a:endParaRPr lang="sv-SE"/>
          </a:p>
        </p:txBody>
      </p:sp>
      <p:sp>
        <p:nvSpPr>
          <p:cNvPr id="9" name="Platshållare för bildnummer 8">
            <a:extLst>
              <a:ext uri="{FF2B5EF4-FFF2-40B4-BE49-F238E27FC236}">
                <a16:creationId xmlns:a16="http://schemas.microsoft.com/office/drawing/2014/main" id="{6DCE837B-020F-4A8E-83BC-8427502D5830}"/>
              </a:ext>
            </a:extLst>
          </p:cNvPr>
          <p:cNvSpPr>
            <a:spLocks noGrp="1"/>
          </p:cNvSpPr>
          <p:nvPr>
            <p:ph type="sldNum" sz="quarter" idx="12"/>
          </p:nvPr>
        </p:nvSpPr>
        <p:spPr/>
        <p:txBody>
          <a:bodyPr/>
          <a:lstStyle/>
          <a:p>
            <a:fld id="{359AF03A-CF88-47D7-B1A2-E5965F59126E}" type="slidenum">
              <a:rPr lang="sv-SE" smtClean="0"/>
              <a:t>‹#›</a:t>
            </a:fld>
            <a:endParaRPr lang="sv-SE"/>
          </a:p>
        </p:txBody>
      </p:sp>
    </p:spTree>
    <p:extLst>
      <p:ext uri="{BB962C8B-B14F-4D97-AF65-F5344CB8AC3E}">
        <p14:creationId xmlns:p14="http://schemas.microsoft.com/office/powerpoint/2010/main" val="145269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C932D98-5954-85F9-484B-FDB6ADE79918}"/>
              </a:ext>
            </a:extLst>
          </p:cNvPr>
          <p:cNvSpPr>
            <a:spLocks noGrp="1"/>
          </p:cNvSpPr>
          <p:nvPr>
            <p:ph type="title"/>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68B90A7F-9690-A50B-9B4E-BC8E26FC2F83}"/>
              </a:ext>
            </a:extLst>
          </p:cNvPr>
          <p:cNvSpPr>
            <a:spLocks noGrp="1"/>
          </p:cNvSpPr>
          <p:nvPr>
            <p:ph type="dt" sz="half" idx="10"/>
          </p:nvPr>
        </p:nvSpPr>
        <p:spPr/>
        <p:txBody>
          <a:bodyPr/>
          <a:lstStyle/>
          <a:p>
            <a:fld id="{EE5E31FF-BAA4-43CA-B5DC-D404A6BA7BC6}" type="datetimeFigureOut">
              <a:rPr lang="sv-SE" smtClean="0"/>
              <a:t>2026-06-05</a:t>
            </a:fld>
            <a:endParaRPr lang="sv-SE"/>
          </a:p>
        </p:txBody>
      </p:sp>
      <p:sp>
        <p:nvSpPr>
          <p:cNvPr id="4" name="Platshållare för sidfot 3">
            <a:extLst>
              <a:ext uri="{FF2B5EF4-FFF2-40B4-BE49-F238E27FC236}">
                <a16:creationId xmlns:a16="http://schemas.microsoft.com/office/drawing/2014/main" id="{38085453-1E36-728D-FB09-E9DA51200F60}"/>
              </a:ext>
            </a:extLst>
          </p:cNvPr>
          <p:cNvSpPr>
            <a:spLocks noGrp="1"/>
          </p:cNvSpPr>
          <p:nvPr>
            <p:ph type="ftr" sz="quarter" idx="11"/>
          </p:nvPr>
        </p:nvSpPr>
        <p:spPr/>
        <p:txBody>
          <a:bodyPr/>
          <a:lstStyle/>
          <a:p>
            <a:endParaRPr lang="sv-SE"/>
          </a:p>
        </p:txBody>
      </p:sp>
      <p:sp>
        <p:nvSpPr>
          <p:cNvPr id="5" name="Platshållare för bildnummer 4">
            <a:extLst>
              <a:ext uri="{FF2B5EF4-FFF2-40B4-BE49-F238E27FC236}">
                <a16:creationId xmlns:a16="http://schemas.microsoft.com/office/drawing/2014/main" id="{321A32B3-3DDF-3413-BE33-33B706376F70}"/>
              </a:ext>
            </a:extLst>
          </p:cNvPr>
          <p:cNvSpPr>
            <a:spLocks noGrp="1"/>
          </p:cNvSpPr>
          <p:nvPr>
            <p:ph type="sldNum" sz="quarter" idx="12"/>
          </p:nvPr>
        </p:nvSpPr>
        <p:spPr/>
        <p:txBody>
          <a:bodyPr/>
          <a:lstStyle/>
          <a:p>
            <a:fld id="{359AF03A-CF88-47D7-B1A2-E5965F59126E}" type="slidenum">
              <a:rPr lang="sv-SE" smtClean="0"/>
              <a:t>‹#›</a:t>
            </a:fld>
            <a:endParaRPr lang="sv-SE"/>
          </a:p>
        </p:txBody>
      </p:sp>
    </p:spTree>
    <p:extLst>
      <p:ext uri="{BB962C8B-B14F-4D97-AF65-F5344CB8AC3E}">
        <p14:creationId xmlns:p14="http://schemas.microsoft.com/office/powerpoint/2010/main" val="1025064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191E3DEC-231F-3841-29E0-7AD2E76CE3AF}"/>
              </a:ext>
            </a:extLst>
          </p:cNvPr>
          <p:cNvSpPr>
            <a:spLocks noGrp="1"/>
          </p:cNvSpPr>
          <p:nvPr>
            <p:ph type="dt" sz="half" idx="10"/>
          </p:nvPr>
        </p:nvSpPr>
        <p:spPr/>
        <p:txBody>
          <a:bodyPr/>
          <a:lstStyle/>
          <a:p>
            <a:fld id="{EE5E31FF-BAA4-43CA-B5DC-D404A6BA7BC6}" type="datetimeFigureOut">
              <a:rPr lang="sv-SE" smtClean="0"/>
              <a:t>2026-06-05</a:t>
            </a:fld>
            <a:endParaRPr lang="sv-SE"/>
          </a:p>
        </p:txBody>
      </p:sp>
      <p:sp>
        <p:nvSpPr>
          <p:cNvPr id="3" name="Platshållare för sidfot 2">
            <a:extLst>
              <a:ext uri="{FF2B5EF4-FFF2-40B4-BE49-F238E27FC236}">
                <a16:creationId xmlns:a16="http://schemas.microsoft.com/office/drawing/2014/main" id="{2149C7FA-4C0E-9948-B875-F7F3929F0D97}"/>
              </a:ext>
            </a:extLst>
          </p:cNvPr>
          <p:cNvSpPr>
            <a:spLocks noGrp="1"/>
          </p:cNvSpPr>
          <p:nvPr>
            <p:ph type="ftr" sz="quarter" idx="11"/>
          </p:nvPr>
        </p:nvSpPr>
        <p:spPr/>
        <p:txBody>
          <a:bodyPr/>
          <a:lstStyle/>
          <a:p>
            <a:endParaRPr lang="sv-SE"/>
          </a:p>
        </p:txBody>
      </p:sp>
      <p:sp>
        <p:nvSpPr>
          <p:cNvPr id="4" name="Platshållare för bildnummer 3">
            <a:extLst>
              <a:ext uri="{FF2B5EF4-FFF2-40B4-BE49-F238E27FC236}">
                <a16:creationId xmlns:a16="http://schemas.microsoft.com/office/drawing/2014/main" id="{D0E8969C-331B-D1A1-C850-A8044F889379}"/>
              </a:ext>
            </a:extLst>
          </p:cNvPr>
          <p:cNvSpPr>
            <a:spLocks noGrp="1"/>
          </p:cNvSpPr>
          <p:nvPr>
            <p:ph type="sldNum" sz="quarter" idx="12"/>
          </p:nvPr>
        </p:nvSpPr>
        <p:spPr/>
        <p:txBody>
          <a:bodyPr/>
          <a:lstStyle/>
          <a:p>
            <a:fld id="{359AF03A-CF88-47D7-B1A2-E5965F59126E}" type="slidenum">
              <a:rPr lang="sv-SE" smtClean="0"/>
              <a:t>‹#›</a:t>
            </a:fld>
            <a:endParaRPr lang="sv-SE"/>
          </a:p>
        </p:txBody>
      </p:sp>
    </p:spTree>
    <p:extLst>
      <p:ext uri="{BB962C8B-B14F-4D97-AF65-F5344CB8AC3E}">
        <p14:creationId xmlns:p14="http://schemas.microsoft.com/office/powerpoint/2010/main" val="2720444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ext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A3D3DFFE-3FF9-19B4-A32F-B179A24BF2D9}"/>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1A903D27-E7C8-71A9-65CA-4854F18A21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text 3">
            <a:extLst>
              <a:ext uri="{FF2B5EF4-FFF2-40B4-BE49-F238E27FC236}">
                <a16:creationId xmlns:a16="http://schemas.microsoft.com/office/drawing/2014/main" id="{7A9C8146-2F42-100C-6E89-08FF3360E6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0BF089BA-E3A7-8863-084B-B7728A370A1F}"/>
              </a:ext>
            </a:extLst>
          </p:cNvPr>
          <p:cNvSpPr>
            <a:spLocks noGrp="1"/>
          </p:cNvSpPr>
          <p:nvPr>
            <p:ph type="dt" sz="half" idx="10"/>
          </p:nvPr>
        </p:nvSpPr>
        <p:spPr/>
        <p:txBody>
          <a:bodyPr/>
          <a:lstStyle/>
          <a:p>
            <a:fld id="{EE5E31FF-BAA4-43CA-B5DC-D404A6BA7BC6}" type="datetimeFigureOut">
              <a:rPr lang="sv-SE" smtClean="0"/>
              <a:t>2026-06-05</a:t>
            </a:fld>
            <a:endParaRPr lang="sv-SE"/>
          </a:p>
        </p:txBody>
      </p:sp>
      <p:sp>
        <p:nvSpPr>
          <p:cNvPr id="6" name="Platshållare för sidfot 5">
            <a:extLst>
              <a:ext uri="{FF2B5EF4-FFF2-40B4-BE49-F238E27FC236}">
                <a16:creationId xmlns:a16="http://schemas.microsoft.com/office/drawing/2014/main" id="{3040AE3D-9FFB-E366-CFAF-6BECC550003A}"/>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C2C35E6C-F1EB-4F92-30A2-FBECED83B2BE}"/>
              </a:ext>
            </a:extLst>
          </p:cNvPr>
          <p:cNvSpPr>
            <a:spLocks noGrp="1"/>
          </p:cNvSpPr>
          <p:nvPr>
            <p:ph type="sldNum" sz="quarter" idx="12"/>
          </p:nvPr>
        </p:nvSpPr>
        <p:spPr/>
        <p:txBody>
          <a:bodyPr/>
          <a:lstStyle/>
          <a:p>
            <a:fld id="{359AF03A-CF88-47D7-B1A2-E5965F59126E}" type="slidenum">
              <a:rPr lang="sv-SE" smtClean="0"/>
              <a:t>‹#›</a:t>
            </a:fld>
            <a:endParaRPr lang="sv-SE"/>
          </a:p>
        </p:txBody>
      </p:sp>
    </p:spTree>
    <p:extLst>
      <p:ext uri="{BB962C8B-B14F-4D97-AF65-F5344CB8AC3E}">
        <p14:creationId xmlns:p14="http://schemas.microsoft.com/office/powerpoint/2010/main" val="323311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1068708-FD15-9AF7-11F3-1441C9B82732}"/>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p>
        </p:txBody>
      </p:sp>
      <p:sp>
        <p:nvSpPr>
          <p:cNvPr id="3" name="Platshållare för bild 2">
            <a:extLst>
              <a:ext uri="{FF2B5EF4-FFF2-40B4-BE49-F238E27FC236}">
                <a16:creationId xmlns:a16="http://schemas.microsoft.com/office/drawing/2014/main" id="{96B35C40-31EF-A342-9E13-1FDD471BEC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a:extLst>
              <a:ext uri="{FF2B5EF4-FFF2-40B4-BE49-F238E27FC236}">
                <a16:creationId xmlns:a16="http://schemas.microsoft.com/office/drawing/2014/main" id="{83BF2610-DCDB-24ED-2852-D7DD8D24B9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82C95CA2-8B57-1F5E-E8CF-4FC3AAA46963}"/>
              </a:ext>
            </a:extLst>
          </p:cNvPr>
          <p:cNvSpPr>
            <a:spLocks noGrp="1"/>
          </p:cNvSpPr>
          <p:nvPr>
            <p:ph type="dt" sz="half" idx="10"/>
          </p:nvPr>
        </p:nvSpPr>
        <p:spPr/>
        <p:txBody>
          <a:bodyPr/>
          <a:lstStyle/>
          <a:p>
            <a:fld id="{EE5E31FF-BAA4-43CA-B5DC-D404A6BA7BC6}" type="datetimeFigureOut">
              <a:rPr lang="sv-SE" smtClean="0"/>
              <a:t>2026-06-05</a:t>
            </a:fld>
            <a:endParaRPr lang="sv-SE"/>
          </a:p>
        </p:txBody>
      </p:sp>
      <p:sp>
        <p:nvSpPr>
          <p:cNvPr id="6" name="Platshållare för sidfot 5">
            <a:extLst>
              <a:ext uri="{FF2B5EF4-FFF2-40B4-BE49-F238E27FC236}">
                <a16:creationId xmlns:a16="http://schemas.microsoft.com/office/drawing/2014/main" id="{611E257D-9A5C-CA45-ACB2-AF30A2FD25B8}"/>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6259B261-3E60-DD80-BCD5-3FB4FC020D9A}"/>
              </a:ext>
            </a:extLst>
          </p:cNvPr>
          <p:cNvSpPr>
            <a:spLocks noGrp="1"/>
          </p:cNvSpPr>
          <p:nvPr>
            <p:ph type="sldNum" sz="quarter" idx="12"/>
          </p:nvPr>
        </p:nvSpPr>
        <p:spPr/>
        <p:txBody>
          <a:bodyPr/>
          <a:lstStyle/>
          <a:p>
            <a:fld id="{359AF03A-CF88-47D7-B1A2-E5965F59126E}" type="slidenum">
              <a:rPr lang="sv-SE" smtClean="0"/>
              <a:t>‹#›</a:t>
            </a:fld>
            <a:endParaRPr lang="sv-SE"/>
          </a:p>
        </p:txBody>
      </p:sp>
    </p:spTree>
    <p:extLst>
      <p:ext uri="{BB962C8B-B14F-4D97-AF65-F5344CB8AC3E}">
        <p14:creationId xmlns:p14="http://schemas.microsoft.com/office/powerpoint/2010/main" val="378882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BA9B779-0E53-DB06-F8DA-AB06C83C6D7F}"/>
              </a:ext>
            </a:extLst>
          </p:cNvPr>
          <p:cNvSpPr>
            <a:spLocks noGrp="1"/>
          </p:cNvSpPr>
          <p:nvPr>
            <p:ph type="title"/>
          </p:nvPr>
        </p:nvSpPr>
        <p:spPr/>
        <p:txBody>
          <a:bodyPr/>
          <a:lstStyle/>
          <a:p>
            <a:r>
              <a:rPr lang="sv-SE"/>
              <a:t>Klicka här för att ändra mall för rubrikformat</a:t>
            </a:r>
          </a:p>
        </p:txBody>
      </p:sp>
      <p:sp>
        <p:nvSpPr>
          <p:cNvPr id="3" name="Platshållare för lodrät text 2">
            <a:extLst>
              <a:ext uri="{FF2B5EF4-FFF2-40B4-BE49-F238E27FC236}">
                <a16:creationId xmlns:a16="http://schemas.microsoft.com/office/drawing/2014/main" id="{B4F5C173-5612-E517-13D6-CC100449F4C4}"/>
              </a:ext>
            </a:extLst>
          </p:cNvPr>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526C0CB8-B164-3A63-AEFA-A77334FC9C50}"/>
              </a:ext>
            </a:extLst>
          </p:cNvPr>
          <p:cNvSpPr>
            <a:spLocks noGrp="1"/>
          </p:cNvSpPr>
          <p:nvPr>
            <p:ph type="dt" sz="half" idx="10"/>
          </p:nvPr>
        </p:nvSpPr>
        <p:spPr/>
        <p:txBody>
          <a:bodyPr/>
          <a:lstStyle/>
          <a:p>
            <a:fld id="{EE5E31FF-BAA4-43CA-B5DC-D404A6BA7BC6}" type="datetimeFigureOut">
              <a:rPr lang="sv-SE" smtClean="0"/>
              <a:t>2026-06-05</a:t>
            </a:fld>
            <a:endParaRPr lang="sv-SE"/>
          </a:p>
        </p:txBody>
      </p:sp>
      <p:sp>
        <p:nvSpPr>
          <p:cNvPr id="5" name="Platshållare för sidfot 4">
            <a:extLst>
              <a:ext uri="{FF2B5EF4-FFF2-40B4-BE49-F238E27FC236}">
                <a16:creationId xmlns:a16="http://schemas.microsoft.com/office/drawing/2014/main" id="{5F283D90-AC65-A905-DE96-67D7C2966240}"/>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26B233BE-F818-333B-285B-19CF41B382F6}"/>
              </a:ext>
            </a:extLst>
          </p:cNvPr>
          <p:cNvSpPr>
            <a:spLocks noGrp="1"/>
          </p:cNvSpPr>
          <p:nvPr>
            <p:ph type="sldNum" sz="quarter" idx="12"/>
          </p:nvPr>
        </p:nvSpPr>
        <p:spPr/>
        <p:txBody>
          <a:bodyPr/>
          <a:lstStyle/>
          <a:p>
            <a:fld id="{359AF03A-CF88-47D7-B1A2-E5965F59126E}" type="slidenum">
              <a:rPr lang="sv-SE" smtClean="0"/>
              <a:t>‹#›</a:t>
            </a:fld>
            <a:endParaRPr lang="sv-SE"/>
          </a:p>
        </p:txBody>
      </p:sp>
    </p:spTree>
    <p:extLst>
      <p:ext uri="{BB962C8B-B14F-4D97-AF65-F5344CB8AC3E}">
        <p14:creationId xmlns:p14="http://schemas.microsoft.com/office/powerpoint/2010/main" val="3297805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a:extLst>
              <a:ext uri="{FF2B5EF4-FFF2-40B4-BE49-F238E27FC236}">
                <a16:creationId xmlns:a16="http://schemas.microsoft.com/office/drawing/2014/main" id="{60EA8802-150D-20DF-637C-DC0DABCC7B1F}"/>
              </a:ext>
            </a:extLst>
          </p:cNvPr>
          <p:cNvSpPr>
            <a:spLocks noGrp="1"/>
          </p:cNvSpPr>
          <p:nvPr>
            <p:ph type="title" orient="vert"/>
          </p:nvPr>
        </p:nvSpPr>
        <p:spPr>
          <a:xfrm>
            <a:off x="8724900" y="365125"/>
            <a:ext cx="2628900" cy="5811838"/>
          </a:xfrm>
        </p:spPr>
        <p:txBody>
          <a:bodyPr vert="eaVert"/>
          <a:lstStyle/>
          <a:p>
            <a:r>
              <a:rPr lang="sv-SE"/>
              <a:t>Klicka här för att ändra mall för rubrikformat</a:t>
            </a:r>
          </a:p>
        </p:txBody>
      </p:sp>
      <p:sp>
        <p:nvSpPr>
          <p:cNvPr id="3" name="Platshållare för lodrät text 2">
            <a:extLst>
              <a:ext uri="{FF2B5EF4-FFF2-40B4-BE49-F238E27FC236}">
                <a16:creationId xmlns:a16="http://schemas.microsoft.com/office/drawing/2014/main" id="{2BF7BC64-6821-07C5-748E-FAA29882C5E2}"/>
              </a:ext>
            </a:extLst>
          </p:cNvPr>
          <p:cNvSpPr>
            <a:spLocks noGrp="1"/>
          </p:cNvSpPr>
          <p:nvPr>
            <p:ph type="body" orient="vert" idx="1"/>
          </p:nvPr>
        </p:nvSpPr>
        <p:spPr>
          <a:xfrm>
            <a:off x="838200" y="365125"/>
            <a:ext cx="7734300" cy="5811838"/>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0BCE2319-3834-A2FA-992A-043D354E9AD0}"/>
              </a:ext>
            </a:extLst>
          </p:cNvPr>
          <p:cNvSpPr>
            <a:spLocks noGrp="1"/>
          </p:cNvSpPr>
          <p:nvPr>
            <p:ph type="dt" sz="half" idx="10"/>
          </p:nvPr>
        </p:nvSpPr>
        <p:spPr/>
        <p:txBody>
          <a:bodyPr/>
          <a:lstStyle/>
          <a:p>
            <a:fld id="{EE5E31FF-BAA4-43CA-B5DC-D404A6BA7BC6}" type="datetimeFigureOut">
              <a:rPr lang="sv-SE" smtClean="0"/>
              <a:t>2026-06-05</a:t>
            </a:fld>
            <a:endParaRPr lang="sv-SE"/>
          </a:p>
        </p:txBody>
      </p:sp>
      <p:sp>
        <p:nvSpPr>
          <p:cNvPr id="5" name="Platshållare för sidfot 4">
            <a:extLst>
              <a:ext uri="{FF2B5EF4-FFF2-40B4-BE49-F238E27FC236}">
                <a16:creationId xmlns:a16="http://schemas.microsoft.com/office/drawing/2014/main" id="{ABD5D73F-5461-D31C-3A3E-873CE58B4E48}"/>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C9AFD438-43CE-4EF1-BC89-B2383DE0550B}"/>
              </a:ext>
            </a:extLst>
          </p:cNvPr>
          <p:cNvSpPr>
            <a:spLocks noGrp="1"/>
          </p:cNvSpPr>
          <p:nvPr>
            <p:ph type="sldNum" sz="quarter" idx="12"/>
          </p:nvPr>
        </p:nvSpPr>
        <p:spPr/>
        <p:txBody>
          <a:bodyPr/>
          <a:lstStyle/>
          <a:p>
            <a:fld id="{359AF03A-CF88-47D7-B1A2-E5965F59126E}" type="slidenum">
              <a:rPr lang="sv-SE" smtClean="0"/>
              <a:t>‹#›</a:t>
            </a:fld>
            <a:endParaRPr lang="sv-SE"/>
          </a:p>
        </p:txBody>
      </p:sp>
    </p:spTree>
    <p:extLst>
      <p:ext uri="{BB962C8B-B14F-4D97-AF65-F5344CB8AC3E}">
        <p14:creationId xmlns:p14="http://schemas.microsoft.com/office/powerpoint/2010/main" val="1085248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08008D94-B3FB-B8DC-BD9F-6590716F91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3435B85E-5F4F-AB48-058D-ED8901DC46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1A202732-50BC-0031-7C68-3B6DD675FF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5E31FF-BAA4-43CA-B5DC-D404A6BA7BC6}" type="datetimeFigureOut">
              <a:rPr lang="sv-SE" smtClean="0"/>
              <a:t>2026-06-05</a:t>
            </a:fld>
            <a:endParaRPr lang="sv-SE"/>
          </a:p>
        </p:txBody>
      </p:sp>
      <p:sp>
        <p:nvSpPr>
          <p:cNvPr id="5" name="Platshållare för sidfot 4">
            <a:extLst>
              <a:ext uri="{FF2B5EF4-FFF2-40B4-BE49-F238E27FC236}">
                <a16:creationId xmlns:a16="http://schemas.microsoft.com/office/drawing/2014/main" id="{0BFC61D1-ADFA-FA7A-4C82-C707C44A54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sv-SE"/>
          </a:p>
        </p:txBody>
      </p:sp>
      <p:sp>
        <p:nvSpPr>
          <p:cNvPr id="6" name="Platshållare för bildnummer 5">
            <a:extLst>
              <a:ext uri="{FF2B5EF4-FFF2-40B4-BE49-F238E27FC236}">
                <a16:creationId xmlns:a16="http://schemas.microsoft.com/office/drawing/2014/main" id="{D7A88254-4D9A-F04C-E78A-4054DA27D6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9AF03A-CF88-47D7-B1A2-E5965F59126E}" type="slidenum">
              <a:rPr lang="sv-SE" smtClean="0"/>
              <a:t>‹#›</a:t>
            </a:fld>
            <a:endParaRPr lang="sv-SE"/>
          </a:p>
        </p:txBody>
      </p:sp>
    </p:spTree>
    <p:extLst>
      <p:ext uri="{BB962C8B-B14F-4D97-AF65-F5344CB8AC3E}">
        <p14:creationId xmlns:p14="http://schemas.microsoft.com/office/powerpoint/2010/main" val="2295972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477DE344-B68A-3852-8D1D-BE0716CDE9A3}"/>
              </a:ext>
            </a:extLst>
          </p:cNvPr>
          <p:cNvSpPr/>
          <p:nvPr/>
        </p:nvSpPr>
        <p:spPr>
          <a:xfrm>
            <a:off x="0" y="0"/>
            <a:ext cx="139700" cy="6858000"/>
          </a:xfrm>
          <a:prstGeom prst="rect">
            <a:avLst/>
          </a:prstGeom>
          <a:solidFill>
            <a:srgbClr val="D9581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ruta 2">
            <a:extLst>
              <a:ext uri="{FF2B5EF4-FFF2-40B4-BE49-F238E27FC236}">
                <a16:creationId xmlns:a16="http://schemas.microsoft.com/office/drawing/2014/main" id="{3420A0E7-AF6D-CB0D-02E2-B12651EEB672}"/>
              </a:ext>
            </a:extLst>
          </p:cNvPr>
          <p:cNvSpPr txBox="1"/>
          <p:nvPr/>
        </p:nvSpPr>
        <p:spPr>
          <a:xfrm>
            <a:off x="381000" y="381000"/>
            <a:ext cx="5080000" cy="381000"/>
          </a:xfrm>
          <a:prstGeom prst="rect">
            <a:avLst/>
          </a:prstGeom>
          <a:noFill/>
        </p:spPr>
        <p:txBody>
          <a:bodyPr vert="horz" wrap="square" rtlCol="0" anchor="t">
            <a:noAutofit/>
          </a:bodyPr>
          <a:lstStyle/>
          <a:p>
            <a:r>
              <a:rPr lang="sv-SE" sz="1100" b="1">
                <a:solidFill>
                  <a:srgbClr val="D95818"/>
                </a:solidFill>
              </a:rPr>
              <a:t>INKA AI LABS</a:t>
            </a:r>
          </a:p>
        </p:txBody>
      </p:sp>
      <p:sp>
        <p:nvSpPr>
          <p:cNvPr id="4" name="textruta 3">
            <a:extLst>
              <a:ext uri="{FF2B5EF4-FFF2-40B4-BE49-F238E27FC236}">
                <a16:creationId xmlns:a16="http://schemas.microsoft.com/office/drawing/2014/main" id="{DC1BC202-83F8-5FDF-4EE6-2C4C31DF3635}"/>
              </a:ext>
            </a:extLst>
          </p:cNvPr>
          <p:cNvSpPr txBox="1"/>
          <p:nvPr/>
        </p:nvSpPr>
        <p:spPr>
          <a:xfrm>
            <a:off x="381000" y="1143000"/>
            <a:ext cx="11430000" cy="369332"/>
          </a:xfrm>
          <a:prstGeom prst="rect">
            <a:avLst/>
          </a:prstGeom>
          <a:noFill/>
        </p:spPr>
        <p:txBody>
          <a:bodyPr vert="horz" wrap="square" rtlCol="0" anchor="t">
            <a:noAutofit/>
          </a:bodyPr>
          <a:lstStyle/>
          <a:p>
            <a:r>
              <a:rPr lang="sv-SE" sz="5200" b="1">
                <a:solidFill>
                  <a:srgbClr val="FFFFFF"/>
                </a:solidFill>
              </a:rPr>
              <a:t>Reinholt Logistik</a:t>
            </a:r>
          </a:p>
        </p:txBody>
      </p:sp>
      <p:sp>
        <p:nvSpPr>
          <p:cNvPr id="5" name="textruta 4">
            <a:extLst>
              <a:ext uri="{FF2B5EF4-FFF2-40B4-BE49-F238E27FC236}">
                <a16:creationId xmlns:a16="http://schemas.microsoft.com/office/drawing/2014/main" id="{D5A2647D-A762-4B81-A1DA-0E4C49853A53}"/>
              </a:ext>
            </a:extLst>
          </p:cNvPr>
          <p:cNvSpPr txBox="1"/>
          <p:nvPr/>
        </p:nvSpPr>
        <p:spPr>
          <a:xfrm>
            <a:off x="381000" y="2349500"/>
            <a:ext cx="8890000" cy="369332"/>
          </a:xfrm>
          <a:prstGeom prst="rect">
            <a:avLst/>
          </a:prstGeom>
          <a:noFill/>
        </p:spPr>
        <p:txBody>
          <a:bodyPr vert="horz" wrap="square" rtlCol="0" anchor="t">
            <a:noAutofit/>
          </a:bodyPr>
          <a:lstStyle/>
          <a:p>
            <a:r>
              <a:rPr lang="sv-SE" sz="3800">
                <a:solidFill>
                  <a:srgbClr val="D95818"/>
                </a:solidFill>
              </a:rPr>
              <a:t>× INKA AI Labs</a:t>
            </a:r>
          </a:p>
        </p:txBody>
      </p:sp>
      <p:sp>
        <p:nvSpPr>
          <p:cNvPr id="6" name="textruta 5">
            <a:extLst>
              <a:ext uri="{FF2B5EF4-FFF2-40B4-BE49-F238E27FC236}">
                <a16:creationId xmlns:a16="http://schemas.microsoft.com/office/drawing/2014/main" id="{77FAFA16-11DC-6AC2-DEC2-5A5F438BF39F}"/>
              </a:ext>
            </a:extLst>
          </p:cNvPr>
          <p:cNvSpPr txBox="1"/>
          <p:nvPr/>
        </p:nvSpPr>
        <p:spPr>
          <a:xfrm>
            <a:off x="381000" y="3492500"/>
            <a:ext cx="8890000" cy="369332"/>
          </a:xfrm>
          <a:prstGeom prst="rect">
            <a:avLst/>
          </a:prstGeom>
          <a:noFill/>
        </p:spPr>
        <p:txBody>
          <a:bodyPr vert="horz" wrap="square" rtlCol="0" anchor="t">
            <a:noAutofit/>
          </a:bodyPr>
          <a:lstStyle/>
          <a:p>
            <a:r>
              <a:rPr lang="sv-SE" sz="1700" i="1">
                <a:solidFill>
                  <a:srgbClr val="8A8A8A"/>
                </a:solidFill>
              </a:rPr>
              <a:t>Från AI-kaos till verklig affärsnytta</a:t>
            </a:r>
          </a:p>
        </p:txBody>
      </p:sp>
      <p:sp>
        <p:nvSpPr>
          <p:cNvPr id="7" name="textruta 6">
            <a:extLst>
              <a:ext uri="{FF2B5EF4-FFF2-40B4-BE49-F238E27FC236}">
                <a16:creationId xmlns:a16="http://schemas.microsoft.com/office/drawing/2014/main" id="{7DC47E70-9430-F7E4-52DF-40F0BBE314FB}"/>
              </a:ext>
            </a:extLst>
          </p:cNvPr>
          <p:cNvSpPr txBox="1"/>
          <p:nvPr/>
        </p:nvSpPr>
        <p:spPr>
          <a:xfrm>
            <a:off x="381000" y="5842000"/>
            <a:ext cx="6350000" cy="369332"/>
          </a:xfrm>
          <a:prstGeom prst="rect">
            <a:avLst/>
          </a:prstGeom>
          <a:noFill/>
        </p:spPr>
        <p:txBody>
          <a:bodyPr vert="horz" wrap="square" rtlCol="0" anchor="t">
            <a:noAutofit/>
          </a:bodyPr>
          <a:lstStyle/>
          <a:p>
            <a:r>
              <a:rPr lang="nn-NO" sz="1200">
                <a:solidFill>
                  <a:srgbClr val="707070"/>
                </a:solidFill>
              </a:rPr>
              <a:t>13 juni 2026  ·  Anna Reinholt, COO</a:t>
            </a:r>
            <a:endParaRPr lang="sv-SE" sz="1200">
              <a:solidFill>
                <a:srgbClr val="707070"/>
              </a:solidFill>
            </a:endParaRPr>
          </a:p>
        </p:txBody>
      </p:sp>
    </p:spTree>
    <p:extLst>
      <p:ext uri="{BB962C8B-B14F-4D97-AF65-F5344CB8AC3E}">
        <p14:creationId xmlns:p14="http://schemas.microsoft.com/office/powerpoint/2010/main" val="4085045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extruta 1">
            <a:extLst>
              <a:ext uri="{FF2B5EF4-FFF2-40B4-BE49-F238E27FC236}">
                <a16:creationId xmlns:a16="http://schemas.microsoft.com/office/drawing/2014/main" id="{199DBDE5-A7D0-9546-AC0D-36A7516875C3}"/>
              </a:ext>
            </a:extLst>
          </p:cNvPr>
          <p:cNvSpPr txBox="1"/>
          <p:nvPr/>
        </p:nvSpPr>
        <p:spPr>
          <a:xfrm>
            <a:off x="571500" y="317500"/>
            <a:ext cx="11049000" cy="369332"/>
          </a:xfrm>
          <a:prstGeom prst="rect">
            <a:avLst/>
          </a:prstGeom>
          <a:noFill/>
        </p:spPr>
        <p:txBody>
          <a:bodyPr vert="horz" wrap="square" rtlCol="0" anchor="t">
            <a:noAutofit/>
          </a:bodyPr>
          <a:lstStyle/>
          <a:p>
            <a:r>
              <a:rPr lang="sv-SE" sz="3000" b="1">
                <a:solidFill>
                  <a:srgbClr val="2B2B2B"/>
                </a:solidFill>
              </a:rPr>
              <a:t>Vi förstår er situation</a:t>
            </a:r>
          </a:p>
        </p:txBody>
      </p:sp>
      <p:sp>
        <p:nvSpPr>
          <p:cNvPr id="3" name="textruta 2">
            <a:extLst>
              <a:ext uri="{FF2B5EF4-FFF2-40B4-BE49-F238E27FC236}">
                <a16:creationId xmlns:a16="http://schemas.microsoft.com/office/drawing/2014/main" id="{A65E56D3-2170-9B9A-A337-433A2AAF5000}"/>
              </a:ext>
            </a:extLst>
          </p:cNvPr>
          <p:cNvSpPr txBox="1"/>
          <p:nvPr/>
        </p:nvSpPr>
        <p:spPr>
          <a:xfrm>
            <a:off x="571500" y="1333500"/>
            <a:ext cx="6223000" cy="369332"/>
          </a:xfrm>
          <a:prstGeom prst="rect">
            <a:avLst/>
          </a:prstGeom>
          <a:noFill/>
        </p:spPr>
        <p:txBody>
          <a:bodyPr vert="horz" wrap="square" rtlCol="0" anchor="t">
            <a:noAutofit/>
          </a:bodyPr>
          <a:lstStyle/>
          <a:p>
            <a:pPr marL="342900" indent="-342900">
              <a:spcAft>
                <a:spcPts val="1200"/>
              </a:spcAft>
              <a:buClr>
                <a:srgbClr val="D95818"/>
              </a:buClr>
              <a:buFont typeface="+mj-lt"/>
              <a:buChar char="•"/>
            </a:pPr>
            <a:r>
              <a:rPr lang="sv-SE" sz="1500">
                <a:solidFill>
                  <a:srgbClr val="4A4A4A"/>
                </a:solidFill>
              </a:rPr>
              <a:t>AI används splittrat – utan röd tråd</a:t>
            </a:r>
          </a:p>
          <a:p>
            <a:pPr marL="342900" indent="-342900">
              <a:spcAft>
                <a:spcPts val="1200"/>
              </a:spcAft>
              <a:buClr>
                <a:srgbClr val="D95818"/>
              </a:buClr>
              <a:buFont typeface="+mj-lt"/>
              <a:buChar char="•"/>
            </a:pPr>
            <a:r>
              <a:rPr lang="sv-SE" sz="1500">
                <a:solidFill>
                  <a:srgbClr val="4A4A4A"/>
                </a:solidFill>
              </a:rPr>
              <a:t>Medarbetare provar verktyg på egen hand</a:t>
            </a:r>
          </a:p>
          <a:p>
            <a:pPr marL="342900" indent="-342900">
              <a:spcAft>
                <a:spcPts val="1200"/>
              </a:spcAft>
              <a:buClr>
                <a:srgbClr val="D95818"/>
              </a:buClr>
              <a:buFont typeface="+mj-lt"/>
              <a:buChar char="•"/>
            </a:pPr>
            <a:r>
              <a:rPr lang="sv-SE" sz="1500">
                <a:solidFill>
                  <a:srgbClr val="4A4A4A"/>
                </a:solidFill>
              </a:rPr>
              <a:t>Svårt att prioritera vad som ger mest värde</a:t>
            </a:r>
          </a:p>
          <a:p>
            <a:pPr marL="342900" indent="-342900">
              <a:spcAft>
                <a:spcPts val="1200"/>
              </a:spcAft>
              <a:buClr>
                <a:srgbClr val="D95818"/>
              </a:buClr>
              <a:buFont typeface="+mj-lt"/>
              <a:buChar char="•"/>
            </a:pPr>
            <a:r>
              <a:rPr lang="sv-SE" sz="1500">
                <a:solidFill>
                  <a:srgbClr val="4A4A4A"/>
                </a:solidFill>
              </a:rPr>
              <a:t>Tillväxten kräver mer kapacitet – men resurserna är desamma</a:t>
            </a:r>
          </a:p>
          <a:p>
            <a:pPr marL="342900" indent="-342900">
              <a:spcAft>
                <a:spcPts val="1200"/>
              </a:spcAft>
              <a:buClr>
                <a:srgbClr val="D95818"/>
              </a:buClr>
              <a:buFont typeface="+mj-lt"/>
              <a:buChar char="•"/>
            </a:pPr>
            <a:r>
              <a:rPr lang="sv-SE" sz="1500">
                <a:solidFill>
                  <a:srgbClr val="4A4A4A"/>
                </a:solidFill>
              </a:rPr>
              <a:t>Ni vet att potentialen finns – men inte hur ni tar den</a:t>
            </a:r>
          </a:p>
        </p:txBody>
      </p:sp>
      <p:sp>
        <p:nvSpPr>
          <p:cNvPr id="4" name="Rektangel 3">
            <a:extLst>
              <a:ext uri="{FF2B5EF4-FFF2-40B4-BE49-F238E27FC236}">
                <a16:creationId xmlns:a16="http://schemas.microsoft.com/office/drawing/2014/main" id="{1DA21595-97E6-7D9E-D20F-5C56054D5F86}"/>
              </a:ext>
            </a:extLst>
          </p:cNvPr>
          <p:cNvSpPr/>
          <p:nvPr/>
        </p:nvSpPr>
        <p:spPr>
          <a:xfrm>
            <a:off x="7302500" y="1270000"/>
            <a:ext cx="4318000" cy="5016500"/>
          </a:xfrm>
          <a:prstGeom prst="rect">
            <a:avLst/>
          </a:prstGeom>
          <a:solidFill>
            <a:srgbClr val="D95818"/>
          </a:solidFill>
          <a:ln w="19050" cap="flat" cmpd="sng" algn="ctr">
            <a:noFill/>
            <a:prstDash val="solid"/>
            <a:miter lim="800000"/>
          </a:ln>
          <a:effectLst>
            <a:prstShdw prst="shdw1" dist="71842" dir="2699999">
              <a:srgbClr val="000000">
                <a:alpha val="15000"/>
              </a:srgbClr>
            </a:prstShdw>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5" name="textruta 4">
            <a:extLst>
              <a:ext uri="{FF2B5EF4-FFF2-40B4-BE49-F238E27FC236}">
                <a16:creationId xmlns:a16="http://schemas.microsoft.com/office/drawing/2014/main" id="{BA55B48A-74D8-5DBE-7AE6-597A877C84DE}"/>
              </a:ext>
            </a:extLst>
          </p:cNvPr>
          <p:cNvSpPr txBox="1"/>
          <p:nvPr/>
        </p:nvSpPr>
        <p:spPr>
          <a:xfrm>
            <a:off x="7302500" y="1524000"/>
            <a:ext cx="4318000" cy="369332"/>
          </a:xfrm>
          <a:prstGeom prst="rect">
            <a:avLst/>
          </a:prstGeom>
          <a:noFill/>
        </p:spPr>
        <p:txBody>
          <a:bodyPr vert="horz" wrap="square" rtlCol="0" anchor="ctr">
            <a:noAutofit/>
          </a:bodyPr>
          <a:lstStyle/>
          <a:p>
            <a:pPr algn="ctr"/>
            <a:r>
              <a:rPr lang="sv-SE" sz="7200" b="1">
                <a:solidFill>
                  <a:srgbClr val="FFFFFF"/>
                </a:solidFill>
              </a:rPr>
              <a:t>280</a:t>
            </a:r>
          </a:p>
        </p:txBody>
      </p:sp>
      <p:sp>
        <p:nvSpPr>
          <p:cNvPr id="6" name="textruta 5">
            <a:extLst>
              <a:ext uri="{FF2B5EF4-FFF2-40B4-BE49-F238E27FC236}">
                <a16:creationId xmlns:a16="http://schemas.microsoft.com/office/drawing/2014/main" id="{5F4ECA7D-C6FB-C4FA-DA57-28D890260C9B}"/>
              </a:ext>
            </a:extLst>
          </p:cNvPr>
          <p:cNvSpPr txBox="1"/>
          <p:nvPr/>
        </p:nvSpPr>
        <p:spPr>
          <a:xfrm>
            <a:off x="7302500" y="3175000"/>
            <a:ext cx="4318000" cy="369332"/>
          </a:xfrm>
          <a:prstGeom prst="rect">
            <a:avLst/>
          </a:prstGeom>
          <a:noFill/>
        </p:spPr>
        <p:txBody>
          <a:bodyPr vert="horz" wrap="square" rtlCol="0" anchor="t">
            <a:noAutofit/>
          </a:bodyPr>
          <a:lstStyle/>
          <a:p>
            <a:pPr algn="ctr"/>
            <a:r>
              <a:rPr lang="sv-SE" sz="1400">
                <a:solidFill>
                  <a:srgbClr val="FFFFFF"/>
                </a:solidFill>
              </a:rPr>
              <a:t>anställda i tillväxt</a:t>
            </a:r>
          </a:p>
        </p:txBody>
      </p:sp>
      <p:sp>
        <p:nvSpPr>
          <p:cNvPr id="7" name="textruta 6">
            <a:extLst>
              <a:ext uri="{FF2B5EF4-FFF2-40B4-BE49-F238E27FC236}">
                <a16:creationId xmlns:a16="http://schemas.microsoft.com/office/drawing/2014/main" id="{AD0B5BEB-0410-9639-07CC-BBBFC72AE558}"/>
              </a:ext>
            </a:extLst>
          </p:cNvPr>
          <p:cNvSpPr txBox="1"/>
          <p:nvPr/>
        </p:nvSpPr>
        <p:spPr>
          <a:xfrm>
            <a:off x="7302500" y="3937000"/>
            <a:ext cx="4318000" cy="369332"/>
          </a:xfrm>
          <a:prstGeom prst="rect">
            <a:avLst/>
          </a:prstGeom>
          <a:noFill/>
        </p:spPr>
        <p:txBody>
          <a:bodyPr vert="horz" wrap="square" rtlCol="0" anchor="t">
            <a:noAutofit/>
          </a:bodyPr>
          <a:lstStyle/>
          <a:p>
            <a:pPr algn="ctr"/>
            <a:r>
              <a:rPr lang="sv-SE" sz="1400" b="1">
                <a:solidFill>
                  <a:srgbClr val="FFE8D8"/>
                </a:solidFill>
              </a:rPr>
              <a:t>2 nya storkundsavtal</a:t>
            </a:r>
          </a:p>
        </p:txBody>
      </p:sp>
      <p:sp>
        <p:nvSpPr>
          <p:cNvPr id="8" name="textruta 7">
            <a:extLst>
              <a:ext uri="{FF2B5EF4-FFF2-40B4-BE49-F238E27FC236}">
                <a16:creationId xmlns:a16="http://schemas.microsoft.com/office/drawing/2014/main" id="{84BB8F05-475C-D4E3-591D-BAD17BEDDB30}"/>
              </a:ext>
            </a:extLst>
          </p:cNvPr>
          <p:cNvSpPr txBox="1"/>
          <p:nvPr/>
        </p:nvSpPr>
        <p:spPr>
          <a:xfrm>
            <a:off x="7302500" y="4445000"/>
            <a:ext cx="4318000" cy="369332"/>
          </a:xfrm>
          <a:prstGeom prst="rect">
            <a:avLst/>
          </a:prstGeom>
          <a:noFill/>
        </p:spPr>
        <p:txBody>
          <a:bodyPr vert="horz" wrap="square" rtlCol="0" anchor="t">
            <a:noAutofit/>
          </a:bodyPr>
          <a:lstStyle/>
          <a:p>
            <a:pPr algn="ctr"/>
            <a:r>
              <a:rPr lang="sv-SE" sz="1200">
                <a:solidFill>
                  <a:srgbClr val="FFE8D8"/>
                </a:solidFill>
              </a:rPr>
              <a:t>som kräver skalbarhet</a:t>
            </a:r>
          </a:p>
        </p:txBody>
      </p:sp>
    </p:spTree>
    <p:extLst>
      <p:ext uri="{BB962C8B-B14F-4D97-AF65-F5344CB8AC3E}">
        <p14:creationId xmlns:p14="http://schemas.microsoft.com/office/powerpoint/2010/main" val="4085286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extruta 1">
            <a:extLst>
              <a:ext uri="{FF2B5EF4-FFF2-40B4-BE49-F238E27FC236}">
                <a16:creationId xmlns:a16="http://schemas.microsoft.com/office/drawing/2014/main" id="{A57837FD-5857-E9A0-1178-C9D992FE15AB}"/>
              </a:ext>
            </a:extLst>
          </p:cNvPr>
          <p:cNvSpPr txBox="1"/>
          <p:nvPr/>
        </p:nvSpPr>
        <p:spPr>
          <a:xfrm>
            <a:off x="571500" y="317500"/>
            <a:ext cx="11049000" cy="369332"/>
          </a:xfrm>
          <a:prstGeom prst="rect">
            <a:avLst/>
          </a:prstGeom>
          <a:noFill/>
        </p:spPr>
        <p:txBody>
          <a:bodyPr vert="horz" wrap="square" rtlCol="0" anchor="t">
            <a:noAutofit/>
          </a:bodyPr>
          <a:lstStyle/>
          <a:p>
            <a:r>
              <a:rPr lang="sv-SE" sz="3000" b="1">
                <a:solidFill>
                  <a:srgbClr val="2B2B2B"/>
                </a:solidFill>
              </a:rPr>
              <a:t>Varför det är svårt</a:t>
            </a:r>
          </a:p>
        </p:txBody>
      </p:sp>
      <p:sp>
        <p:nvSpPr>
          <p:cNvPr id="3" name="textruta 2">
            <a:extLst>
              <a:ext uri="{FF2B5EF4-FFF2-40B4-BE49-F238E27FC236}">
                <a16:creationId xmlns:a16="http://schemas.microsoft.com/office/drawing/2014/main" id="{3C87B2D6-F1CE-E11B-9C80-2E733AAD5A5A}"/>
              </a:ext>
            </a:extLst>
          </p:cNvPr>
          <p:cNvSpPr txBox="1"/>
          <p:nvPr/>
        </p:nvSpPr>
        <p:spPr>
          <a:xfrm>
            <a:off x="571500" y="990600"/>
            <a:ext cx="11049000" cy="369332"/>
          </a:xfrm>
          <a:prstGeom prst="rect">
            <a:avLst/>
          </a:prstGeom>
          <a:noFill/>
        </p:spPr>
        <p:txBody>
          <a:bodyPr vert="horz" wrap="square" rtlCol="0" anchor="t">
            <a:noAutofit/>
          </a:bodyPr>
          <a:lstStyle/>
          <a:p>
            <a:r>
              <a:rPr lang="sv-SE" sz="1400" i="1">
                <a:solidFill>
                  <a:srgbClr val="8A8A8A"/>
                </a:solidFill>
              </a:rPr>
              <a:t>De flesta företag fastnar i samma tre hinder</a:t>
            </a:r>
          </a:p>
        </p:txBody>
      </p:sp>
      <p:sp>
        <p:nvSpPr>
          <p:cNvPr id="4" name="Rektangel 3">
            <a:extLst>
              <a:ext uri="{FF2B5EF4-FFF2-40B4-BE49-F238E27FC236}">
                <a16:creationId xmlns:a16="http://schemas.microsoft.com/office/drawing/2014/main" id="{46D03295-DCFB-4F55-B409-AA0E8388F1C0}"/>
              </a:ext>
            </a:extLst>
          </p:cNvPr>
          <p:cNvSpPr/>
          <p:nvPr/>
        </p:nvSpPr>
        <p:spPr>
          <a:xfrm>
            <a:off x="571500" y="1651000"/>
            <a:ext cx="3492500" cy="4699000"/>
          </a:xfrm>
          <a:prstGeom prst="rect">
            <a:avLst/>
          </a:prstGeom>
          <a:solidFill>
            <a:srgbClr val="FFFFFF"/>
          </a:solidFill>
          <a:ln w="12700" cap="flat" cmpd="sng" algn="ctr">
            <a:solidFill>
              <a:srgbClr val="E0D8CC"/>
            </a:solidFill>
            <a:prstDash val="solid"/>
            <a:miter lim="800000"/>
          </a:ln>
          <a:effectLst>
            <a:prstShdw prst="shdw1" dist="53881" dir="2700003">
              <a:srgbClr val="000000">
                <a:alpha val="12000"/>
              </a:srgbClr>
            </a:prst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5" name="Rektangel 4">
            <a:extLst>
              <a:ext uri="{FF2B5EF4-FFF2-40B4-BE49-F238E27FC236}">
                <a16:creationId xmlns:a16="http://schemas.microsoft.com/office/drawing/2014/main" id="{358BAC25-64E7-9C6B-B665-33258C8C8F77}"/>
              </a:ext>
            </a:extLst>
          </p:cNvPr>
          <p:cNvSpPr/>
          <p:nvPr/>
        </p:nvSpPr>
        <p:spPr>
          <a:xfrm>
            <a:off x="571500" y="1651000"/>
            <a:ext cx="3492500" cy="101600"/>
          </a:xfrm>
          <a:prstGeom prst="rect">
            <a:avLst/>
          </a:prstGeom>
          <a:solidFill>
            <a:srgbClr val="D9581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ruta 5">
            <a:extLst>
              <a:ext uri="{FF2B5EF4-FFF2-40B4-BE49-F238E27FC236}">
                <a16:creationId xmlns:a16="http://schemas.microsoft.com/office/drawing/2014/main" id="{6E8DB46A-7D33-5D35-297F-C7E93DD0E4EC}"/>
              </a:ext>
            </a:extLst>
          </p:cNvPr>
          <p:cNvSpPr txBox="1"/>
          <p:nvPr/>
        </p:nvSpPr>
        <p:spPr>
          <a:xfrm>
            <a:off x="762000" y="1968500"/>
            <a:ext cx="3111500" cy="369332"/>
          </a:xfrm>
          <a:prstGeom prst="rect">
            <a:avLst/>
          </a:prstGeom>
          <a:noFill/>
        </p:spPr>
        <p:txBody>
          <a:bodyPr vert="horz" wrap="square" rtlCol="0" anchor="t">
            <a:noAutofit/>
          </a:bodyPr>
          <a:lstStyle/>
          <a:p>
            <a:r>
              <a:rPr lang="sv-SE" sz="2000" b="1">
                <a:solidFill>
                  <a:srgbClr val="2B2B2B"/>
                </a:solidFill>
              </a:rPr>
              <a:t>För brett</a:t>
            </a:r>
          </a:p>
        </p:txBody>
      </p:sp>
      <p:sp>
        <p:nvSpPr>
          <p:cNvPr id="7" name="textruta 6">
            <a:extLst>
              <a:ext uri="{FF2B5EF4-FFF2-40B4-BE49-F238E27FC236}">
                <a16:creationId xmlns:a16="http://schemas.microsoft.com/office/drawing/2014/main" id="{E38C440F-522B-DD32-DEB5-D7F328595BE1}"/>
              </a:ext>
            </a:extLst>
          </p:cNvPr>
          <p:cNvSpPr txBox="1"/>
          <p:nvPr/>
        </p:nvSpPr>
        <p:spPr>
          <a:xfrm>
            <a:off x="762000" y="2730500"/>
            <a:ext cx="3111500" cy="369332"/>
          </a:xfrm>
          <a:prstGeom prst="rect">
            <a:avLst/>
          </a:prstGeom>
          <a:noFill/>
        </p:spPr>
        <p:txBody>
          <a:bodyPr vert="horz" wrap="square" rtlCol="0" anchor="t">
            <a:noAutofit/>
          </a:bodyPr>
          <a:lstStyle/>
          <a:p>
            <a:r>
              <a:rPr lang="sv-SE" sz="1300">
                <a:solidFill>
                  <a:srgbClr val="4A4A4A"/>
                </a:solidFill>
              </a:rPr>
              <a:t>AI kan göra allt – men inte allt på en gång. Utan prioritering sprids energin tunt och ingenting blir färdigt.</a:t>
            </a:r>
          </a:p>
        </p:txBody>
      </p:sp>
      <p:sp>
        <p:nvSpPr>
          <p:cNvPr id="8" name="Rektangel 7">
            <a:extLst>
              <a:ext uri="{FF2B5EF4-FFF2-40B4-BE49-F238E27FC236}">
                <a16:creationId xmlns:a16="http://schemas.microsoft.com/office/drawing/2014/main" id="{DACF3C76-71F0-F5AE-B3AE-0279F38993F7}"/>
              </a:ext>
            </a:extLst>
          </p:cNvPr>
          <p:cNvSpPr/>
          <p:nvPr/>
        </p:nvSpPr>
        <p:spPr>
          <a:xfrm>
            <a:off x="4381500" y="1651000"/>
            <a:ext cx="3492500" cy="4699000"/>
          </a:xfrm>
          <a:prstGeom prst="rect">
            <a:avLst/>
          </a:prstGeom>
          <a:solidFill>
            <a:srgbClr val="FFFFFF"/>
          </a:solidFill>
          <a:ln w="12700" cap="flat" cmpd="sng" algn="ctr">
            <a:solidFill>
              <a:srgbClr val="E0D8CC"/>
            </a:solidFill>
            <a:prstDash val="solid"/>
            <a:miter lim="800000"/>
          </a:ln>
          <a:effectLst>
            <a:prstShdw prst="shdw1" dist="53881" dir="2700003">
              <a:srgbClr val="000000">
                <a:alpha val="12000"/>
              </a:srgbClr>
            </a:prst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 name="Rektangel 8">
            <a:extLst>
              <a:ext uri="{FF2B5EF4-FFF2-40B4-BE49-F238E27FC236}">
                <a16:creationId xmlns:a16="http://schemas.microsoft.com/office/drawing/2014/main" id="{D0D66343-80DC-A4B1-8EE3-E3AE2C872AD5}"/>
              </a:ext>
            </a:extLst>
          </p:cNvPr>
          <p:cNvSpPr/>
          <p:nvPr/>
        </p:nvSpPr>
        <p:spPr>
          <a:xfrm>
            <a:off x="4381500" y="1651000"/>
            <a:ext cx="3492500" cy="101600"/>
          </a:xfrm>
          <a:prstGeom prst="rect">
            <a:avLst/>
          </a:prstGeom>
          <a:solidFill>
            <a:srgbClr val="D9581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textruta 9">
            <a:extLst>
              <a:ext uri="{FF2B5EF4-FFF2-40B4-BE49-F238E27FC236}">
                <a16:creationId xmlns:a16="http://schemas.microsoft.com/office/drawing/2014/main" id="{8DDFA5EE-3491-EFF3-C70E-837B97D3A16D}"/>
              </a:ext>
            </a:extLst>
          </p:cNvPr>
          <p:cNvSpPr txBox="1"/>
          <p:nvPr/>
        </p:nvSpPr>
        <p:spPr>
          <a:xfrm>
            <a:off x="4572000" y="1968500"/>
            <a:ext cx="3111500" cy="369332"/>
          </a:xfrm>
          <a:prstGeom prst="rect">
            <a:avLst/>
          </a:prstGeom>
          <a:noFill/>
        </p:spPr>
        <p:txBody>
          <a:bodyPr vert="horz" wrap="square" rtlCol="0" anchor="t">
            <a:noAutofit/>
          </a:bodyPr>
          <a:lstStyle/>
          <a:p>
            <a:r>
              <a:rPr lang="sv-SE" sz="2000" b="1">
                <a:solidFill>
                  <a:srgbClr val="2B2B2B"/>
                </a:solidFill>
              </a:rPr>
              <a:t>För abstrakt</a:t>
            </a:r>
          </a:p>
        </p:txBody>
      </p:sp>
      <p:sp>
        <p:nvSpPr>
          <p:cNvPr id="11" name="textruta 10">
            <a:extLst>
              <a:ext uri="{FF2B5EF4-FFF2-40B4-BE49-F238E27FC236}">
                <a16:creationId xmlns:a16="http://schemas.microsoft.com/office/drawing/2014/main" id="{E65F7D4C-44BE-878D-70C0-87562B331618}"/>
              </a:ext>
            </a:extLst>
          </p:cNvPr>
          <p:cNvSpPr txBox="1"/>
          <p:nvPr/>
        </p:nvSpPr>
        <p:spPr>
          <a:xfrm>
            <a:off x="4572000" y="2730500"/>
            <a:ext cx="3111500" cy="369332"/>
          </a:xfrm>
          <a:prstGeom prst="rect">
            <a:avLst/>
          </a:prstGeom>
          <a:noFill/>
        </p:spPr>
        <p:txBody>
          <a:bodyPr vert="horz" wrap="square" rtlCol="0" anchor="t">
            <a:noAutofit/>
          </a:bodyPr>
          <a:lstStyle/>
          <a:p>
            <a:r>
              <a:rPr lang="sv-SE" sz="1300">
                <a:solidFill>
                  <a:srgbClr val="4A4A4A"/>
                </a:solidFill>
              </a:rPr>
              <a:t>Det är lätt att prata om AI-potential. Det svåra är att koppla det till era specifika processer och faktiska ROI.</a:t>
            </a:r>
          </a:p>
        </p:txBody>
      </p:sp>
      <p:sp>
        <p:nvSpPr>
          <p:cNvPr id="12" name="Rektangel 11">
            <a:extLst>
              <a:ext uri="{FF2B5EF4-FFF2-40B4-BE49-F238E27FC236}">
                <a16:creationId xmlns:a16="http://schemas.microsoft.com/office/drawing/2014/main" id="{DB950A16-689F-DC84-8D49-4017533D50FD}"/>
              </a:ext>
            </a:extLst>
          </p:cNvPr>
          <p:cNvSpPr/>
          <p:nvPr/>
        </p:nvSpPr>
        <p:spPr>
          <a:xfrm>
            <a:off x="8191500" y="1651000"/>
            <a:ext cx="3492500" cy="4699000"/>
          </a:xfrm>
          <a:prstGeom prst="rect">
            <a:avLst/>
          </a:prstGeom>
          <a:solidFill>
            <a:srgbClr val="FFFFFF"/>
          </a:solidFill>
          <a:ln w="12700" cap="flat" cmpd="sng" algn="ctr">
            <a:solidFill>
              <a:srgbClr val="E0D8CC"/>
            </a:solidFill>
            <a:prstDash val="solid"/>
            <a:miter lim="800000"/>
          </a:ln>
          <a:effectLst>
            <a:prstShdw prst="shdw1" dist="53881" dir="2700003">
              <a:srgbClr val="000000">
                <a:alpha val="12000"/>
              </a:srgbClr>
            </a:prst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3" name="Rektangel 12">
            <a:extLst>
              <a:ext uri="{FF2B5EF4-FFF2-40B4-BE49-F238E27FC236}">
                <a16:creationId xmlns:a16="http://schemas.microsoft.com/office/drawing/2014/main" id="{2B8735A7-B772-3270-4D16-9D5231EF0E46}"/>
              </a:ext>
            </a:extLst>
          </p:cNvPr>
          <p:cNvSpPr/>
          <p:nvPr/>
        </p:nvSpPr>
        <p:spPr>
          <a:xfrm>
            <a:off x="8191500" y="1651000"/>
            <a:ext cx="3492500" cy="101600"/>
          </a:xfrm>
          <a:prstGeom prst="rect">
            <a:avLst/>
          </a:prstGeom>
          <a:solidFill>
            <a:srgbClr val="D9581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4" name="textruta 13">
            <a:extLst>
              <a:ext uri="{FF2B5EF4-FFF2-40B4-BE49-F238E27FC236}">
                <a16:creationId xmlns:a16="http://schemas.microsoft.com/office/drawing/2014/main" id="{C619D8DC-D319-39E4-E90A-1701E1D5CB74}"/>
              </a:ext>
            </a:extLst>
          </p:cNvPr>
          <p:cNvSpPr txBox="1"/>
          <p:nvPr/>
        </p:nvSpPr>
        <p:spPr>
          <a:xfrm>
            <a:off x="8382000" y="1968500"/>
            <a:ext cx="3111500" cy="369332"/>
          </a:xfrm>
          <a:prstGeom prst="rect">
            <a:avLst/>
          </a:prstGeom>
          <a:noFill/>
        </p:spPr>
        <p:txBody>
          <a:bodyPr vert="horz" wrap="square" rtlCol="0" anchor="t">
            <a:noAutofit/>
          </a:bodyPr>
          <a:lstStyle/>
          <a:p>
            <a:r>
              <a:rPr lang="sv-SE" sz="2000" b="1">
                <a:solidFill>
                  <a:srgbClr val="2B2B2B"/>
                </a:solidFill>
              </a:rPr>
              <a:t>För ensamt</a:t>
            </a:r>
          </a:p>
        </p:txBody>
      </p:sp>
      <p:sp>
        <p:nvSpPr>
          <p:cNvPr id="15" name="textruta 14">
            <a:extLst>
              <a:ext uri="{FF2B5EF4-FFF2-40B4-BE49-F238E27FC236}">
                <a16:creationId xmlns:a16="http://schemas.microsoft.com/office/drawing/2014/main" id="{A6F4CD2E-DB52-1EE4-1848-C92BC5358F60}"/>
              </a:ext>
            </a:extLst>
          </p:cNvPr>
          <p:cNvSpPr txBox="1"/>
          <p:nvPr/>
        </p:nvSpPr>
        <p:spPr>
          <a:xfrm>
            <a:off x="8382000" y="2730500"/>
            <a:ext cx="3111500" cy="369332"/>
          </a:xfrm>
          <a:prstGeom prst="rect">
            <a:avLst/>
          </a:prstGeom>
          <a:noFill/>
        </p:spPr>
        <p:txBody>
          <a:bodyPr vert="horz" wrap="square" rtlCol="0" anchor="t">
            <a:noAutofit/>
          </a:bodyPr>
          <a:lstStyle/>
          <a:p>
            <a:r>
              <a:rPr lang="sv-SE" sz="1300">
                <a:solidFill>
                  <a:srgbClr val="4A4A4A"/>
                </a:solidFill>
              </a:rPr>
              <a:t>Att driva AI-implementering internt utan rätt kompetens eller partner tar för lång tid och ger osäkra resultat.</a:t>
            </a:r>
          </a:p>
        </p:txBody>
      </p:sp>
    </p:spTree>
    <p:extLst>
      <p:ext uri="{BB962C8B-B14F-4D97-AF65-F5344CB8AC3E}">
        <p14:creationId xmlns:p14="http://schemas.microsoft.com/office/powerpoint/2010/main" val="61144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extruta 1">
            <a:extLst>
              <a:ext uri="{FF2B5EF4-FFF2-40B4-BE49-F238E27FC236}">
                <a16:creationId xmlns:a16="http://schemas.microsoft.com/office/drawing/2014/main" id="{3858811A-6393-7A67-1BB0-85985E807201}"/>
              </a:ext>
            </a:extLst>
          </p:cNvPr>
          <p:cNvSpPr txBox="1"/>
          <p:nvPr/>
        </p:nvSpPr>
        <p:spPr>
          <a:xfrm>
            <a:off x="571500" y="317500"/>
            <a:ext cx="11049000" cy="369332"/>
          </a:xfrm>
          <a:prstGeom prst="rect">
            <a:avLst/>
          </a:prstGeom>
          <a:noFill/>
        </p:spPr>
        <p:txBody>
          <a:bodyPr vert="horz" wrap="square" rtlCol="0" anchor="t">
            <a:noAutofit/>
          </a:bodyPr>
          <a:lstStyle/>
          <a:p>
            <a:r>
              <a:rPr lang="sv-SE" sz="3000" b="1">
                <a:solidFill>
                  <a:srgbClr val="2B2B2B"/>
                </a:solidFill>
              </a:rPr>
              <a:t>Vår metodik</a:t>
            </a:r>
          </a:p>
        </p:txBody>
      </p:sp>
      <p:sp>
        <p:nvSpPr>
          <p:cNvPr id="3" name="textruta 2">
            <a:extLst>
              <a:ext uri="{FF2B5EF4-FFF2-40B4-BE49-F238E27FC236}">
                <a16:creationId xmlns:a16="http://schemas.microsoft.com/office/drawing/2014/main" id="{0129C1A2-CF72-0C34-2F56-DFD2F9F1F365}"/>
              </a:ext>
            </a:extLst>
          </p:cNvPr>
          <p:cNvSpPr txBox="1"/>
          <p:nvPr/>
        </p:nvSpPr>
        <p:spPr>
          <a:xfrm>
            <a:off x="571500" y="990600"/>
            <a:ext cx="11049000" cy="369332"/>
          </a:xfrm>
          <a:prstGeom prst="rect">
            <a:avLst/>
          </a:prstGeom>
          <a:noFill/>
        </p:spPr>
        <p:txBody>
          <a:bodyPr vert="horz" wrap="square" rtlCol="0" anchor="t">
            <a:noAutofit/>
          </a:bodyPr>
          <a:lstStyle/>
          <a:p>
            <a:r>
              <a:rPr lang="sv-SE" sz="1400" i="1">
                <a:solidFill>
                  <a:srgbClr val="8A8A8A"/>
                </a:solidFill>
              </a:rPr>
              <a:t>Tre sammanlänkade pelare – från strategi till skalning</a:t>
            </a:r>
          </a:p>
        </p:txBody>
      </p:sp>
      <p:sp>
        <p:nvSpPr>
          <p:cNvPr id="4" name="Rektangel 3">
            <a:extLst>
              <a:ext uri="{FF2B5EF4-FFF2-40B4-BE49-F238E27FC236}">
                <a16:creationId xmlns:a16="http://schemas.microsoft.com/office/drawing/2014/main" id="{6CC6CC2D-67D3-5215-AA54-23CCFD9F0286}"/>
              </a:ext>
            </a:extLst>
          </p:cNvPr>
          <p:cNvSpPr/>
          <p:nvPr/>
        </p:nvSpPr>
        <p:spPr>
          <a:xfrm>
            <a:off x="571500" y="1651000"/>
            <a:ext cx="3492500" cy="4762500"/>
          </a:xfrm>
          <a:prstGeom prst="rect">
            <a:avLst/>
          </a:prstGeom>
          <a:solidFill>
            <a:srgbClr val="FFFFFF"/>
          </a:solidFill>
          <a:ln w="12700" cap="flat" cmpd="sng" algn="ctr">
            <a:solidFill>
              <a:srgbClr val="E0D8CC"/>
            </a:solidFill>
            <a:prstDash val="solid"/>
            <a:miter lim="800000"/>
          </a:ln>
          <a:effectLst>
            <a:prstShdw prst="shdw1" dist="53881" dir="2700003">
              <a:srgbClr val="000000">
                <a:alpha val="12000"/>
              </a:srgbClr>
            </a:prst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5" name="textruta 4">
            <a:extLst>
              <a:ext uri="{FF2B5EF4-FFF2-40B4-BE49-F238E27FC236}">
                <a16:creationId xmlns:a16="http://schemas.microsoft.com/office/drawing/2014/main" id="{97E51A13-E175-56B9-D3E9-714DA552F539}"/>
              </a:ext>
            </a:extLst>
          </p:cNvPr>
          <p:cNvSpPr txBox="1"/>
          <p:nvPr/>
        </p:nvSpPr>
        <p:spPr>
          <a:xfrm>
            <a:off x="762000" y="1879600"/>
            <a:ext cx="1270000" cy="381000"/>
          </a:xfrm>
          <a:prstGeom prst="rect">
            <a:avLst/>
          </a:prstGeom>
          <a:noFill/>
        </p:spPr>
        <p:txBody>
          <a:bodyPr vert="horz" wrap="square" rtlCol="0" anchor="t">
            <a:noAutofit/>
          </a:bodyPr>
          <a:lstStyle/>
          <a:p>
            <a:r>
              <a:rPr lang="sv-SE" sz="1100" b="1">
                <a:solidFill>
                  <a:srgbClr val="D95818"/>
                </a:solidFill>
              </a:rPr>
              <a:t>01</a:t>
            </a:r>
          </a:p>
        </p:txBody>
      </p:sp>
      <p:sp>
        <p:nvSpPr>
          <p:cNvPr id="6" name="textruta 5">
            <a:extLst>
              <a:ext uri="{FF2B5EF4-FFF2-40B4-BE49-F238E27FC236}">
                <a16:creationId xmlns:a16="http://schemas.microsoft.com/office/drawing/2014/main" id="{294F6BA4-92C1-0529-7FDD-2F9EDC06472D}"/>
              </a:ext>
            </a:extLst>
          </p:cNvPr>
          <p:cNvSpPr txBox="1"/>
          <p:nvPr/>
        </p:nvSpPr>
        <p:spPr>
          <a:xfrm>
            <a:off x="762000" y="2387600"/>
            <a:ext cx="3111500" cy="369332"/>
          </a:xfrm>
          <a:prstGeom prst="rect">
            <a:avLst/>
          </a:prstGeom>
          <a:noFill/>
        </p:spPr>
        <p:txBody>
          <a:bodyPr vert="horz" wrap="square" rtlCol="0" anchor="t">
            <a:noAutofit/>
          </a:bodyPr>
          <a:lstStyle/>
          <a:p>
            <a:r>
              <a:rPr lang="sv-SE" sz="2200" b="1">
                <a:solidFill>
                  <a:srgbClr val="2B2B2B"/>
                </a:solidFill>
              </a:rPr>
              <a:t>AI-Strategi</a:t>
            </a:r>
          </a:p>
        </p:txBody>
      </p:sp>
      <p:sp>
        <p:nvSpPr>
          <p:cNvPr id="7" name="textruta 6">
            <a:extLst>
              <a:ext uri="{FF2B5EF4-FFF2-40B4-BE49-F238E27FC236}">
                <a16:creationId xmlns:a16="http://schemas.microsoft.com/office/drawing/2014/main" id="{CB7D50D9-AD96-7F26-80CD-3C2569EB8B0C}"/>
              </a:ext>
            </a:extLst>
          </p:cNvPr>
          <p:cNvSpPr txBox="1"/>
          <p:nvPr/>
        </p:nvSpPr>
        <p:spPr>
          <a:xfrm>
            <a:off x="762000" y="3073400"/>
            <a:ext cx="3111500" cy="381000"/>
          </a:xfrm>
          <a:prstGeom prst="rect">
            <a:avLst/>
          </a:prstGeom>
          <a:noFill/>
        </p:spPr>
        <p:txBody>
          <a:bodyPr vert="horz" wrap="square" rtlCol="0" anchor="t">
            <a:noAutofit/>
          </a:bodyPr>
          <a:lstStyle/>
          <a:p>
            <a:r>
              <a:rPr lang="sv-SE" sz="1200" i="1">
                <a:solidFill>
                  <a:srgbClr val="8A8A8A"/>
                </a:solidFill>
              </a:rPr>
              <a:t>Kartläggning &amp; riktning</a:t>
            </a:r>
          </a:p>
        </p:txBody>
      </p:sp>
      <p:sp>
        <p:nvSpPr>
          <p:cNvPr id="8" name="textruta 7">
            <a:extLst>
              <a:ext uri="{FF2B5EF4-FFF2-40B4-BE49-F238E27FC236}">
                <a16:creationId xmlns:a16="http://schemas.microsoft.com/office/drawing/2014/main" id="{54E58840-0474-789B-9D05-565DD6ECA828}"/>
              </a:ext>
            </a:extLst>
          </p:cNvPr>
          <p:cNvSpPr txBox="1"/>
          <p:nvPr/>
        </p:nvSpPr>
        <p:spPr>
          <a:xfrm>
            <a:off x="762000" y="3619500"/>
            <a:ext cx="3111500" cy="369332"/>
          </a:xfrm>
          <a:prstGeom prst="rect">
            <a:avLst/>
          </a:prstGeom>
          <a:noFill/>
        </p:spPr>
        <p:txBody>
          <a:bodyPr vert="horz" wrap="square" rtlCol="0" anchor="t">
            <a:noAutofit/>
          </a:bodyPr>
          <a:lstStyle/>
          <a:p>
            <a:pPr marL="228600" indent="-228600">
              <a:spcAft>
                <a:spcPts val="600"/>
              </a:spcAft>
              <a:buClr>
                <a:srgbClr val="D95818"/>
              </a:buClr>
              <a:buFont typeface="+mj-lt"/>
              <a:buChar char="•"/>
            </a:pPr>
            <a:r>
              <a:rPr lang="sv-SE" sz="1200">
                <a:solidFill>
                  <a:srgbClr val="4A4A4A"/>
                </a:solidFill>
              </a:rPr>
              <a:t>AI-profil och mognadsbedömning</a:t>
            </a:r>
          </a:p>
          <a:p>
            <a:pPr marL="228600" indent="-228600">
              <a:spcAft>
                <a:spcPts val="600"/>
              </a:spcAft>
              <a:buClr>
                <a:srgbClr val="D95818"/>
              </a:buClr>
              <a:buFont typeface="+mj-lt"/>
              <a:buChar char="•"/>
            </a:pPr>
            <a:r>
              <a:rPr lang="sv-SE" sz="1200">
                <a:solidFill>
                  <a:srgbClr val="4A4A4A"/>
                </a:solidFill>
              </a:rPr>
              <a:t>Prioriterade use cases</a:t>
            </a:r>
          </a:p>
          <a:p>
            <a:pPr marL="228600" indent="-228600">
              <a:spcAft>
                <a:spcPts val="600"/>
              </a:spcAft>
              <a:buClr>
                <a:srgbClr val="D95818"/>
              </a:buClr>
              <a:buFont typeface="+mj-lt"/>
              <a:buChar char="•"/>
            </a:pPr>
            <a:r>
              <a:rPr lang="sv-SE" sz="1200">
                <a:solidFill>
                  <a:srgbClr val="4A4A4A"/>
                </a:solidFill>
              </a:rPr>
              <a:t>AI-policy och governance</a:t>
            </a:r>
          </a:p>
          <a:p>
            <a:pPr marL="228600" indent="-228600">
              <a:spcAft>
                <a:spcPts val="600"/>
              </a:spcAft>
              <a:buClr>
                <a:srgbClr val="D95818"/>
              </a:buClr>
              <a:buFont typeface="+mj-lt"/>
              <a:buChar char="•"/>
            </a:pPr>
            <a:r>
              <a:rPr lang="sv-SE" sz="1200">
                <a:solidFill>
                  <a:srgbClr val="4A4A4A"/>
                </a:solidFill>
              </a:rPr>
              <a:t>Mätbara mål och KPI:er</a:t>
            </a:r>
          </a:p>
        </p:txBody>
      </p:sp>
      <p:sp>
        <p:nvSpPr>
          <p:cNvPr id="9" name="Rektangel 8">
            <a:extLst>
              <a:ext uri="{FF2B5EF4-FFF2-40B4-BE49-F238E27FC236}">
                <a16:creationId xmlns:a16="http://schemas.microsoft.com/office/drawing/2014/main" id="{2AF9CA3A-D238-38D4-10BA-C1FE6971C98A}"/>
              </a:ext>
            </a:extLst>
          </p:cNvPr>
          <p:cNvSpPr/>
          <p:nvPr/>
        </p:nvSpPr>
        <p:spPr>
          <a:xfrm>
            <a:off x="4381500" y="1651000"/>
            <a:ext cx="3492500" cy="4762500"/>
          </a:xfrm>
          <a:prstGeom prst="rect">
            <a:avLst/>
          </a:prstGeom>
          <a:solidFill>
            <a:srgbClr val="D95818"/>
          </a:solidFill>
          <a:ln w="19050" cap="flat" cmpd="sng" algn="ctr">
            <a:noFill/>
            <a:prstDash val="solid"/>
            <a:miter lim="800000"/>
          </a:ln>
          <a:effectLst>
            <a:prstShdw prst="shdw1" dist="53881" dir="2700003">
              <a:srgbClr val="000000">
                <a:alpha val="12000"/>
              </a:srgbClr>
            </a:prstShdw>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textruta 9">
            <a:extLst>
              <a:ext uri="{FF2B5EF4-FFF2-40B4-BE49-F238E27FC236}">
                <a16:creationId xmlns:a16="http://schemas.microsoft.com/office/drawing/2014/main" id="{6EF0A86C-60C7-CE7D-00D6-F7001602AB1E}"/>
              </a:ext>
            </a:extLst>
          </p:cNvPr>
          <p:cNvSpPr txBox="1"/>
          <p:nvPr/>
        </p:nvSpPr>
        <p:spPr>
          <a:xfrm>
            <a:off x="4572000" y="1879600"/>
            <a:ext cx="1270000" cy="381000"/>
          </a:xfrm>
          <a:prstGeom prst="rect">
            <a:avLst/>
          </a:prstGeom>
          <a:noFill/>
        </p:spPr>
        <p:txBody>
          <a:bodyPr vert="horz" wrap="square" rtlCol="0" anchor="t">
            <a:noAutofit/>
          </a:bodyPr>
          <a:lstStyle/>
          <a:p>
            <a:r>
              <a:rPr lang="sv-SE" sz="1100" b="1">
                <a:solidFill>
                  <a:srgbClr val="DFDFE0"/>
                </a:solidFill>
              </a:rPr>
              <a:t>02</a:t>
            </a:r>
          </a:p>
        </p:txBody>
      </p:sp>
      <p:sp>
        <p:nvSpPr>
          <p:cNvPr id="11" name="textruta 10">
            <a:extLst>
              <a:ext uri="{FF2B5EF4-FFF2-40B4-BE49-F238E27FC236}">
                <a16:creationId xmlns:a16="http://schemas.microsoft.com/office/drawing/2014/main" id="{6EA8B843-92E1-A47E-F150-E7F60418FC26}"/>
              </a:ext>
            </a:extLst>
          </p:cNvPr>
          <p:cNvSpPr txBox="1"/>
          <p:nvPr/>
        </p:nvSpPr>
        <p:spPr>
          <a:xfrm>
            <a:off x="4572000" y="2387600"/>
            <a:ext cx="3111500" cy="369332"/>
          </a:xfrm>
          <a:prstGeom prst="rect">
            <a:avLst/>
          </a:prstGeom>
          <a:noFill/>
        </p:spPr>
        <p:txBody>
          <a:bodyPr vert="horz" wrap="square" rtlCol="0" anchor="t">
            <a:noAutofit/>
          </a:bodyPr>
          <a:lstStyle/>
          <a:p>
            <a:r>
              <a:rPr lang="sv-SE" sz="2200" b="1">
                <a:solidFill>
                  <a:srgbClr val="FFFFFF"/>
                </a:solidFill>
              </a:rPr>
              <a:t>AI-Toolbox</a:t>
            </a:r>
          </a:p>
        </p:txBody>
      </p:sp>
      <p:sp>
        <p:nvSpPr>
          <p:cNvPr id="12" name="textruta 11">
            <a:extLst>
              <a:ext uri="{FF2B5EF4-FFF2-40B4-BE49-F238E27FC236}">
                <a16:creationId xmlns:a16="http://schemas.microsoft.com/office/drawing/2014/main" id="{EFD677E1-D1B4-EEB5-C88B-C2734771643D}"/>
              </a:ext>
            </a:extLst>
          </p:cNvPr>
          <p:cNvSpPr txBox="1"/>
          <p:nvPr/>
        </p:nvSpPr>
        <p:spPr>
          <a:xfrm>
            <a:off x="4572000" y="3073400"/>
            <a:ext cx="3111500" cy="381000"/>
          </a:xfrm>
          <a:prstGeom prst="rect">
            <a:avLst/>
          </a:prstGeom>
          <a:noFill/>
        </p:spPr>
        <p:txBody>
          <a:bodyPr vert="horz" wrap="square" rtlCol="0" anchor="t">
            <a:noAutofit/>
          </a:bodyPr>
          <a:lstStyle/>
          <a:p>
            <a:r>
              <a:rPr lang="sv-SE" sz="1200" i="1">
                <a:solidFill>
                  <a:srgbClr val="DFDFE0"/>
                </a:solidFill>
              </a:rPr>
              <a:t>Implementering &amp; verktyg</a:t>
            </a:r>
          </a:p>
        </p:txBody>
      </p:sp>
      <p:sp>
        <p:nvSpPr>
          <p:cNvPr id="13" name="textruta 12">
            <a:extLst>
              <a:ext uri="{FF2B5EF4-FFF2-40B4-BE49-F238E27FC236}">
                <a16:creationId xmlns:a16="http://schemas.microsoft.com/office/drawing/2014/main" id="{AEB793B2-7DFA-E5F5-ED11-90BAF220A87A}"/>
              </a:ext>
            </a:extLst>
          </p:cNvPr>
          <p:cNvSpPr txBox="1"/>
          <p:nvPr/>
        </p:nvSpPr>
        <p:spPr>
          <a:xfrm>
            <a:off x="4572000" y="3619500"/>
            <a:ext cx="3111500" cy="369332"/>
          </a:xfrm>
          <a:prstGeom prst="rect">
            <a:avLst/>
          </a:prstGeom>
          <a:noFill/>
        </p:spPr>
        <p:txBody>
          <a:bodyPr vert="horz" wrap="square" rtlCol="0" anchor="t">
            <a:noAutofit/>
          </a:bodyPr>
          <a:lstStyle/>
          <a:p>
            <a:pPr marL="228600" indent="-228600">
              <a:spcAft>
                <a:spcPts val="600"/>
              </a:spcAft>
              <a:buClr>
                <a:srgbClr val="FFFFFF"/>
              </a:buClr>
              <a:buFont typeface="+mj-lt"/>
              <a:buChar char="•"/>
            </a:pPr>
            <a:r>
              <a:rPr lang="sv-SE" sz="1200">
                <a:solidFill>
                  <a:srgbClr val="FFE8D8"/>
                </a:solidFill>
              </a:rPr>
              <a:t>Assistenter och chattbotar</a:t>
            </a:r>
          </a:p>
          <a:p>
            <a:pPr marL="228600" indent="-228600">
              <a:spcAft>
                <a:spcPts val="600"/>
              </a:spcAft>
              <a:buClr>
                <a:srgbClr val="FFFFFF"/>
              </a:buClr>
              <a:buFont typeface="+mj-lt"/>
              <a:buChar char="•"/>
            </a:pPr>
            <a:r>
              <a:rPr lang="sv-SE" sz="1200">
                <a:solidFill>
                  <a:srgbClr val="FFE8D8"/>
                </a:solidFill>
              </a:rPr>
              <a:t>Automatisering av processer</a:t>
            </a:r>
          </a:p>
          <a:p>
            <a:pPr marL="228600" indent="-228600">
              <a:spcAft>
                <a:spcPts val="600"/>
              </a:spcAft>
              <a:buClr>
                <a:srgbClr val="FFFFFF"/>
              </a:buClr>
              <a:buFont typeface="+mj-lt"/>
              <a:buChar char="•"/>
            </a:pPr>
            <a:r>
              <a:rPr lang="sv-SE" sz="1200">
                <a:solidFill>
                  <a:srgbClr val="FFE8D8"/>
                </a:solidFill>
              </a:rPr>
              <a:t>Innehållsproduktion med AI</a:t>
            </a:r>
          </a:p>
          <a:p>
            <a:pPr marL="228600" indent="-228600">
              <a:spcAft>
                <a:spcPts val="600"/>
              </a:spcAft>
              <a:buClr>
                <a:srgbClr val="FFFFFF"/>
              </a:buClr>
              <a:buFont typeface="+mj-lt"/>
              <a:buChar char="•"/>
            </a:pPr>
            <a:r>
              <a:rPr lang="sv-SE" sz="1200">
                <a:solidFill>
                  <a:srgbClr val="FFE8D8"/>
                </a:solidFill>
              </a:rPr>
              <a:t>Analys och datainsikter</a:t>
            </a:r>
          </a:p>
        </p:txBody>
      </p:sp>
      <p:sp>
        <p:nvSpPr>
          <p:cNvPr id="14" name="Rektangel 13">
            <a:extLst>
              <a:ext uri="{FF2B5EF4-FFF2-40B4-BE49-F238E27FC236}">
                <a16:creationId xmlns:a16="http://schemas.microsoft.com/office/drawing/2014/main" id="{48C66172-5A49-F155-24F9-5C03644328B5}"/>
              </a:ext>
            </a:extLst>
          </p:cNvPr>
          <p:cNvSpPr/>
          <p:nvPr/>
        </p:nvSpPr>
        <p:spPr>
          <a:xfrm>
            <a:off x="8191500" y="1651000"/>
            <a:ext cx="3492500" cy="4762500"/>
          </a:xfrm>
          <a:prstGeom prst="rect">
            <a:avLst/>
          </a:prstGeom>
          <a:solidFill>
            <a:srgbClr val="FFFFFF"/>
          </a:solidFill>
          <a:ln w="12700" cap="flat" cmpd="sng" algn="ctr">
            <a:solidFill>
              <a:srgbClr val="E0D8CC"/>
            </a:solidFill>
            <a:prstDash val="solid"/>
            <a:miter lim="800000"/>
          </a:ln>
          <a:effectLst>
            <a:prstShdw prst="shdw1" dist="53881" dir="2700003">
              <a:srgbClr val="000000">
                <a:alpha val="12000"/>
              </a:srgbClr>
            </a:prst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textruta 14">
            <a:extLst>
              <a:ext uri="{FF2B5EF4-FFF2-40B4-BE49-F238E27FC236}">
                <a16:creationId xmlns:a16="http://schemas.microsoft.com/office/drawing/2014/main" id="{DFE9DE09-274C-3E50-3AC3-448956DD5D43}"/>
              </a:ext>
            </a:extLst>
          </p:cNvPr>
          <p:cNvSpPr txBox="1"/>
          <p:nvPr/>
        </p:nvSpPr>
        <p:spPr>
          <a:xfrm>
            <a:off x="8382000" y="1879600"/>
            <a:ext cx="1270000" cy="381000"/>
          </a:xfrm>
          <a:prstGeom prst="rect">
            <a:avLst/>
          </a:prstGeom>
          <a:noFill/>
        </p:spPr>
        <p:txBody>
          <a:bodyPr vert="horz" wrap="square" rtlCol="0" anchor="t">
            <a:noAutofit/>
          </a:bodyPr>
          <a:lstStyle/>
          <a:p>
            <a:r>
              <a:rPr lang="sv-SE" sz="1100" b="1">
                <a:solidFill>
                  <a:srgbClr val="D95818"/>
                </a:solidFill>
              </a:rPr>
              <a:t>03</a:t>
            </a:r>
          </a:p>
        </p:txBody>
      </p:sp>
      <p:sp>
        <p:nvSpPr>
          <p:cNvPr id="16" name="textruta 15">
            <a:extLst>
              <a:ext uri="{FF2B5EF4-FFF2-40B4-BE49-F238E27FC236}">
                <a16:creationId xmlns:a16="http://schemas.microsoft.com/office/drawing/2014/main" id="{1780F7D1-F876-CE08-EEE1-B1EE193973FA}"/>
              </a:ext>
            </a:extLst>
          </p:cNvPr>
          <p:cNvSpPr txBox="1"/>
          <p:nvPr/>
        </p:nvSpPr>
        <p:spPr>
          <a:xfrm>
            <a:off x="8382000" y="2387600"/>
            <a:ext cx="3111500" cy="369332"/>
          </a:xfrm>
          <a:prstGeom prst="rect">
            <a:avLst/>
          </a:prstGeom>
          <a:noFill/>
        </p:spPr>
        <p:txBody>
          <a:bodyPr vert="horz" wrap="square" rtlCol="0" anchor="t">
            <a:noAutofit/>
          </a:bodyPr>
          <a:lstStyle/>
          <a:p>
            <a:r>
              <a:rPr lang="sv-SE" sz="2200" b="1">
                <a:solidFill>
                  <a:srgbClr val="2B2B2B"/>
                </a:solidFill>
              </a:rPr>
              <a:t>AI-Konsult</a:t>
            </a:r>
          </a:p>
        </p:txBody>
      </p:sp>
      <p:sp>
        <p:nvSpPr>
          <p:cNvPr id="17" name="textruta 16">
            <a:extLst>
              <a:ext uri="{FF2B5EF4-FFF2-40B4-BE49-F238E27FC236}">
                <a16:creationId xmlns:a16="http://schemas.microsoft.com/office/drawing/2014/main" id="{DD5790EE-A3DA-98DD-2512-6C96BDE2E82C}"/>
              </a:ext>
            </a:extLst>
          </p:cNvPr>
          <p:cNvSpPr txBox="1"/>
          <p:nvPr/>
        </p:nvSpPr>
        <p:spPr>
          <a:xfrm>
            <a:off x="8382000" y="3073400"/>
            <a:ext cx="3111500" cy="381000"/>
          </a:xfrm>
          <a:prstGeom prst="rect">
            <a:avLst/>
          </a:prstGeom>
          <a:noFill/>
        </p:spPr>
        <p:txBody>
          <a:bodyPr vert="horz" wrap="square" rtlCol="0" anchor="t">
            <a:noAutofit/>
          </a:bodyPr>
          <a:lstStyle/>
          <a:p>
            <a:r>
              <a:rPr lang="sv-SE" sz="1200" i="1">
                <a:solidFill>
                  <a:srgbClr val="8A8A8A"/>
                </a:solidFill>
              </a:rPr>
              <a:t>Partnerskap &amp; skalning</a:t>
            </a:r>
          </a:p>
        </p:txBody>
      </p:sp>
      <p:sp>
        <p:nvSpPr>
          <p:cNvPr id="18" name="textruta 17">
            <a:extLst>
              <a:ext uri="{FF2B5EF4-FFF2-40B4-BE49-F238E27FC236}">
                <a16:creationId xmlns:a16="http://schemas.microsoft.com/office/drawing/2014/main" id="{3E349E2D-5ECE-D8E7-395E-1BD4F1171FAE}"/>
              </a:ext>
            </a:extLst>
          </p:cNvPr>
          <p:cNvSpPr txBox="1"/>
          <p:nvPr/>
        </p:nvSpPr>
        <p:spPr>
          <a:xfrm>
            <a:off x="8382000" y="3619500"/>
            <a:ext cx="3111500" cy="369332"/>
          </a:xfrm>
          <a:prstGeom prst="rect">
            <a:avLst/>
          </a:prstGeom>
          <a:noFill/>
        </p:spPr>
        <p:txBody>
          <a:bodyPr vert="horz" wrap="square" rtlCol="0" anchor="t">
            <a:noAutofit/>
          </a:bodyPr>
          <a:lstStyle/>
          <a:p>
            <a:pPr marL="228600" indent="-228600">
              <a:spcAft>
                <a:spcPts val="600"/>
              </a:spcAft>
              <a:buClr>
                <a:srgbClr val="D95818"/>
              </a:buClr>
              <a:buFont typeface="+mj-lt"/>
              <a:buChar char="•"/>
            </a:pPr>
            <a:r>
              <a:rPr lang="sv-SE" sz="1200">
                <a:solidFill>
                  <a:srgbClr val="4A4A4A"/>
                </a:solidFill>
              </a:rPr>
              <a:t>Löpande strategisk rådgivning</a:t>
            </a:r>
          </a:p>
          <a:p>
            <a:pPr marL="228600" indent="-228600">
              <a:spcAft>
                <a:spcPts val="600"/>
              </a:spcAft>
              <a:buClr>
                <a:srgbClr val="D95818"/>
              </a:buClr>
              <a:buFont typeface="+mj-lt"/>
              <a:buChar char="•"/>
            </a:pPr>
            <a:r>
              <a:rPr lang="sv-SE" sz="1200">
                <a:solidFill>
                  <a:srgbClr val="4A4A4A"/>
                </a:solidFill>
              </a:rPr>
              <a:t>Utbildning och förankring</a:t>
            </a:r>
          </a:p>
          <a:p>
            <a:pPr marL="228600" indent="-228600">
              <a:spcAft>
                <a:spcPts val="600"/>
              </a:spcAft>
              <a:buClr>
                <a:srgbClr val="D95818"/>
              </a:buClr>
              <a:buFont typeface="+mj-lt"/>
              <a:buChar char="•"/>
            </a:pPr>
            <a:r>
              <a:rPr lang="sv-SE" sz="1200">
                <a:solidFill>
                  <a:srgbClr val="4A4A4A"/>
                </a:solidFill>
              </a:rPr>
              <a:t>Iterativ förbättring</a:t>
            </a:r>
          </a:p>
          <a:p>
            <a:pPr marL="228600" indent="-228600">
              <a:spcAft>
                <a:spcPts val="600"/>
              </a:spcAft>
              <a:buClr>
                <a:srgbClr val="D95818"/>
              </a:buClr>
              <a:buFont typeface="+mj-lt"/>
              <a:buChar char="•"/>
            </a:pPr>
            <a:r>
              <a:rPr lang="sv-SE" sz="1200">
                <a:solidFill>
                  <a:srgbClr val="4A4A4A"/>
                </a:solidFill>
              </a:rPr>
              <a:t>Skalning av vad som fungerar</a:t>
            </a:r>
          </a:p>
        </p:txBody>
      </p:sp>
    </p:spTree>
    <p:extLst>
      <p:ext uri="{BB962C8B-B14F-4D97-AF65-F5344CB8AC3E}">
        <p14:creationId xmlns:p14="http://schemas.microsoft.com/office/powerpoint/2010/main" val="2684652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extruta 1">
            <a:extLst>
              <a:ext uri="{FF2B5EF4-FFF2-40B4-BE49-F238E27FC236}">
                <a16:creationId xmlns:a16="http://schemas.microsoft.com/office/drawing/2014/main" id="{7B0797EA-9467-AC3F-DB56-7637F598A949}"/>
              </a:ext>
            </a:extLst>
          </p:cNvPr>
          <p:cNvSpPr txBox="1"/>
          <p:nvPr/>
        </p:nvSpPr>
        <p:spPr>
          <a:xfrm>
            <a:off x="571500" y="317500"/>
            <a:ext cx="11049000" cy="369332"/>
          </a:xfrm>
          <a:prstGeom prst="rect">
            <a:avLst/>
          </a:prstGeom>
          <a:noFill/>
        </p:spPr>
        <p:txBody>
          <a:bodyPr vert="horz" wrap="square" rtlCol="0" anchor="t">
            <a:noAutofit/>
          </a:bodyPr>
          <a:lstStyle/>
          <a:p>
            <a:r>
              <a:rPr lang="sv-SE" sz="3000" b="1">
                <a:solidFill>
                  <a:srgbClr val="2B2B2B"/>
                </a:solidFill>
              </a:rPr>
              <a:t>Vad vi föreslår för Reinholt</a:t>
            </a:r>
          </a:p>
        </p:txBody>
      </p:sp>
      <p:sp>
        <p:nvSpPr>
          <p:cNvPr id="3" name="textruta 2">
            <a:extLst>
              <a:ext uri="{FF2B5EF4-FFF2-40B4-BE49-F238E27FC236}">
                <a16:creationId xmlns:a16="http://schemas.microsoft.com/office/drawing/2014/main" id="{3607D8B9-4DCC-6A65-2811-378D0F9C356A}"/>
              </a:ext>
            </a:extLst>
          </p:cNvPr>
          <p:cNvSpPr txBox="1"/>
          <p:nvPr/>
        </p:nvSpPr>
        <p:spPr>
          <a:xfrm>
            <a:off x="571500" y="990600"/>
            <a:ext cx="11049000" cy="369332"/>
          </a:xfrm>
          <a:prstGeom prst="rect">
            <a:avLst/>
          </a:prstGeom>
          <a:noFill/>
        </p:spPr>
        <p:txBody>
          <a:bodyPr vert="horz" wrap="square" rtlCol="0" anchor="t">
            <a:noAutofit/>
          </a:bodyPr>
          <a:lstStyle/>
          <a:p>
            <a:r>
              <a:rPr lang="sv-SE" sz="1400" i="1">
                <a:solidFill>
                  <a:srgbClr val="8A8A8A"/>
                </a:solidFill>
              </a:rPr>
              <a:t>Tre prioriterade use cases – konkreta, lönsamma, genomförbara</a:t>
            </a:r>
          </a:p>
        </p:txBody>
      </p:sp>
      <p:sp>
        <p:nvSpPr>
          <p:cNvPr id="4" name="Rektangel 3">
            <a:extLst>
              <a:ext uri="{FF2B5EF4-FFF2-40B4-BE49-F238E27FC236}">
                <a16:creationId xmlns:a16="http://schemas.microsoft.com/office/drawing/2014/main" id="{AB95C2F4-D2FE-34B0-2DF4-DBD72C4766CC}"/>
              </a:ext>
            </a:extLst>
          </p:cNvPr>
          <p:cNvSpPr/>
          <p:nvPr/>
        </p:nvSpPr>
        <p:spPr>
          <a:xfrm>
            <a:off x="571500" y="1651000"/>
            <a:ext cx="3492500" cy="4762500"/>
          </a:xfrm>
          <a:prstGeom prst="rect">
            <a:avLst/>
          </a:prstGeom>
          <a:solidFill>
            <a:srgbClr val="FFFFFF"/>
          </a:solidFill>
          <a:ln w="12700" cap="flat" cmpd="sng" algn="ctr">
            <a:solidFill>
              <a:srgbClr val="E0D8CC"/>
            </a:solidFill>
            <a:prstDash val="solid"/>
            <a:miter lim="800000"/>
          </a:ln>
          <a:effectLst>
            <a:prstShdw prst="shdw1" dist="53881" dir="2700003">
              <a:srgbClr val="000000">
                <a:alpha val="12000"/>
              </a:srgbClr>
            </a:prst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5" name="Rektangel 4">
            <a:extLst>
              <a:ext uri="{FF2B5EF4-FFF2-40B4-BE49-F238E27FC236}">
                <a16:creationId xmlns:a16="http://schemas.microsoft.com/office/drawing/2014/main" id="{70F823B9-6209-4A64-2C62-D72B89C23C82}"/>
              </a:ext>
            </a:extLst>
          </p:cNvPr>
          <p:cNvSpPr/>
          <p:nvPr/>
        </p:nvSpPr>
        <p:spPr>
          <a:xfrm>
            <a:off x="762000" y="1879600"/>
            <a:ext cx="609600" cy="609600"/>
          </a:xfrm>
          <a:prstGeom prst="rect">
            <a:avLst/>
          </a:prstGeom>
          <a:solidFill>
            <a:srgbClr val="D9581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ruta 5">
            <a:extLst>
              <a:ext uri="{FF2B5EF4-FFF2-40B4-BE49-F238E27FC236}">
                <a16:creationId xmlns:a16="http://schemas.microsoft.com/office/drawing/2014/main" id="{4399CDB4-FB0D-6439-94C5-1BFCC8BAC631}"/>
              </a:ext>
            </a:extLst>
          </p:cNvPr>
          <p:cNvSpPr txBox="1"/>
          <p:nvPr/>
        </p:nvSpPr>
        <p:spPr>
          <a:xfrm>
            <a:off x="762000" y="1879600"/>
            <a:ext cx="609600" cy="369332"/>
          </a:xfrm>
          <a:prstGeom prst="rect">
            <a:avLst/>
          </a:prstGeom>
          <a:noFill/>
        </p:spPr>
        <p:txBody>
          <a:bodyPr vert="horz" wrap="square" rtlCol="0" anchor="ctr">
            <a:noAutofit/>
          </a:bodyPr>
          <a:lstStyle/>
          <a:p>
            <a:pPr algn="ctr"/>
            <a:r>
              <a:rPr lang="sv-SE" sz="2000" b="1">
                <a:solidFill>
                  <a:srgbClr val="FFFFFF"/>
                </a:solidFill>
              </a:rPr>
              <a:t>1</a:t>
            </a:r>
          </a:p>
        </p:txBody>
      </p:sp>
      <p:sp>
        <p:nvSpPr>
          <p:cNvPr id="7" name="textruta 6">
            <a:extLst>
              <a:ext uri="{FF2B5EF4-FFF2-40B4-BE49-F238E27FC236}">
                <a16:creationId xmlns:a16="http://schemas.microsoft.com/office/drawing/2014/main" id="{CFF38435-5A45-4783-F0F3-1964EDA57D1D}"/>
              </a:ext>
            </a:extLst>
          </p:cNvPr>
          <p:cNvSpPr txBox="1"/>
          <p:nvPr/>
        </p:nvSpPr>
        <p:spPr>
          <a:xfrm>
            <a:off x="1485900" y="1930400"/>
            <a:ext cx="2349500" cy="369332"/>
          </a:xfrm>
          <a:prstGeom prst="rect">
            <a:avLst/>
          </a:prstGeom>
          <a:noFill/>
        </p:spPr>
        <p:txBody>
          <a:bodyPr vert="horz" wrap="square" rtlCol="0" anchor="t">
            <a:noAutofit/>
          </a:bodyPr>
          <a:lstStyle/>
          <a:p>
            <a:r>
              <a:rPr lang="sv-SE" sz="1600" b="1">
                <a:solidFill>
                  <a:srgbClr val="2B2B2B"/>
                </a:solidFill>
              </a:rPr>
              <a:t>Admin-automatisering</a:t>
            </a:r>
          </a:p>
        </p:txBody>
      </p:sp>
      <p:sp>
        <p:nvSpPr>
          <p:cNvPr id="8" name="textruta 7">
            <a:extLst>
              <a:ext uri="{FF2B5EF4-FFF2-40B4-BE49-F238E27FC236}">
                <a16:creationId xmlns:a16="http://schemas.microsoft.com/office/drawing/2014/main" id="{16585E81-60E0-EC16-AB46-3AE5DAC69AAF}"/>
              </a:ext>
            </a:extLst>
          </p:cNvPr>
          <p:cNvSpPr txBox="1"/>
          <p:nvPr/>
        </p:nvSpPr>
        <p:spPr>
          <a:xfrm>
            <a:off x="762000" y="2730500"/>
            <a:ext cx="3111500" cy="369332"/>
          </a:xfrm>
          <a:prstGeom prst="rect">
            <a:avLst/>
          </a:prstGeom>
          <a:noFill/>
        </p:spPr>
        <p:txBody>
          <a:bodyPr vert="horz" wrap="square" rtlCol="0" anchor="t">
            <a:noAutofit/>
          </a:bodyPr>
          <a:lstStyle/>
          <a:p>
            <a:r>
              <a:rPr lang="sv-SE" sz="1300">
                <a:solidFill>
                  <a:srgbClr val="4A4A4A"/>
                </a:solidFill>
              </a:rPr>
              <a:t>Automatisera repetitiva uppgifter: orderhantering, fakturering, intern kommunikation och rapportering.</a:t>
            </a:r>
          </a:p>
        </p:txBody>
      </p:sp>
      <p:sp>
        <p:nvSpPr>
          <p:cNvPr id="9" name="Rektangel 8">
            <a:extLst>
              <a:ext uri="{FF2B5EF4-FFF2-40B4-BE49-F238E27FC236}">
                <a16:creationId xmlns:a16="http://schemas.microsoft.com/office/drawing/2014/main" id="{D5DD6330-B970-5B4A-DC31-C0060346A397}"/>
              </a:ext>
            </a:extLst>
          </p:cNvPr>
          <p:cNvSpPr/>
          <p:nvPr/>
        </p:nvSpPr>
        <p:spPr>
          <a:xfrm>
            <a:off x="698500" y="5461000"/>
            <a:ext cx="3238500" cy="762000"/>
          </a:xfrm>
          <a:prstGeom prst="rect">
            <a:avLst/>
          </a:prstGeom>
          <a:solidFill>
            <a:srgbClr val="FFF2D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textruta 9">
            <a:extLst>
              <a:ext uri="{FF2B5EF4-FFF2-40B4-BE49-F238E27FC236}">
                <a16:creationId xmlns:a16="http://schemas.microsoft.com/office/drawing/2014/main" id="{4D99A28D-7273-8F5D-7FED-C132BAAA63CA}"/>
              </a:ext>
            </a:extLst>
          </p:cNvPr>
          <p:cNvSpPr txBox="1"/>
          <p:nvPr/>
        </p:nvSpPr>
        <p:spPr>
          <a:xfrm>
            <a:off x="762000" y="5486400"/>
            <a:ext cx="3111500" cy="369332"/>
          </a:xfrm>
          <a:prstGeom prst="rect">
            <a:avLst/>
          </a:prstGeom>
          <a:noFill/>
        </p:spPr>
        <p:txBody>
          <a:bodyPr vert="horz" wrap="square" rtlCol="0" anchor="t">
            <a:noAutofit/>
          </a:bodyPr>
          <a:lstStyle/>
          <a:p>
            <a:r>
              <a:rPr lang="sv-SE" sz="1100" b="1">
                <a:solidFill>
                  <a:srgbClr val="640D02"/>
                </a:solidFill>
              </a:rPr>
              <a:t>Potential: 15–25% tidsbesparring per medarbetare</a:t>
            </a:r>
          </a:p>
        </p:txBody>
      </p:sp>
      <p:sp>
        <p:nvSpPr>
          <p:cNvPr id="11" name="Rektangel 10">
            <a:extLst>
              <a:ext uri="{FF2B5EF4-FFF2-40B4-BE49-F238E27FC236}">
                <a16:creationId xmlns:a16="http://schemas.microsoft.com/office/drawing/2014/main" id="{92C29BCC-4D4A-55D5-1C35-EF5ADC98E3A8}"/>
              </a:ext>
            </a:extLst>
          </p:cNvPr>
          <p:cNvSpPr/>
          <p:nvPr/>
        </p:nvSpPr>
        <p:spPr>
          <a:xfrm>
            <a:off x="4381500" y="1651000"/>
            <a:ext cx="3492500" cy="4762500"/>
          </a:xfrm>
          <a:prstGeom prst="rect">
            <a:avLst/>
          </a:prstGeom>
          <a:solidFill>
            <a:srgbClr val="FFFFFF"/>
          </a:solidFill>
          <a:ln w="12700" cap="flat" cmpd="sng" algn="ctr">
            <a:solidFill>
              <a:srgbClr val="E0D8CC"/>
            </a:solidFill>
            <a:prstDash val="solid"/>
            <a:miter lim="800000"/>
          </a:ln>
          <a:effectLst>
            <a:prstShdw prst="shdw1" dist="53881" dir="2700003">
              <a:srgbClr val="000000">
                <a:alpha val="12000"/>
              </a:srgbClr>
            </a:prst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Rektangel 11">
            <a:extLst>
              <a:ext uri="{FF2B5EF4-FFF2-40B4-BE49-F238E27FC236}">
                <a16:creationId xmlns:a16="http://schemas.microsoft.com/office/drawing/2014/main" id="{70DAA3B0-DDF2-9335-68D6-23B3DF077E09}"/>
              </a:ext>
            </a:extLst>
          </p:cNvPr>
          <p:cNvSpPr/>
          <p:nvPr/>
        </p:nvSpPr>
        <p:spPr>
          <a:xfrm>
            <a:off x="4572000" y="1879600"/>
            <a:ext cx="609600" cy="609600"/>
          </a:xfrm>
          <a:prstGeom prst="rect">
            <a:avLst/>
          </a:prstGeom>
          <a:solidFill>
            <a:srgbClr val="D9581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3" name="textruta 12">
            <a:extLst>
              <a:ext uri="{FF2B5EF4-FFF2-40B4-BE49-F238E27FC236}">
                <a16:creationId xmlns:a16="http://schemas.microsoft.com/office/drawing/2014/main" id="{331E5A65-4FD2-4696-76E9-E01C3E2B7626}"/>
              </a:ext>
            </a:extLst>
          </p:cNvPr>
          <p:cNvSpPr txBox="1"/>
          <p:nvPr/>
        </p:nvSpPr>
        <p:spPr>
          <a:xfrm>
            <a:off x="4572000" y="1879600"/>
            <a:ext cx="609600" cy="369332"/>
          </a:xfrm>
          <a:prstGeom prst="rect">
            <a:avLst/>
          </a:prstGeom>
          <a:noFill/>
        </p:spPr>
        <p:txBody>
          <a:bodyPr vert="horz" wrap="square" rtlCol="0" anchor="ctr">
            <a:noAutofit/>
          </a:bodyPr>
          <a:lstStyle/>
          <a:p>
            <a:pPr algn="ctr"/>
            <a:r>
              <a:rPr lang="sv-SE" sz="2000" b="1">
                <a:solidFill>
                  <a:srgbClr val="FFFFFF"/>
                </a:solidFill>
              </a:rPr>
              <a:t>2</a:t>
            </a:r>
          </a:p>
        </p:txBody>
      </p:sp>
      <p:sp>
        <p:nvSpPr>
          <p:cNvPr id="14" name="textruta 13">
            <a:extLst>
              <a:ext uri="{FF2B5EF4-FFF2-40B4-BE49-F238E27FC236}">
                <a16:creationId xmlns:a16="http://schemas.microsoft.com/office/drawing/2014/main" id="{9A32AE04-6A45-F03A-52D7-AB962E47A1A1}"/>
              </a:ext>
            </a:extLst>
          </p:cNvPr>
          <p:cNvSpPr txBox="1"/>
          <p:nvPr/>
        </p:nvSpPr>
        <p:spPr>
          <a:xfrm>
            <a:off x="5295900" y="1930400"/>
            <a:ext cx="2349500" cy="369332"/>
          </a:xfrm>
          <a:prstGeom prst="rect">
            <a:avLst/>
          </a:prstGeom>
          <a:noFill/>
        </p:spPr>
        <p:txBody>
          <a:bodyPr vert="horz" wrap="square" rtlCol="0" anchor="t">
            <a:noAutofit/>
          </a:bodyPr>
          <a:lstStyle/>
          <a:p>
            <a:r>
              <a:rPr lang="sv-SE" sz="1600" b="1">
                <a:solidFill>
                  <a:srgbClr val="2B2B2B"/>
                </a:solidFill>
              </a:rPr>
              <a:t>Kundservice-AI</a:t>
            </a:r>
          </a:p>
        </p:txBody>
      </p:sp>
      <p:sp>
        <p:nvSpPr>
          <p:cNvPr id="15" name="textruta 14">
            <a:extLst>
              <a:ext uri="{FF2B5EF4-FFF2-40B4-BE49-F238E27FC236}">
                <a16:creationId xmlns:a16="http://schemas.microsoft.com/office/drawing/2014/main" id="{7567EA74-B452-890F-921D-765C6FBFB277}"/>
              </a:ext>
            </a:extLst>
          </p:cNvPr>
          <p:cNvSpPr txBox="1"/>
          <p:nvPr/>
        </p:nvSpPr>
        <p:spPr>
          <a:xfrm>
            <a:off x="4572000" y="2730500"/>
            <a:ext cx="3111500" cy="369332"/>
          </a:xfrm>
          <a:prstGeom prst="rect">
            <a:avLst/>
          </a:prstGeom>
          <a:noFill/>
        </p:spPr>
        <p:txBody>
          <a:bodyPr vert="horz" wrap="square" rtlCol="0" anchor="t">
            <a:noAutofit/>
          </a:bodyPr>
          <a:lstStyle/>
          <a:p>
            <a:r>
              <a:rPr lang="sv-SE" sz="1300">
                <a:solidFill>
                  <a:srgbClr val="4A4A4A"/>
                </a:solidFill>
              </a:rPr>
              <a:t>AI-driven ärendehantering som svarar på vanliga frågor, eskalerar rätt ärenden och minskar svarstider.</a:t>
            </a:r>
          </a:p>
        </p:txBody>
      </p:sp>
      <p:sp>
        <p:nvSpPr>
          <p:cNvPr id="16" name="Rektangel 15">
            <a:extLst>
              <a:ext uri="{FF2B5EF4-FFF2-40B4-BE49-F238E27FC236}">
                <a16:creationId xmlns:a16="http://schemas.microsoft.com/office/drawing/2014/main" id="{5B98E009-B36A-0A38-9CD0-9E32300C92FD}"/>
              </a:ext>
            </a:extLst>
          </p:cNvPr>
          <p:cNvSpPr/>
          <p:nvPr/>
        </p:nvSpPr>
        <p:spPr>
          <a:xfrm>
            <a:off x="4508500" y="5461000"/>
            <a:ext cx="3238500" cy="762000"/>
          </a:xfrm>
          <a:prstGeom prst="rect">
            <a:avLst/>
          </a:prstGeom>
          <a:solidFill>
            <a:srgbClr val="FFF2D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textruta 16">
            <a:extLst>
              <a:ext uri="{FF2B5EF4-FFF2-40B4-BE49-F238E27FC236}">
                <a16:creationId xmlns:a16="http://schemas.microsoft.com/office/drawing/2014/main" id="{F72AAF06-38D6-819C-2BFB-D0D7D8122B22}"/>
              </a:ext>
            </a:extLst>
          </p:cNvPr>
          <p:cNvSpPr txBox="1"/>
          <p:nvPr/>
        </p:nvSpPr>
        <p:spPr>
          <a:xfrm>
            <a:off x="4572000" y="5486400"/>
            <a:ext cx="3111500" cy="369332"/>
          </a:xfrm>
          <a:prstGeom prst="rect">
            <a:avLst/>
          </a:prstGeom>
          <a:noFill/>
        </p:spPr>
        <p:txBody>
          <a:bodyPr vert="horz" wrap="square" rtlCol="0" anchor="t">
            <a:noAutofit/>
          </a:bodyPr>
          <a:lstStyle/>
          <a:p>
            <a:r>
              <a:rPr lang="sv-SE" sz="1100" b="1">
                <a:solidFill>
                  <a:srgbClr val="640D02"/>
                </a:solidFill>
              </a:rPr>
              <a:t>Potential: 40–60% av ärenden hanteras automatiskt</a:t>
            </a:r>
          </a:p>
        </p:txBody>
      </p:sp>
      <p:sp>
        <p:nvSpPr>
          <p:cNvPr id="18" name="Rektangel 17">
            <a:extLst>
              <a:ext uri="{FF2B5EF4-FFF2-40B4-BE49-F238E27FC236}">
                <a16:creationId xmlns:a16="http://schemas.microsoft.com/office/drawing/2014/main" id="{D3378D5F-0A81-E31F-F9BA-CBD4C9FAE218}"/>
              </a:ext>
            </a:extLst>
          </p:cNvPr>
          <p:cNvSpPr/>
          <p:nvPr/>
        </p:nvSpPr>
        <p:spPr>
          <a:xfrm>
            <a:off x="8191500" y="1651000"/>
            <a:ext cx="3492500" cy="4762500"/>
          </a:xfrm>
          <a:prstGeom prst="rect">
            <a:avLst/>
          </a:prstGeom>
          <a:solidFill>
            <a:srgbClr val="FFFFFF"/>
          </a:solidFill>
          <a:ln w="12700" cap="flat" cmpd="sng" algn="ctr">
            <a:solidFill>
              <a:srgbClr val="E0D8CC"/>
            </a:solidFill>
            <a:prstDash val="solid"/>
            <a:miter lim="800000"/>
          </a:ln>
          <a:effectLst>
            <a:prstShdw prst="shdw1" dist="53881" dir="2700003">
              <a:srgbClr val="000000">
                <a:alpha val="12000"/>
              </a:srgbClr>
            </a:prst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ktangel 18">
            <a:extLst>
              <a:ext uri="{FF2B5EF4-FFF2-40B4-BE49-F238E27FC236}">
                <a16:creationId xmlns:a16="http://schemas.microsoft.com/office/drawing/2014/main" id="{1F46AA29-4721-2AD8-C7DF-7431D8A1B12A}"/>
              </a:ext>
            </a:extLst>
          </p:cNvPr>
          <p:cNvSpPr/>
          <p:nvPr/>
        </p:nvSpPr>
        <p:spPr>
          <a:xfrm>
            <a:off x="8382000" y="1879600"/>
            <a:ext cx="609600" cy="609600"/>
          </a:xfrm>
          <a:prstGeom prst="rect">
            <a:avLst/>
          </a:prstGeom>
          <a:solidFill>
            <a:srgbClr val="D9581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textruta 19">
            <a:extLst>
              <a:ext uri="{FF2B5EF4-FFF2-40B4-BE49-F238E27FC236}">
                <a16:creationId xmlns:a16="http://schemas.microsoft.com/office/drawing/2014/main" id="{C1124D3A-9FA3-0063-9056-7B17E6728947}"/>
              </a:ext>
            </a:extLst>
          </p:cNvPr>
          <p:cNvSpPr txBox="1"/>
          <p:nvPr/>
        </p:nvSpPr>
        <p:spPr>
          <a:xfrm>
            <a:off x="8382000" y="1879600"/>
            <a:ext cx="609600" cy="369332"/>
          </a:xfrm>
          <a:prstGeom prst="rect">
            <a:avLst/>
          </a:prstGeom>
          <a:noFill/>
        </p:spPr>
        <p:txBody>
          <a:bodyPr vert="horz" wrap="square" rtlCol="0" anchor="ctr">
            <a:noAutofit/>
          </a:bodyPr>
          <a:lstStyle/>
          <a:p>
            <a:pPr algn="ctr"/>
            <a:r>
              <a:rPr lang="sv-SE" sz="2000" b="1">
                <a:solidFill>
                  <a:srgbClr val="FFFFFF"/>
                </a:solidFill>
              </a:rPr>
              <a:t>3</a:t>
            </a:r>
          </a:p>
        </p:txBody>
      </p:sp>
      <p:sp>
        <p:nvSpPr>
          <p:cNvPr id="21" name="textruta 20">
            <a:extLst>
              <a:ext uri="{FF2B5EF4-FFF2-40B4-BE49-F238E27FC236}">
                <a16:creationId xmlns:a16="http://schemas.microsoft.com/office/drawing/2014/main" id="{81948BAE-A298-0B8C-B7ED-A0197E92D26D}"/>
              </a:ext>
            </a:extLst>
          </p:cNvPr>
          <p:cNvSpPr txBox="1"/>
          <p:nvPr/>
        </p:nvSpPr>
        <p:spPr>
          <a:xfrm>
            <a:off x="9105900" y="1930400"/>
            <a:ext cx="2349500" cy="369332"/>
          </a:xfrm>
          <a:prstGeom prst="rect">
            <a:avLst/>
          </a:prstGeom>
          <a:noFill/>
        </p:spPr>
        <p:txBody>
          <a:bodyPr vert="horz" wrap="square" rtlCol="0" anchor="t">
            <a:noAutofit/>
          </a:bodyPr>
          <a:lstStyle/>
          <a:p>
            <a:r>
              <a:rPr lang="sv-SE" sz="1600" b="1">
                <a:solidFill>
                  <a:srgbClr val="2B2B2B"/>
                </a:solidFill>
              </a:rPr>
              <a:t>Resursplanering</a:t>
            </a:r>
          </a:p>
        </p:txBody>
      </p:sp>
      <p:sp>
        <p:nvSpPr>
          <p:cNvPr id="22" name="textruta 21">
            <a:extLst>
              <a:ext uri="{FF2B5EF4-FFF2-40B4-BE49-F238E27FC236}">
                <a16:creationId xmlns:a16="http://schemas.microsoft.com/office/drawing/2014/main" id="{A24CC78B-A606-3EAD-234C-FD0833A3C53B}"/>
              </a:ext>
            </a:extLst>
          </p:cNvPr>
          <p:cNvSpPr txBox="1"/>
          <p:nvPr/>
        </p:nvSpPr>
        <p:spPr>
          <a:xfrm>
            <a:off x="8382000" y="2730500"/>
            <a:ext cx="3111500" cy="369332"/>
          </a:xfrm>
          <a:prstGeom prst="rect">
            <a:avLst/>
          </a:prstGeom>
          <a:noFill/>
        </p:spPr>
        <p:txBody>
          <a:bodyPr vert="horz" wrap="square" rtlCol="0" anchor="t">
            <a:noAutofit/>
          </a:bodyPr>
          <a:lstStyle/>
          <a:p>
            <a:r>
              <a:rPr lang="sv-SE" sz="1300">
                <a:solidFill>
                  <a:srgbClr val="4A4A4A"/>
                </a:solidFill>
              </a:rPr>
              <a:t>AI-stöd för att optimera bemanning och kapacitet baserat på historiska mönster och prognoser.</a:t>
            </a:r>
          </a:p>
        </p:txBody>
      </p:sp>
      <p:sp>
        <p:nvSpPr>
          <p:cNvPr id="23" name="Rektangel 22">
            <a:extLst>
              <a:ext uri="{FF2B5EF4-FFF2-40B4-BE49-F238E27FC236}">
                <a16:creationId xmlns:a16="http://schemas.microsoft.com/office/drawing/2014/main" id="{9ADF0BE9-6B0B-58D0-E291-4B0E9BA6D700}"/>
              </a:ext>
            </a:extLst>
          </p:cNvPr>
          <p:cNvSpPr/>
          <p:nvPr/>
        </p:nvSpPr>
        <p:spPr>
          <a:xfrm>
            <a:off x="8318500" y="5461000"/>
            <a:ext cx="3238500" cy="762000"/>
          </a:xfrm>
          <a:prstGeom prst="rect">
            <a:avLst/>
          </a:prstGeom>
          <a:solidFill>
            <a:srgbClr val="FFF2D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4" name="textruta 23">
            <a:extLst>
              <a:ext uri="{FF2B5EF4-FFF2-40B4-BE49-F238E27FC236}">
                <a16:creationId xmlns:a16="http://schemas.microsoft.com/office/drawing/2014/main" id="{8F0C2DE9-5B08-3261-E24D-10DEFB6D2216}"/>
              </a:ext>
            </a:extLst>
          </p:cNvPr>
          <p:cNvSpPr txBox="1"/>
          <p:nvPr/>
        </p:nvSpPr>
        <p:spPr>
          <a:xfrm>
            <a:off x="8382000" y="5486400"/>
            <a:ext cx="3111500" cy="369332"/>
          </a:xfrm>
          <a:prstGeom prst="rect">
            <a:avLst/>
          </a:prstGeom>
          <a:noFill/>
        </p:spPr>
        <p:txBody>
          <a:bodyPr vert="horz" wrap="square" rtlCol="0" anchor="t">
            <a:noAutofit/>
          </a:bodyPr>
          <a:lstStyle/>
          <a:p>
            <a:r>
              <a:rPr lang="sv-SE" sz="1100" b="1">
                <a:solidFill>
                  <a:srgbClr val="640D02"/>
                </a:solidFill>
              </a:rPr>
              <a:t>Potential: Bättre kapacitetsutnyttjande inför tillväxt</a:t>
            </a:r>
          </a:p>
        </p:txBody>
      </p:sp>
    </p:spTree>
    <p:extLst>
      <p:ext uri="{BB962C8B-B14F-4D97-AF65-F5344CB8AC3E}">
        <p14:creationId xmlns:p14="http://schemas.microsoft.com/office/powerpoint/2010/main" val="4271702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extruta 1">
            <a:extLst>
              <a:ext uri="{FF2B5EF4-FFF2-40B4-BE49-F238E27FC236}">
                <a16:creationId xmlns:a16="http://schemas.microsoft.com/office/drawing/2014/main" id="{7287571E-53FC-EC5F-1364-183828794A44}"/>
              </a:ext>
            </a:extLst>
          </p:cNvPr>
          <p:cNvSpPr txBox="1"/>
          <p:nvPr/>
        </p:nvSpPr>
        <p:spPr>
          <a:xfrm>
            <a:off x="571500" y="317500"/>
            <a:ext cx="11049000" cy="369332"/>
          </a:xfrm>
          <a:prstGeom prst="rect">
            <a:avLst/>
          </a:prstGeom>
          <a:noFill/>
        </p:spPr>
        <p:txBody>
          <a:bodyPr vert="horz" wrap="square" rtlCol="0" anchor="t">
            <a:noAutofit/>
          </a:bodyPr>
          <a:lstStyle/>
          <a:p>
            <a:r>
              <a:rPr lang="sv-SE" sz="3000" b="1">
                <a:solidFill>
                  <a:srgbClr val="2B2B2B"/>
                </a:solidFill>
              </a:rPr>
              <a:t>Så här kan det se ut i praktiken</a:t>
            </a:r>
          </a:p>
        </p:txBody>
      </p:sp>
      <p:sp>
        <p:nvSpPr>
          <p:cNvPr id="3" name="Rektangel 2">
            <a:extLst>
              <a:ext uri="{FF2B5EF4-FFF2-40B4-BE49-F238E27FC236}">
                <a16:creationId xmlns:a16="http://schemas.microsoft.com/office/drawing/2014/main" id="{13DD7700-9D0B-A594-14D8-DFE1ECE13ABE}"/>
              </a:ext>
            </a:extLst>
          </p:cNvPr>
          <p:cNvSpPr/>
          <p:nvPr/>
        </p:nvSpPr>
        <p:spPr>
          <a:xfrm>
            <a:off x="571500" y="1270000"/>
            <a:ext cx="6477000" cy="5143500"/>
          </a:xfrm>
          <a:prstGeom prst="rect">
            <a:avLst/>
          </a:prstGeom>
          <a:solidFill>
            <a:srgbClr val="FFFFFF"/>
          </a:solidFill>
          <a:ln w="12700" cap="flat" cmpd="sng" algn="ctr">
            <a:solidFill>
              <a:srgbClr val="E0D8CC"/>
            </a:solidFill>
            <a:prstDash val="solid"/>
            <a:miter lim="800000"/>
          </a:ln>
          <a:effectLst>
            <a:prstShdw prst="shdw1" dist="53881" dir="2700003">
              <a:srgbClr val="000000">
                <a:alpha val="12000"/>
              </a:srgbClr>
            </a:prst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 name="textruta 3">
            <a:extLst>
              <a:ext uri="{FF2B5EF4-FFF2-40B4-BE49-F238E27FC236}">
                <a16:creationId xmlns:a16="http://schemas.microsoft.com/office/drawing/2014/main" id="{F1D5E280-7001-3ACC-FF70-5EDA07F00BB9}"/>
              </a:ext>
            </a:extLst>
          </p:cNvPr>
          <p:cNvSpPr txBox="1"/>
          <p:nvPr/>
        </p:nvSpPr>
        <p:spPr>
          <a:xfrm>
            <a:off x="762000" y="1422400"/>
            <a:ext cx="6096000" cy="369332"/>
          </a:xfrm>
          <a:prstGeom prst="rect">
            <a:avLst/>
          </a:prstGeom>
          <a:noFill/>
        </p:spPr>
        <p:txBody>
          <a:bodyPr vert="horz" wrap="square" rtlCol="0" anchor="t">
            <a:noAutofit/>
          </a:bodyPr>
          <a:lstStyle/>
          <a:p>
            <a:r>
              <a:rPr lang="sv-SE" sz="1200" b="1">
                <a:solidFill>
                  <a:srgbClr val="D95818"/>
                </a:solidFill>
              </a:rPr>
              <a:t>Liknande uppdrag: Distributions- och e-handelslogistik</a:t>
            </a:r>
          </a:p>
        </p:txBody>
      </p:sp>
      <p:sp>
        <p:nvSpPr>
          <p:cNvPr id="5" name="textruta 4">
            <a:extLst>
              <a:ext uri="{FF2B5EF4-FFF2-40B4-BE49-F238E27FC236}">
                <a16:creationId xmlns:a16="http://schemas.microsoft.com/office/drawing/2014/main" id="{FC8EC4E3-3569-C9FD-4E51-F28F3592C668}"/>
              </a:ext>
            </a:extLst>
          </p:cNvPr>
          <p:cNvSpPr txBox="1"/>
          <p:nvPr/>
        </p:nvSpPr>
        <p:spPr>
          <a:xfrm>
            <a:off x="762000" y="1905000"/>
            <a:ext cx="6096000" cy="369332"/>
          </a:xfrm>
          <a:prstGeom prst="rect">
            <a:avLst/>
          </a:prstGeom>
          <a:noFill/>
        </p:spPr>
        <p:txBody>
          <a:bodyPr vert="horz" wrap="square" rtlCol="0" anchor="t">
            <a:noAutofit/>
          </a:bodyPr>
          <a:lstStyle/>
          <a:p>
            <a:r>
              <a:rPr lang="sv-SE" sz="1300">
                <a:solidFill>
                  <a:srgbClr val="4A4A4A"/>
                </a:solidFill>
              </a:rPr>
              <a:t>Situation: Medelstort logistikbolag med hög administrativ börda och ökande kundvolym.</a:t>
            </a:r>
          </a:p>
          <a:p>
            <a:endParaRPr lang="sv-SE" sz="1300">
              <a:solidFill>
                <a:srgbClr val="4A4A4A"/>
              </a:solidFill>
            </a:endParaRPr>
          </a:p>
          <a:p>
            <a:r>
              <a:rPr lang="sv-SE" sz="1300">
                <a:solidFill>
                  <a:srgbClr val="4A4A4A"/>
                </a:solidFill>
              </a:rPr>
              <a:t>Uppdrag: AI-strategi + implementation av automatiserad ärendehantering och FAQ-chattbot.</a:t>
            </a:r>
          </a:p>
          <a:p>
            <a:endParaRPr lang="sv-SE" sz="1300">
              <a:solidFill>
                <a:srgbClr val="4A4A4A"/>
              </a:solidFill>
            </a:endParaRPr>
          </a:p>
          <a:p>
            <a:r>
              <a:rPr lang="sv-SE" sz="1300">
                <a:solidFill>
                  <a:srgbClr val="4A4A4A"/>
                </a:solidFill>
              </a:rPr>
              <a:t>Resultat: 52% av kundärenden hanterades automatiskt inom 3 månader. Frigjorde 2 heltidstjänster för mer kvalificerat arbete.</a:t>
            </a:r>
          </a:p>
        </p:txBody>
      </p:sp>
      <p:sp>
        <p:nvSpPr>
          <p:cNvPr id="6" name="Rektangel 5">
            <a:extLst>
              <a:ext uri="{FF2B5EF4-FFF2-40B4-BE49-F238E27FC236}">
                <a16:creationId xmlns:a16="http://schemas.microsoft.com/office/drawing/2014/main" id="{2A04373B-8112-AD49-FB1C-43B2C064B1FA}"/>
              </a:ext>
            </a:extLst>
          </p:cNvPr>
          <p:cNvSpPr/>
          <p:nvPr/>
        </p:nvSpPr>
        <p:spPr>
          <a:xfrm>
            <a:off x="7429500" y="1270000"/>
            <a:ext cx="4191000" cy="1498600"/>
          </a:xfrm>
          <a:prstGeom prst="rect">
            <a:avLst/>
          </a:prstGeom>
          <a:solidFill>
            <a:srgbClr val="FFFFFF"/>
          </a:solidFill>
          <a:ln w="12700" cap="flat" cmpd="sng" algn="ctr">
            <a:solidFill>
              <a:srgbClr val="E0D8CC"/>
            </a:solidFill>
            <a:prstDash val="solid"/>
            <a:miter lim="800000"/>
          </a:ln>
          <a:effectLst>
            <a:prstShdw prst="shdw1" dist="53881" dir="2700003">
              <a:srgbClr val="000000">
                <a:alpha val="12000"/>
              </a:srgbClr>
            </a:prst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 name="textruta 6">
            <a:extLst>
              <a:ext uri="{FF2B5EF4-FFF2-40B4-BE49-F238E27FC236}">
                <a16:creationId xmlns:a16="http://schemas.microsoft.com/office/drawing/2014/main" id="{9CAD954C-A098-E8E9-F8C3-D74C01C5BF99}"/>
              </a:ext>
            </a:extLst>
          </p:cNvPr>
          <p:cNvSpPr txBox="1"/>
          <p:nvPr/>
        </p:nvSpPr>
        <p:spPr>
          <a:xfrm>
            <a:off x="7429500" y="1333500"/>
            <a:ext cx="4191000" cy="369332"/>
          </a:xfrm>
          <a:prstGeom prst="rect">
            <a:avLst/>
          </a:prstGeom>
          <a:noFill/>
        </p:spPr>
        <p:txBody>
          <a:bodyPr vert="horz" wrap="square" rtlCol="0" anchor="ctr">
            <a:noAutofit/>
          </a:bodyPr>
          <a:lstStyle/>
          <a:p>
            <a:pPr algn="ctr"/>
            <a:r>
              <a:rPr lang="sv-SE" sz="3000" b="1">
                <a:solidFill>
                  <a:srgbClr val="D95818"/>
                </a:solidFill>
              </a:rPr>
              <a:t>3 mån</a:t>
            </a:r>
          </a:p>
        </p:txBody>
      </p:sp>
      <p:sp>
        <p:nvSpPr>
          <p:cNvPr id="8" name="textruta 7">
            <a:extLst>
              <a:ext uri="{FF2B5EF4-FFF2-40B4-BE49-F238E27FC236}">
                <a16:creationId xmlns:a16="http://schemas.microsoft.com/office/drawing/2014/main" id="{F9E0A321-91D6-865D-297C-1EACF34CF024}"/>
              </a:ext>
            </a:extLst>
          </p:cNvPr>
          <p:cNvSpPr txBox="1"/>
          <p:nvPr/>
        </p:nvSpPr>
        <p:spPr>
          <a:xfrm>
            <a:off x="7429500" y="2133600"/>
            <a:ext cx="4191000" cy="369332"/>
          </a:xfrm>
          <a:prstGeom prst="rect">
            <a:avLst/>
          </a:prstGeom>
          <a:noFill/>
        </p:spPr>
        <p:txBody>
          <a:bodyPr vert="horz" wrap="square" rtlCol="0" anchor="t">
            <a:noAutofit/>
          </a:bodyPr>
          <a:lstStyle/>
          <a:p>
            <a:pPr algn="ctr"/>
            <a:r>
              <a:rPr lang="sv-SE" sz="1200">
                <a:solidFill>
                  <a:srgbClr val="8A8A8A"/>
                </a:solidFill>
              </a:rPr>
              <a:t>till första resultat</a:t>
            </a:r>
          </a:p>
        </p:txBody>
      </p:sp>
      <p:sp>
        <p:nvSpPr>
          <p:cNvPr id="9" name="Rektangel 8">
            <a:extLst>
              <a:ext uri="{FF2B5EF4-FFF2-40B4-BE49-F238E27FC236}">
                <a16:creationId xmlns:a16="http://schemas.microsoft.com/office/drawing/2014/main" id="{B49C1696-61A3-4D5B-AE0F-582E1376CCDA}"/>
              </a:ext>
            </a:extLst>
          </p:cNvPr>
          <p:cNvSpPr/>
          <p:nvPr/>
        </p:nvSpPr>
        <p:spPr>
          <a:xfrm>
            <a:off x="7429500" y="3022600"/>
            <a:ext cx="4191000" cy="1498600"/>
          </a:xfrm>
          <a:prstGeom prst="rect">
            <a:avLst/>
          </a:prstGeom>
          <a:solidFill>
            <a:srgbClr val="D95818"/>
          </a:solidFill>
          <a:ln w="19050" cap="flat" cmpd="sng" algn="ctr">
            <a:noFill/>
            <a:prstDash val="solid"/>
            <a:miter lim="800000"/>
          </a:ln>
          <a:effectLst>
            <a:prstShdw prst="shdw1" dist="53881" dir="2700003">
              <a:srgbClr val="000000">
                <a:alpha val="12000"/>
              </a:srgbClr>
            </a:prstShdw>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textruta 9">
            <a:extLst>
              <a:ext uri="{FF2B5EF4-FFF2-40B4-BE49-F238E27FC236}">
                <a16:creationId xmlns:a16="http://schemas.microsoft.com/office/drawing/2014/main" id="{93C1CEF7-F31A-98F1-EDF2-CC07D3E04ADA}"/>
              </a:ext>
            </a:extLst>
          </p:cNvPr>
          <p:cNvSpPr txBox="1"/>
          <p:nvPr/>
        </p:nvSpPr>
        <p:spPr>
          <a:xfrm>
            <a:off x="7429500" y="3086100"/>
            <a:ext cx="4191000" cy="369332"/>
          </a:xfrm>
          <a:prstGeom prst="rect">
            <a:avLst/>
          </a:prstGeom>
          <a:noFill/>
        </p:spPr>
        <p:txBody>
          <a:bodyPr vert="horz" wrap="square" rtlCol="0" anchor="ctr">
            <a:noAutofit/>
          </a:bodyPr>
          <a:lstStyle/>
          <a:p>
            <a:pPr algn="ctr"/>
            <a:r>
              <a:rPr lang="sv-SE" sz="3000" b="1">
                <a:solidFill>
                  <a:srgbClr val="FFFFFF"/>
                </a:solidFill>
              </a:rPr>
              <a:t>52%</a:t>
            </a:r>
          </a:p>
        </p:txBody>
      </p:sp>
      <p:sp>
        <p:nvSpPr>
          <p:cNvPr id="11" name="textruta 10">
            <a:extLst>
              <a:ext uri="{FF2B5EF4-FFF2-40B4-BE49-F238E27FC236}">
                <a16:creationId xmlns:a16="http://schemas.microsoft.com/office/drawing/2014/main" id="{346E5791-2952-8F52-D9C3-623268060727}"/>
              </a:ext>
            </a:extLst>
          </p:cNvPr>
          <p:cNvSpPr txBox="1"/>
          <p:nvPr/>
        </p:nvSpPr>
        <p:spPr>
          <a:xfrm>
            <a:off x="7429500" y="3886200"/>
            <a:ext cx="4191000" cy="369332"/>
          </a:xfrm>
          <a:prstGeom prst="rect">
            <a:avLst/>
          </a:prstGeom>
          <a:noFill/>
        </p:spPr>
        <p:txBody>
          <a:bodyPr vert="horz" wrap="square" rtlCol="0" anchor="t">
            <a:noAutofit/>
          </a:bodyPr>
          <a:lstStyle/>
          <a:p>
            <a:pPr algn="ctr"/>
            <a:r>
              <a:rPr lang="sv-SE" sz="1200">
                <a:solidFill>
                  <a:srgbClr val="FFE8D8"/>
                </a:solidFill>
              </a:rPr>
              <a:t>av ärenden automatiserat</a:t>
            </a:r>
          </a:p>
        </p:txBody>
      </p:sp>
      <p:sp>
        <p:nvSpPr>
          <p:cNvPr id="12" name="Rektangel 11">
            <a:extLst>
              <a:ext uri="{FF2B5EF4-FFF2-40B4-BE49-F238E27FC236}">
                <a16:creationId xmlns:a16="http://schemas.microsoft.com/office/drawing/2014/main" id="{E3C1225D-BB95-E04E-22E7-839BE7C76600}"/>
              </a:ext>
            </a:extLst>
          </p:cNvPr>
          <p:cNvSpPr/>
          <p:nvPr/>
        </p:nvSpPr>
        <p:spPr>
          <a:xfrm>
            <a:off x="7429500" y="4775200"/>
            <a:ext cx="4191000" cy="1498600"/>
          </a:xfrm>
          <a:prstGeom prst="rect">
            <a:avLst/>
          </a:prstGeom>
          <a:solidFill>
            <a:srgbClr val="FFFFFF"/>
          </a:solidFill>
          <a:ln w="12700" cap="flat" cmpd="sng" algn="ctr">
            <a:solidFill>
              <a:srgbClr val="E0D8CC"/>
            </a:solidFill>
            <a:prstDash val="solid"/>
            <a:miter lim="800000"/>
          </a:ln>
          <a:effectLst>
            <a:prstShdw prst="shdw1" dist="53881" dir="2700003">
              <a:srgbClr val="000000">
                <a:alpha val="12000"/>
              </a:srgbClr>
            </a:prst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3" name="textruta 12">
            <a:extLst>
              <a:ext uri="{FF2B5EF4-FFF2-40B4-BE49-F238E27FC236}">
                <a16:creationId xmlns:a16="http://schemas.microsoft.com/office/drawing/2014/main" id="{14D9047A-34E0-9879-98DD-A391A742F9B9}"/>
              </a:ext>
            </a:extLst>
          </p:cNvPr>
          <p:cNvSpPr txBox="1"/>
          <p:nvPr/>
        </p:nvSpPr>
        <p:spPr>
          <a:xfrm>
            <a:off x="7429500" y="4838700"/>
            <a:ext cx="4191000" cy="369332"/>
          </a:xfrm>
          <a:prstGeom prst="rect">
            <a:avLst/>
          </a:prstGeom>
          <a:noFill/>
        </p:spPr>
        <p:txBody>
          <a:bodyPr vert="horz" wrap="square" rtlCol="0" anchor="ctr">
            <a:noAutofit/>
          </a:bodyPr>
          <a:lstStyle/>
          <a:p>
            <a:pPr algn="ctr"/>
            <a:r>
              <a:rPr lang="sv-SE" sz="3000" b="1">
                <a:solidFill>
                  <a:srgbClr val="D95818"/>
                </a:solidFill>
              </a:rPr>
              <a:t>2 tjänster</a:t>
            </a:r>
          </a:p>
        </p:txBody>
      </p:sp>
      <p:sp>
        <p:nvSpPr>
          <p:cNvPr id="14" name="textruta 13">
            <a:extLst>
              <a:ext uri="{FF2B5EF4-FFF2-40B4-BE49-F238E27FC236}">
                <a16:creationId xmlns:a16="http://schemas.microsoft.com/office/drawing/2014/main" id="{3B1F55D3-761C-DCC3-360F-F859612F781C}"/>
              </a:ext>
            </a:extLst>
          </p:cNvPr>
          <p:cNvSpPr txBox="1"/>
          <p:nvPr/>
        </p:nvSpPr>
        <p:spPr>
          <a:xfrm>
            <a:off x="7429500" y="5638800"/>
            <a:ext cx="4191000" cy="369332"/>
          </a:xfrm>
          <a:prstGeom prst="rect">
            <a:avLst/>
          </a:prstGeom>
          <a:noFill/>
        </p:spPr>
        <p:txBody>
          <a:bodyPr vert="horz" wrap="square" rtlCol="0" anchor="t">
            <a:noAutofit/>
          </a:bodyPr>
          <a:lstStyle/>
          <a:p>
            <a:pPr algn="ctr"/>
            <a:r>
              <a:rPr lang="sv-SE" sz="1200">
                <a:solidFill>
                  <a:srgbClr val="8A8A8A"/>
                </a:solidFill>
              </a:rPr>
              <a:t>frigjordes för värde</a:t>
            </a:r>
          </a:p>
        </p:txBody>
      </p:sp>
    </p:spTree>
    <p:extLst>
      <p:ext uri="{BB962C8B-B14F-4D97-AF65-F5344CB8AC3E}">
        <p14:creationId xmlns:p14="http://schemas.microsoft.com/office/powerpoint/2010/main" val="1048618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extruta 1">
            <a:extLst>
              <a:ext uri="{FF2B5EF4-FFF2-40B4-BE49-F238E27FC236}">
                <a16:creationId xmlns:a16="http://schemas.microsoft.com/office/drawing/2014/main" id="{2B32BF9B-9A97-A7D4-F590-C4356544EB3E}"/>
              </a:ext>
            </a:extLst>
          </p:cNvPr>
          <p:cNvSpPr txBox="1"/>
          <p:nvPr/>
        </p:nvSpPr>
        <p:spPr>
          <a:xfrm>
            <a:off x="571500" y="317500"/>
            <a:ext cx="11049000" cy="369332"/>
          </a:xfrm>
          <a:prstGeom prst="rect">
            <a:avLst/>
          </a:prstGeom>
          <a:noFill/>
        </p:spPr>
        <p:txBody>
          <a:bodyPr vert="horz" wrap="square" rtlCol="0" anchor="t">
            <a:noAutofit/>
          </a:bodyPr>
          <a:lstStyle/>
          <a:p>
            <a:r>
              <a:rPr lang="sv-SE" sz="3000" b="1">
                <a:solidFill>
                  <a:srgbClr val="2B2B2B"/>
                </a:solidFill>
              </a:rPr>
              <a:t>Tidsplan</a:t>
            </a:r>
          </a:p>
        </p:txBody>
      </p:sp>
      <p:sp>
        <p:nvSpPr>
          <p:cNvPr id="3" name="textruta 2">
            <a:extLst>
              <a:ext uri="{FF2B5EF4-FFF2-40B4-BE49-F238E27FC236}">
                <a16:creationId xmlns:a16="http://schemas.microsoft.com/office/drawing/2014/main" id="{8C248BDB-6088-FFDD-63BE-A3B5E12B07F9}"/>
              </a:ext>
            </a:extLst>
          </p:cNvPr>
          <p:cNvSpPr txBox="1"/>
          <p:nvPr/>
        </p:nvSpPr>
        <p:spPr>
          <a:xfrm>
            <a:off x="571500" y="990600"/>
            <a:ext cx="11049000" cy="369332"/>
          </a:xfrm>
          <a:prstGeom prst="rect">
            <a:avLst/>
          </a:prstGeom>
          <a:noFill/>
        </p:spPr>
        <p:txBody>
          <a:bodyPr vert="horz" wrap="square" rtlCol="0" anchor="t">
            <a:noAutofit/>
          </a:bodyPr>
          <a:lstStyle/>
          <a:p>
            <a:r>
              <a:rPr lang="sv-SE" sz="1400" i="1">
                <a:solidFill>
                  <a:srgbClr val="8A8A8A"/>
                </a:solidFill>
              </a:rPr>
              <a:t>Realistisk i tre faser – vi börjar smalt, skalar brett</a:t>
            </a:r>
          </a:p>
        </p:txBody>
      </p:sp>
      <p:sp>
        <p:nvSpPr>
          <p:cNvPr id="4" name="Rektangel 3">
            <a:extLst>
              <a:ext uri="{FF2B5EF4-FFF2-40B4-BE49-F238E27FC236}">
                <a16:creationId xmlns:a16="http://schemas.microsoft.com/office/drawing/2014/main" id="{7A53C99B-A11A-DE4B-0E77-74325136C3EC}"/>
              </a:ext>
            </a:extLst>
          </p:cNvPr>
          <p:cNvSpPr/>
          <p:nvPr/>
        </p:nvSpPr>
        <p:spPr>
          <a:xfrm>
            <a:off x="1524000" y="2603500"/>
            <a:ext cx="9144000" cy="76200"/>
          </a:xfrm>
          <a:prstGeom prst="rect">
            <a:avLst/>
          </a:prstGeom>
          <a:solidFill>
            <a:srgbClr val="E0D8C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5" name="Ellips 4">
            <a:extLst>
              <a:ext uri="{FF2B5EF4-FFF2-40B4-BE49-F238E27FC236}">
                <a16:creationId xmlns:a16="http://schemas.microsoft.com/office/drawing/2014/main" id="{D68C5F1B-D6B5-BE12-DE7D-1778195BB497}"/>
              </a:ext>
            </a:extLst>
          </p:cNvPr>
          <p:cNvSpPr/>
          <p:nvPr/>
        </p:nvSpPr>
        <p:spPr>
          <a:xfrm>
            <a:off x="2032000" y="2489200"/>
            <a:ext cx="304800" cy="304800"/>
          </a:xfrm>
          <a:prstGeom prst="ellipse">
            <a:avLst/>
          </a:prstGeom>
          <a:solidFill>
            <a:srgbClr val="E0D8C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Rektangel 5">
            <a:extLst>
              <a:ext uri="{FF2B5EF4-FFF2-40B4-BE49-F238E27FC236}">
                <a16:creationId xmlns:a16="http://schemas.microsoft.com/office/drawing/2014/main" id="{A435940B-A6BA-8A8D-CBCA-9795E4E24A07}"/>
              </a:ext>
            </a:extLst>
          </p:cNvPr>
          <p:cNvSpPr/>
          <p:nvPr/>
        </p:nvSpPr>
        <p:spPr>
          <a:xfrm>
            <a:off x="571500" y="2895600"/>
            <a:ext cx="3492500" cy="3619500"/>
          </a:xfrm>
          <a:prstGeom prst="rect">
            <a:avLst/>
          </a:prstGeom>
          <a:solidFill>
            <a:srgbClr val="FFFFFF"/>
          </a:solidFill>
          <a:ln w="12700" cap="flat" cmpd="sng" algn="ctr">
            <a:solidFill>
              <a:srgbClr val="E0D8CC"/>
            </a:solidFill>
            <a:prstDash val="solid"/>
            <a:miter lim="800000"/>
          </a:ln>
          <a:effectLst>
            <a:prstShdw prst="shdw1" dist="53881" dir="2700003">
              <a:srgbClr val="000000">
                <a:alpha val="12000"/>
              </a:srgbClr>
            </a:prst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 name="textruta 6">
            <a:extLst>
              <a:ext uri="{FF2B5EF4-FFF2-40B4-BE49-F238E27FC236}">
                <a16:creationId xmlns:a16="http://schemas.microsoft.com/office/drawing/2014/main" id="{29AE7CFE-7B45-1BEE-6493-D954451A3656}"/>
              </a:ext>
            </a:extLst>
          </p:cNvPr>
          <p:cNvSpPr txBox="1"/>
          <p:nvPr/>
        </p:nvSpPr>
        <p:spPr>
          <a:xfrm>
            <a:off x="723900" y="3048000"/>
            <a:ext cx="3175000" cy="369332"/>
          </a:xfrm>
          <a:prstGeom prst="rect">
            <a:avLst/>
          </a:prstGeom>
          <a:noFill/>
        </p:spPr>
        <p:txBody>
          <a:bodyPr vert="horz" wrap="square" rtlCol="0" anchor="t">
            <a:noAutofit/>
          </a:bodyPr>
          <a:lstStyle/>
          <a:p>
            <a:r>
              <a:rPr lang="sv-SE" sz="1100" b="1">
                <a:solidFill>
                  <a:srgbClr val="D95818"/>
                </a:solidFill>
              </a:rPr>
              <a:t>Fas 1</a:t>
            </a:r>
          </a:p>
        </p:txBody>
      </p:sp>
      <p:sp>
        <p:nvSpPr>
          <p:cNvPr id="8" name="textruta 7">
            <a:extLst>
              <a:ext uri="{FF2B5EF4-FFF2-40B4-BE49-F238E27FC236}">
                <a16:creationId xmlns:a16="http://schemas.microsoft.com/office/drawing/2014/main" id="{9B20BF75-C3C6-D8FE-870C-A4D44F36DB90}"/>
              </a:ext>
            </a:extLst>
          </p:cNvPr>
          <p:cNvSpPr txBox="1"/>
          <p:nvPr/>
        </p:nvSpPr>
        <p:spPr>
          <a:xfrm>
            <a:off x="723900" y="3619500"/>
            <a:ext cx="3175000" cy="369332"/>
          </a:xfrm>
          <a:prstGeom prst="rect">
            <a:avLst/>
          </a:prstGeom>
          <a:noFill/>
        </p:spPr>
        <p:txBody>
          <a:bodyPr vert="horz" wrap="square" rtlCol="0" anchor="t">
            <a:noAutofit/>
          </a:bodyPr>
          <a:lstStyle/>
          <a:p>
            <a:r>
              <a:rPr lang="sv-SE" b="1">
                <a:solidFill>
                  <a:srgbClr val="2B2B2B"/>
                </a:solidFill>
              </a:rPr>
              <a:t>Kartläggning</a:t>
            </a:r>
          </a:p>
        </p:txBody>
      </p:sp>
      <p:sp>
        <p:nvSpPr>
          <p:cNvPr id="9" name="textruta 8">
            <a:extLst>
              <a:ext uri="{FF2B5EF4-FFF2-40B4-BE49-F238E27FC236}">
                <a16:creationId xmlns:a16="http://schemas.microsoft.com/office/drawing/2014/main" id="{19D59463-5BC5-E4B6-51BE-9658F12E09FA}"/>
              </a:ext>
            </a:extLst>
          </p:cNvPr>
          <p:cNvSpPr txBox="1"/>
          <p:nvPr/>
        </p:nvSpPr>
        <p:spPr>
          <a:xfrm>
            <a:off x="723900" y="4292600"/>
            <a:ext cx="3175000" cy="369332"/>
          </a:xfrm>
          <a:prstGeom prst="rect">
            <a:avLst/>
          </a:prstGeom>
          <a:noFill/>
        </p:spPr>
        <p:txBody>
          <a:bodyPr vert="horz" wrap="square" rtlCol="0" anchor="t">
            <a:noAutofit/>
          </a:bodyPr>
          <a:lstStyle/>
          <a:p>
            <a:pPr marL="228600" indent="-228600">
              <a:spcAft>
                <a:spcPts val="400"/>
              </a:spcAft>
              <a:buClr>
                <a:srgbClr val="D95818"/>
              </a:buClr>
              <a:buFont typeface="+mj-lt"/>
              <a:buChar char="•"/>
            </a:pPr>
            <a:r>
              <a:rPr lang="sv-SE" sz="1200">
                <a:solidFill>
                  <a:srgbClr val="4A4A4A"/>
                </a:solidFill>
              </a:rPr>
              <a:t>AI-mognadsanalys</a:t>
            </a:r>
          </a:p>
          <a:p>
            <a:pPr marL="228600" indent="-228600">
              <a:spcAft>
                <a:spcPts val="400"/>
              </a:spcAft>
              <a:buClr>
                <a:srgbClr val="D95818"/>
              </a:buClr>
              <a:buFont typeface="+mj-lt"/>
              <a:buChar char="•"/>
            </a:pPr>
            <a:r>
              <a:rPr lang="sv-SE" sz="1200">
                <a:solidFill>
                  <a:srgbClr val="4A4A4A"/>
                </a:solidFill>
              </a:rPr>
              <a:t>Processgenomgång</a:t>
            </a:r>
          </a:p>
          <a:p>
            <a:pPr marL="228600" indent="-228600">
              <a:spcAft>
                <a:spcPts val="400"/>
              </a:spcAft>
              <a:buClr>
                <a:srgbClr val="D95818"/>
              </a:buClr>
              <a:buFont typeface="+mj-lt"/>
              <a:buChar char="•"/>
            </a:pPr>
            <a:r>
              <a:rPr lang="sv-SE" sz="1200">
                <a:solidFill>
                  <a:srgbClr val="4A4A4A"/>
                </a:solidFill>
              </a:rPr>
              <a:t>Prioritering av use cases</a:t>
            </a:r>
          </a:p>
          <a:p>
            <a:pPr marL="228600" indent="-228600">
              <a:spcAft>
                <a:spcPts val="400"/>
              </a:spcAft>
              <a:buClr>
                <a:srgbClr val="D95818"/>
              </a:buClr>
              <a:buFont typeface="+mj-lt"/>
              <a:buChar char="•"/>
            </a:pPr>
            <a:r>
              <a:rPr lang="sv-SE" sz="1200">
                <a:solidFill>
                  <a:srgbClr val="4A4A4A"/>
                </a:solidFill>
              </a:rPr>
              <a:t>Beslutsunderlag</a:t>
            </a:r>
          </a:p>
        </p:txBody>
      </p:sp>
      <p:sp>
        <p:nvSpPr>
          <p:cNvPr id="10" name="Ellips 9">
            <a:extLst>
              <a:ext uri="{FF2B5EF4-FFF2-40B4-BE49-F238E27FC236}">
                <a16:creationId xmlns:a16="http://schemas.microsoft.com/office/drawing/2014/main" id="{8712266F-F647-2628-5F08-C06C32CB7A70}"/>
              </a:ext>
            </a:extLst>
          </p:cNvPr>
          <p:cNvSpPr/>
          <p:nvPr/>
        </p:nvSpPr>
        <p:spPr>
          <a:xfrm>
            <a:off x="5842000" y="2489200"/>
            <a:ext cx="304800" cy="304800"/>
          </a:xfrm>
          <a:prstGeom prst="ellipse">
            <a:avLst/>
          </a:prstGeom>
          <a:solidFill>
            <a:srgbClr val="D9581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ktangel 10">
            <a:extLst>
              <a:ext uri="{FF2B5EF4-FFF2-40B4-BE49-F238E27FC236}">
                <a16:creationId xmlns:a16="http://schemas.microsoft.com/office/drawing/2014/main" id="{FC0FBE86-232F-1EF5-B99F-940E1653C717}"/>
              </a:ext>
            </a:extLst>
          </p:cNvPr>
          <p:cNvSpPr/>
          <p:nvPr/>
        </p:nvSpPr>
        <p:spPr>
          <a:xfrm>
            <a:off x="4381500" y="2895600"/>
            <a:ext cx="3492500" cy="3619500"/>
          </a:xfrm>
          <a:prstGeom prst="rect">
            <a:avLst/>
          </a:prstGeom>
          <a:solidFill>
            <a:srgbClr val="D95818"/>
          </a:solidFill>
          <a:ln w="19050" cap="flat" cmpd="sng" algn="ctr">
            <a:noFill/>
            <a:prstDash val="solid"/>
            <a:miter lim="800000"/>
          </a:ln>
          <a:effectLst>
            <a:prstShdw prst="shdw1" dist="53881" dir="2700003">
              <a:srgbClr val="000000">
                <a:alpha val="12000"/>
              </a:srgbClr>
            </a:prstShdw>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textruta 11">
            <a:extLst>
              <a:ext uri="{FF2B5EF4-FFF2-40B4-BE49-F238E27FC236}">
                <a16:creationId xmlns:a16="http://schemas.microsoft.com/office/drawing/2014/main" id="{6F24EE45-0902-3859-6D27-EF8178E7E5B8}"/>
              </a:ext>
            </a:extLst>
          </p:cNvPr>
          <p:cNvSpPr txBox="1"/>
          <p:nvPr/>
        </p:nvSpPr>
        <p:spPr>
          <a:xfrm>
            <a:off x="4533900" y="3048000"/>
            <a:ext cx="3175000" cy="369332"/>
          </a:xfrm>
          <a:prstGeom prst="rect">
            <a:avLst/>
          </a:prstGeom>
          <a:noFill/>
        </p:spPr>
        <p:txBody>
          <a:bodyPr vert="horz" wrap="square" rtlCol="0" anchor="t">
            <a:noAutofit/>
          </a:bodyPr>
          <a:lstStyle/>
          <a:p>
            <a:r>
              <a:rPr lang="sv-SE" sz="1100" b="1">
                <a:solidFill>
                  <a:srgbClr val="DFDFE0"/>
                </a:solidFill>
              </a:rPr>
              <a:t>Fas 2</a:t>
            </a:r>
          </a:p>
        </p:txBody>
      </p:sp>
      <p:sp>
        <p:nvSpPr>
          <p:cNvPr id="13" name="textruta 12">
            <a:extLst>
              <a:ext uri="{FF2B5EF4-FFF2-40B4-BE49-F238E27FC236}">
                <a16:creationId xmlns:a16="http://schemas.microsoft.com/office/drawing/2014/main" id="{71AEC2F7-E646-4208-C534-8F1DDFEA81CA}"/>
              </a:ext>
            </a:extLst>
          </p:cNvPr>
          <p:cNvSpPr txBox="1"/>
          <p:nvPr/>
        </p:nvSpPr>
        <p:spPr>
          <a:xfrm>
            <a:off x="4533900" y="3619500"/>
            <a:ext cx="3175000" cy="369332"/>
          </a:xfrm>
          <a:prstGeom prst="rect">
            <a:avLst/>
          </a:prstGeom>
          <a:noFill/>
        </p:spPr>
        <p:txBody>
          <a:bodyPr vert="horz" wrap="square" rtlCol="0" anchor="t">
            <a:noAutofit/>
          </a:bodyPr>
          <a:lstStyle/>
          <a:p>
            <a:r>
              <a:rPr lang="sv-SE" b="1">
                <a:solidFill>
                  <a:srgbClr val="FFFFFF"/>
                </a:solidFill>
              </a:rPr>
              <a:t>Pilotprojekt</a:t>
            </a:r>
          </a:p>
        </p:txBody>
      </p:sp>
      <p:sp>
        <p:nvSpPr>
          <p:cNvPr id="14" name="textruta 13">
            <a:extLst>
              <a:ext uri="{FF2B5EF4-FFF2-40B4-BE49-F238E27FC236}">
                <a16:creationId xmlns:a16="http://schemas.microsoft.com/office/drawing/2014/main" id="{79BB1B69-9A6B-5E28-567F-D626509285B4}"/>
              </a:ext>
            </a:extLst>
          </p:cNvPr>
          <p:cNvSpPr txBox="1"/>
          <p:nvPr/>
        </p:nvSpPr>
        <p:spPr>
          <a:xfrm>
            <a:off x="4533900" y="4292600"/>
            <a:ext cx="3175000" cy="369332"/>
          </a:xfrm>
          <a:prstGeom prst="rect">
            <a:avLst/>
          </a:prstGeom>
          <a:noFill/>
        </p:spPr>
        <p:txBody>
          <a:bodyPr vert="horz" wrap="square" rtlCol="0" anchor="t">
            <a:noAutofit/>
          </a:bodyPr>
          <a:lstStyle/>
          <a:p>
            <a:pPr marL="228600" indent="-228600">
              <a:spcAft>
                <a:spcPts val="400"/>
              </a:spcAft>
              <a:buClr>
                <a:srgbClr val="FFFFFF"/>
              </a:buClr>
              <a:buFont typeface="+mj-lt"/>
              <a:buChar char="•"/>
            </a:pPr>
            <a:r>
              <a:rPr lang="sv-SE" sz="1200">
                <a:solidFill>
                  <a:srgbClr val="FFE8D8"/>
                </a:solidFill>
              </a:rPr>
              <a:t>Implementering use case #1</a:t>
            </a:r>
          </a:p>
          <a:p>
            <a:pPr marL="228600" indent="-228600">
              <a:spcAft>
                <a:spcPts val="400"/>
              </a:spcAft>
              <a:buClr>
                <a:srgbClr val="FFFFFF"/>
              </a:buClr>
              <a:buFont typeface="+mj-lt"/>
              <a:buChar char="•"/>
            </a:pPr>
            <a:r>
              <a:rPr lang="sv-SE" sz="1200">
                <a:solidFill>
                  <a:srgbClr val="FFE8D8"/>
                </a:solidFill>
              </a:rPr>
              <a:t>Intern utbildning</a:t>
            </a:r>
          </a:p>
          <a:p>
            <a:pPr marL="228600" indent="-228600">
              <a:spcAft>
                <a:spcPts val="400"/>
              </a:spcAft>
              <a:buClr>
                <a:srgbClr val="FFFFFF"/>
              </a:buClr>
              <a:buFont typeface="+mj-lt"/>
              <a:buChar char="•"/>
            </a:pPr>
            <a:r>
              <a:rPr lang="sv-SE" sz="1200">
                <a:solidFill>
                  <a:srgbClr val="FFE8D8"/>
                </a:solidFill>
              </a:rPr>
              <a:t>Mätning och uppföljning</a:t>
            </a:r>
          </a:p>
          <a:p>
            <a:pPr marL="228600" indent="-228600">
              <a:spcAft>
                <a:spcPts val="400"/>
              </a:spcAft>
              <a:buClr>
                <a:srgbClr val="FFFFFF"/>
              </a:buClr>
              <a:buFont typeface="+mj-lt"/>
              <a:buChar char="•"/>
            </a:pPr>
            <a:r>
              <a:rPr lang="sv-SE" sz="1200">
                <a:solidFill>
                  <a:srgbClr val="FFE8D8"/>
                </a:solidFill>
              </a:rPr>
              <a:t>Justering och förbättring</a:t>
            </a:r>
          </a:p>
        </p:txBody>
      </p:sp>
      <p:sp>
        <p:nvSpPr>
          <p:cNvPr id="15" name="Ellips 14">
            <a:extLst>
              <a:ext uri="{FF2B5EF4-FFF2-40B4-BE49-F238E27FC236}">
                <a16:creationId xmlns:a16="http://schemas.microsoft.com/office/drawing/2014/main" id="{C97589AB-22B4-13F5-735E-CB4A8044A029}"/>
              </a:ext>
            </a:extLst>
          </p:cNvPr>
          <p:cNvSpPr/>
          <p:nvPr/>
        </p:nvSpPr>
        <p:spPr>
          <a:xfrm>
            <a:off x="9652000" y="2489200"/>
            <a:ext cx="304800" cy="304800"/>
          </a:xfrm>
          <a:prstGeom prst="ellipse">
            <a:avLst/>
          </a:prstGeom>
          <a:solidFill>
            <a:srgbClr val="E0D8C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Rektangel 15">
            <a:extLst>
              <a:ext uri="{FF2B5EF4-FFF2-40B4-BE49-F238E27FC236}">
                <a16:creationId xmlns:a16="http://schemas.microsoft.com/office/drawing/2014/main" id="{A060A007-79DD-7226-998B-310FEE138BD6}"/>
              </a:ext>
            </a:extLst>
          </p:cNvPr>
          <p:cNvSpPr/>
          <p:nvPr/>
        </p:nvSpPr>
        <p:spPr>
          <a:xfrm>
            <a:off x="8191500" y="2895600"/>
            <a:ext cx="3492500" cy="3619500"/>
          </a:xfrm>
          <a:prstGeom prst="rect">
            <a:avLst/>
          </a:prstGeom>
          <a:solidFill>
            <a:srgbClr val="FFFFFF"/>
          </a:solidFill>
          <a:ln w="12700" cap="flat" cmpd="sng" algn="ctr">
            <a:solidFill>
              <a:srgbClr val="E0D8CC"/>
            </a:solidFill>
            <a:prstDash val="solid"/>
            <a:miter lim="800000"/>
          </a:ln>
          <a:effectLst>
            <a:prstShdw prst="shdw1" dist="53881" dir="2700003">
              <a:srgbClr val="000000">
                <a:alpha val="12000"/>
              </a:srgbClr>
            </a:prst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textruta 16">
            <a:extLst>
              <a:ext uri="{FF2B5EF4-FFF2-40B4-BE49-F238E27FC236}">
                <a16:creationId xmlns:a16="http://schemas.microsoft.com/office/drawing/2014/main" id="{F3C6FF97-E21B-E3FD-230A-658C6D9D410D}"/>
              </a:ext>
            </a:extLst>
          </p:cNvPr>
          <p:cNvSpPr txBox="1"/>
          <p:nvPr/>
        </p:nvSpPr>
        <p:spPr>
          <a:xfrm>
            <a:off x="8343900" y="3048000"/>
            <a:ext cx="3175000" cy="369332"/>
          </a:xfrm>
          <a:prstGeom prst="rect">
            <a:avLst/>
          </a:prstGeom>
          <a:noFill/>
        </p:spPr>
        <p:txBody>
          <a:bodyPr vert="horz" wrap="square" rtlCol="0" anchor="t">
            <a:noAutofit/>
          </a:bodyPr>
          <a:lstStyle/>
          <a:p>
            <a:r>
              <a:rPr lang="sv-SE" sz="1100" b="1">
                <a:solidFill>
                  <a:srgbClr val="D95818"/>
                </a:solidFill>
              </a:rPr>
              <a:t>Fas 3</a:t>
            </a:r>
          </a:p>
        </p:txBody>
      </p:sp>
      <p:sp>
        <p:nvSpPr>
          <p:cNvPr id="18" name="textruta 17">
            <a:extLst>
              <a:ext uri="{FF2B5EF4-FFF2-40B4-BE49-F238E27FC236}">
                <a16:creationId xmlns:a16="http://schemas.microsoft.com/office/drawing/2014/main" id="{733564C3-A923-BB42-A253-A5E429E3D083}"/>
              </a:ext>
            </a:extLst>
          </p:cNvPr>
          <p:cNvSpPr txBox="1"/>
          <p:nvPr/>
        </p:nvSpPr>
        <p:spPr>
          <a:xfrm>
            <a:off x="8343900" y="3619500"/>
            <a:ext cx="3175000" cy="369332"/>
          </a:xfrm>
          <a:prstGeom prst="rect">
            <a:avLst/>
          </a:prstGeom>
          <a:noFill/>
        </p:spPr>
        <p:txBody>
          <a:bodyPr vert="horz" wrap="square" rtlCol="0" anchor="t">
            <a:noAutofit/>
          </a:bodyPr>
          <a:lstStyle/>
          <a:p>
            <a:r>
              <a:rPr lang="sv-SE" b="1">
                <a:solidFill>
                  <a:srgbClr val="2B2B2B"/>
                </a:solidFill>
              </a:rPr>
              <a:t>Skalning</a:t>
            </a:r>
          </a:p>
        </p:txBody>
      </p:sp>
      <p:sp>
        <p:nvSpPr>
          <p:cNvPr id="19" name="textruta 18">
            <a:extLst>
              <a:ext uri="{FF2B5EF4-FFF2-40B4-BE49-F238E27FC236}">
                <a16:creationId xmlns:a16="http://schemas.microsoft.com/office/drawing/2014/main" id="{2F14CE00-73F6-E61C-7F83-B00C576C67E6}"/>
              </a:ext>
            </a:extLst>
          </p:cNvPr>
          <p:cNvSpPr txBox="1"/>
          <p:nvPr/>
        </p:nvSpPr>
        <p:spPr>
          <a:xfrm>
            <a:off x="8343900" y="4292600"/>
            <a:ext cx="3175000" cy="369332"/>
          </a:xfrm>
          <a:prstGeom prst="rect">
            <a:avLst/>
          </a:prstGeom>
          <a:noFill/>
        </p:spPr>
        <p:txBody>
          <a:bodyPr vert="horz" wrap="square" rtlCol="0" anchor="t">
            <a:noAutofit/>
          </a:bodyPr>
          <a:lstStyle/>
          <a:p>
            <a:pPr marL="228600" indent="-228600">
              <a:spcAft>
                <a:spcPts val="400"/>
              </a:spcAft>
              <a:buClr>
                <a:srgbClr val="D95818"/>
              </a:buClr>
              <a:buFont typeface="+mj-lt"/>
              <a:buChar char="•"/>
            </a:pPr>
            <a:r>
              <a:rPr lang="sv-SE" sz="1200">
                <a:solidFill>
                  <a:srgbClr val="4A4A4A"/>
                </a:solidFill>
              </a:rPr>
              <a:t>Rulla ut fler use cases</a:t>
            </a:r>
          </a:p>
          <a:p>
            <a:pPr marL="228600" indent="-228600">
              <a:spcAft>
                <a:spcPts val="400"/>
              </a:spcAft>
              <a:buClr>
                <a:srgbClr val="D95818"/>
              </a:buClr>
              <a:buFont typeface="+mj-lt"/>
              <a:buChar char="•"/>
            </a:pPr>
            <a:r>
              <a:rPr lang="sv-SE" sz="1200">
                <a:solidFill>
                  <a:srgbClr val="4A4A4A"/>
                </a:solidFill>
              </a:rPr>
              <a:t>Bygga intern AI-kompetens</a:t>
            </a:r>
          </a:p>
          <a:p>
            <a:pPr marL="228600" indent="-228600">
              <a:spcAft>
                <a:spcPts val="400"/>
              </a:spcAft>
              <a:buClr>
                <a:srgbClr val="D95818"/>
              </a:buClr>
              <a:buFont typeface="+mj-lt"/>
              <a:buChar char="•"/>
            </a:pPr>
            <a:r>
              <a:rPr lang="sv-SE" sz="1200">
                <a:solidFill>
                  <a:srgbClr val="4A4A4A"/>
                </a:solidFill>
              </a:rPr>
              <a:t>Löpande partnerskap</a:t>
            </a:r>
          </a:p>
          <a:p>
            <a:pPr marL="228600" indent="-228600">
              <a:spcAft>
                <a:spcPts val="400"/>
              </a:spcAft>
              <a:buClr>
                <a:srgbClr val="D95818"/>
              </a:buClr>
              <a:buFont typeface="+mj-lt"/>
              <a:buChar char="•"/>
            </a:pPr>
            <a:r>
              <a:rPr lang="sv-SE" sz="1200">
                <a:solidFill>
                  <a:srgbClr val="4A4A4A"/>
                </a:solidFill>
              </a:rPr>
              <a:t>Kontinuerlig optimering</a:t>
            </a:r>
          </a:p>
        </p:txBody>
      </p:sp>
    </p:spTree>
    <p:extLst>
      <p:ext uri="{BB962C8B-B14F-4D97-AF65-F5344CB8AC3E}">
        <p14:creationId xmlns:p14="http://schemas.microsoft.com/office/powerpoint/2010/main" val="359215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extruta 1">
            <a:extLst>
              <a:ext uri="{FF2B5EF4-FFF2-40B4-BE49-F238E27FC236}">
                <a16:creationId xmlns:a16="http://schemas.microsoft.com/office/drawing/2014/main" id="{89233F77-C146-6B8B-711F-94CCAA575975}"/>
              </a:ext>
            </a:extLst>
          </p:cNvPr>
          <p:cNvSpPr txBox="1"/>
          <p:nvPr/>
        </p:nvSpPr>
        <p:spPr>
          <a:xfrm>
            <a:off x="571500" y="317500"/>
            <a:ext cx="11049000" cy="369332"/>
          </a:xfrm>
          <a:prstGeom prst="rect">
            <a:avLst/>
          </a:prstGeom>
          <a:noFill/>
        </p:spPr>
        <p:txBody>
          <a:bodyPr vert="horz" wrap="square" rtlCol="0" anchor="t">
            <a:noAutofit/>
          </a:bodyPr>
          <a:lstStyle/>
          <a:p>
            <a:r>
              <a:rPr lang="sv-SE" sz="3000" b="1">
                <a:solidFill>
                  <a:srgbClr val="2B2B2B"/>
                </a:solidFill>
              </a:rPr>
              <a:t>Vad ni kan förvänta er</a:t>
            </a:r>
          </a:p>
        </p:txBody>
      </p:sp>
      <p:sp>
        <p:nvSpPr>
          <p:cNvPr id="3" name="Rektangel 2">
            <a:extLst>
              <a:ext uri="{FF2B5EF4-FFF2-40B4-BE49-F238E27FC236}">
                <a16:creationId xmlns:a16="http://schemas.microsoft.com/office/drawing/2014/main" id="{677E24D8-2B49-5162-1EF9-26C123AE0F20}"/>
              </a:ext>
            </a:extLst>
          </p:cNvPr>
          <p:cNvSpPr/>
          <p:nvPr/>
        </p:nvSpPr>
        <p:spPr>
          <a:xfrm>
            <a:off x="571500" y="1270000"/>
            <a:ext cx="3492500" cy="1841500"/>
          </a:xfrm>
          <a:prstGeom prst="rect">
            <a:avLst/>
          </a:prstGeom>
          <a:solidFill>
            <a:srgbClr val="FFF2D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 name="textruta 3">
            <a:extLst>
              <a:ext uri="{FF2B5EF4-FFF2-40B4-BE49-F238E27FC236}">
                <a16:creationId xmlns:a16="http://schemas.microsoft.com/office/drawing/2014/main" id="{3729B441-9378-8060-938E-9DF21634DC14}"/>
              </a:ext>
            </a:extLst>
          </p:cNvPr>
          <p:cNvSpPr txBox="1"/>
          <p:nvPr/>
        </p:nvSpPr>
        <p:spPr>
          <a:xfrm>
            <a:off x="571500" y="1371600"/>
            <a:ext cx="3492500" cy="369332"/>
          </a:xfrm>
          <a:prstGeom prst="rect">
            <a:avLst/>
          </a:prstGeom>
          <a:noFill/>
        </p:spPr>
        <p:txBody>
          <a:bodyPr vert="horz" wrap="square" rtlCol="0" anchor="t">
            <a:noAutofit/>
          </a:bodyPr>
          <a:lstStyle/>
          <a:p>
            <a:pPr algn="ctr"/>
            <a:r>
              <a:rPr lang="sv-SE" sz="2600" b="1">
                <a:solidFill>
                  <a:srgbClr val="D95818"/>
                </a:solidFill>
              </a:rPr>
              <a:t>3–6 mån</a:t>
            </a:r>
          </a:p>
        </p:txBody>
      </p:sp>
      <p:sp>
        <p:nvSpPr>
          <p:cNvPr id="5" name="textruta 4">
            <a:extLst>
              <a:ext uri="{FF2B5EF4-FFF2-40B4-BE49-F238E27FC236}">
                <a16:creationId xmlns:a16="http://schemas.microsoft.com/office/drawing/2014/main" id="{AB12D63F-C2DB-2D7A-4EE2-FB69E0022E06}"/>
              </a:ext>
            </a:extLst>
          </p:cNvPr>
          <p:cNvSpPr txBox="1"/>
          <p:nvPr/>
        </p:nvSpPr>
        <p:spPr>
          <a:xfrm>
            <a:off x="698500" y="2260600"/>
            <a:ext cx="3238500" cy="369332"/>
          </a:xfrm>
          <a:prstGeom prst="rect">
            <a:avLst/>
          </a:prstGeom>
          <a:noFill/>
        </p:spPr>
        <p:txBody>
          <a:bodyPr vert="horz" wrap="square" rtlCol="0" anchor="t">
            <a:noAutofit/>
          </a:bodyPr>
          <a:lstStyle/>
          <a:p>
            <a:pPr algn="ctr"/>
            <a:r>
              <a:rPr lang="sv-SE" sz="1100">
                <a:solidFill>
                  <a:srgbClr val="2B2B2B"/>
                </a:solidFill>
              </a:rPr>
              <a:t>till mätbara resultat från piloten</a:t>
            </a:r>
          </a:p>
        </p:txBody>
      </p:sp>
      <p:sp>
        <p:nvSpPr>
          <p:cNvPr id="6" name="Rektangel 5">
            <a:extLst>
              <a:ext uri="{FF2B5EF4-FFF2-40B4-BE49-F238E27FC236}">
                <a16:creationId xmlns:a16="http://schemas.microsoft.com/office/drawing/2014/main" id="{C53FFEC6-4A27-5E28-930F-B1C3FB5062ED}"/>
              </a:ext>
            </a:extLst>
          </p:cNvPr>
          <p:cNvSpPr/>
          <p:nvPr/>
        </p:nvSpPr>
        <p:spPr>
          <a:xfrm>
            <a:off x="4381500" y="1270000"/>
            <a:ext cx="3492500" cy="1841500"/>
          </a:xfrm>
          <a:prstGeom prst="rect">
            <a:avLst/>
          </a:prstGeom>
          <a:solidFill>
            <a:srgbClr val="FFF2D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 name="textruta 6">
            <a:extLst>
              <a:ext uri="{FF2B5EF4-FFF2-40B4-BE49-F238E27FC236}">
                <a16:creationId xmlns:a16="http://schemas.microsoft.com/office/drawing/2014/main" id="{39ECE559-5487-69A1-DE92-0802F57336A2}"/>
              </a:ext>
            </a:extLst>
          </p:cNvPr>
          <p:cNvSpPr txBox="1"/>
          <p:nvPr/>
        </p:nvSpPr>
        <p:spPr>
          <a:xfrm>
            <a:off x="4381500" y="1371600"/>
            <a:ext cx="3492500" cy="369332"/>
          </a:xfrm>
          <a:prstGeom prst="rect">
            <a:avLst/>
          </a:prstGeom>
          <a:noFill/>
        </p:spPr>
        <p:txBody>
          <a:bodyPr vert="horz" wrap="square" rtlCol="0" anchor="t">
            <a:noAutofit/>
          </a:bodyPr>
          <a:lstStyle/>
          <a:p>
            <a:pPr algn="ctr"/>
            <a:r>
              <a:rPr lang="sv-SE" sz="2600" b="1">
                <a:solidFill>
                  <a:srgbClr val="D95818"/>
                </a:solidFill>
              </a:rPr>
              <a:t>20–40%</a:t>
            </a:r>
          </a:p>
        </p:txBody>
      </p:sp>
      <p:sp>
        <p:nvSpPr>
          <p:cNvPr id="8" name="textruta 7">
            <a:extLst>
              <a:ext uri="{FF2B5EF4-FFF2-40B4-BE49-F238E27FC236}">
                <a16:creationId xmlns:a16="http://schemas.microsoft.com/office/drawing/2014/main" id="{8B2F7595-0545-F4B1-4D10-DE1882AF2674}"/>
              </a:ext>
            </a:extLst>
          </p:cNvPr>
          <p:cNvSpPr txBox="1"/>
          <p:nvPr/>
        </p:nvSpPr>
        <p:spPr>
          <a:xfrm>
            <a:off x="4508500" y="2260600"/>
            <a:ext cx="3238500" cy="369332"/>
          </a:xfrm>
          <a:prstGeom prst="rect">
            <a:avLst/>
          </a:prstGeom>
          <a:noFill/>
        </p:spPr>
        <p:txBody>
          <a:bodyPr vert="horz" wrap="square" rtlCol="0" anchor="t">
            <a:noAutofit/>
          </a:bodyPr>
          <a:lstStyle/>
          <a:p>
            <a:pPr algn="ctr"/>
            <a:r>
              <a:rPr lang="sv-SE" sz="1100">
                <a:solidFill>
                  <a:srgbClr val="2B2B2B"/>
                </a:solidFill>
              </a:rPr>
              <a:t>effektivitetsökning i automatiserade processer</a:t>
            </a:r>
          </a:p>
        </p:txBody>
      </p:sp>
      <p:sp>
        <p:nvSpPr>
          <p:cNvPr id="9" name="Rektangel 8">
            <a:extLst>
              <a:ext uri="{FF2B5EF4-FFF2-40B4-BE49-F238E27FC236}">
                <a16:creationId xmlns:a16="http://schemas.microsoft.com/office/drawing/2014/main" id="{5BA32631-E80E-9A3C-398A-E9057CA0E36C}"/>
              </a:ext>
            </a:extLst>
          </p:cNvPr>
          <p:cNvSpPr/>
          <p:nvPr/>
        </p:nvSpPr>
        <p:spPr>
          <a:xfrm>
            <a:off x="8191500" y="1270000"/>
            <a:ext cx="3492500" cy="1841500"/>
          </a:xfrm>
          <a:prstGeom prst="rect">
            <a:avLst/>
          </a:prstGeom>
          <a:solidFill>
            <a:srgbClr val="FFF2D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textruta 9">
            <a:extLst>
              <a:ext uri="{FF2B5EF4-FFF2-40B4-BE49-F238E27FC236}">
                <a16:creationId xmlns:a16="http://schemas.microsoft.com/office/drawing/2014/main" id="{ED9914B7-7352-6F46-91E2-87CE8D51E546}"/>
              </a:ext>
            </a:extLst>
          </p:cNvPr>
          <p:cNvSpPr txBox="1"/>
          <p:nvPr/>
        </p:nvSpPr>
        <p:spPr>
          <a:xfrm>
            <a:off x="8191500" y="1371600"/>
            <a:ext cx="3492500" cy="369332"/>
          </a:xfrm>
          <a:prstGeom prst="rect">
            <a:avLst/>
          </a:prstGeom>
          <a:noFill/>
        </p:spPr>
        <p:txBody>
          <a:bodyPr vert="horz" wrap="square" rtlCol="0" anchor="t">
            <a:noAutofit/>
          </a:bodyPr>
          <a:lstStyle/>
          <a:p>
            <a:pPr algn="ctr"/>
            <a:r>
              <a:rPr lang="sv-SE" sz="2600" b="1">
                <a:solidFill>
                  <a:srgbClr val="D95818"/>
                </a:solidFill>
              </a:rPr>
              <a:t>100%</a:t>
            </a:r>
          </a:p>
        </p:txBody>
      </p:sp>
      <p:sp>
        <p:nvSpPr>
          <p:cNvPr id="11" name="textruta 10">
            <a:extLst>
              <a:ext uri="{FF2B5EF4-FFF2-40B4-BE49-F238E27FC236}">
                <a16:creationId xmlns:a16="http://schemas.microsoft.com/office/drawing/2014/main" id="{DB7A7262-E894-6725-C96C-68A41914FB5B}"/>
              </a:ext>
            </a:extLst>
          </p:cNvPr>
          <p:cNvSpPr txBox="1"/>
          <p:nvPr/>
        </p:nvSpPr>
        <p:spPr>
          <a:xfrm>
            <a:off x="8318500" y="2260600"/>
            <a:ext cx="3238500" cy="369332"/>
          </a:xfrm>
          <a:prstGeom prst="rect">
            <a:avLst/>
          </a:prstGeom>
          <a:noFill/>
        </p:spPr>
        <p:txBody>
          <a:bodyPr vert="horz" wrap="square" rtlCol="0" anchor="t">
            <a:noAutofit/>
          </a:bodyPr>
          <a:lstStyle/>
          <a:p>
            <a:pPr algn="ctr"/>
            <a:r>
              <a:rPr lang="sv-SE" sz="1100">
                <a:solidFill>
                  <a:srgbClr val="2B2B2B"/>
                </a:solidFill>
              </a:rPr>
              <a:t>transparens och kontroll under hela resan</a:t>
            </a:r>
          </a:p>
        </p:txBody>
      </p:sp>
      <p:sp>
        <p:nvSpPr>
          <p:cNvPr id="12" name="textruta 11">
            <a:extLst>
              <a:ext uri="{FF2B5EF4-FFF2-40B4-BE49-F238E27FC236}">
                <a16:creationId xmlns:a16="http://schemas.microsoft.com/office/drawing/2014/main" id="{4BFF55A2-9ECD-3587-0DF7-D5E54BC7077C}"/>
              </a:ext>
            </a:extLst>
          </p:cNvPr>
          <p:cNvSpPr txBox="1"/>
          <p:nvPr/>
        </p:nvSpPr>
        <p:spPr>
          <a:xfrm>
            <a:off x="571500" y="3403600"/>
            <a:ext cx="5270500" cy="369332"/>
          </a:xfrm>
          <a:prstGeom prst="rect">
            <a:avLst/>
          </a:prstGeom>
          <a:noFill/>
        </p:spPr>
        <p:txBody>
          <a:bodyPr vert="horz" wrap="square" rtlCol="0" anchor="t">
            <a:noAutofit/>
          </a:bodyPr>
          <a:lstStyle/>
          <a:p>
            <a:r>
              <a:rPr lang="sv-SE" sz="1600" b="1">
                <a:solidFill>
                  <a:srgbClr val="2B2B2B"/>
                </a:solidFill>
              </a:rPr>
              <a:t>Vad ingår i samarbetet:</a:t>
            </a:r>
          </a:p>
        </p:txBody>
      </p:sp>
      <p:sp>
        <p:nvSpPr>
          <p:cNvPr id="13" name="textruta 12">
            <a:extLst>
              <a:ext uri="{FF2B5EF4-FFF2-40B4-BE49-F238E27FC236}">
                <a16:creationId xmlns:a16="http://schemas.microsoft.com/office/drawing/2014/main" id="{BA396E60-D2DA-7B13-4EBA-1794650B3008}"/>
              </a:ext>
            </a:extLst>
          </p:cNvPr>
          <p:cNvSpPr txBox="1"/>
          <p:nvPr/>
        </p:nvSpPr>
        <p:spPr>
          <a:xfrm>
            <a:off x="571500" y="3911600"/>
            <a:ext cx="5270500" cy="369332"/>
          </a:xfrm>
          <a:prstGeom prst="rect">
            <a:avLst/>
          </a:prstGeom>
          <a:noFill/>
        </p:spPr>
        <p:txBody>
          <a:bodyPr vert="horz" wrap="square" rtlCol="0" anchor="t">
            <a:noAutofit/>
          </a:bodyPr>
          <a:lstStyle/>
          <a:p>
            <a:pPr marL="342900" indent="-342900">
              <a:spcAft>
                <a:spcPts val="1000"/>
              </a:spcAft>
              <a:buClr>
                <a:srgbClr val="D95818"/>
              </a:buClr>
              <a:buFont typeface="+mj-lt"/>
              <a:buChar char="•"/>
            </a:pPr>
            <a:r>
              <a:rPr lang="sv-SE" sz="1400">
                <a:solidFill>
                  <a:srgbClr val="4A4A4A"/>
                </a:solidFill>
              </a:rPr>
              <a:t>En dedikerad AI-konsult som känner er verksamhet</a:t>
            </a:r>
          </a:p>
          <a:p>
            <a:pPr marL="342900" indent="-342900">
              <a:spcAft>
                <a:spcPts val="1000"/>
              </a:spcAft>
              <a:buClr>
                <a:srgbClr val="D95818"/>
              </a:buClr>
              <a:buFont typeface="+mj-lt"/>
              <a:buChar char="•"/>
            </a:pPr>
            <a:r>
              <a:rPr lang="sv-SE" sz="1400">
                <a:solidFill>
                  <a:srgbClr val="4A4A4A"/>
                </a:solidFill>
              </a:rPr>
              <a:t>Tydlig roadmap med prioriterade use cases</a:t>
            </a:r>
          </a:p>
          <a:p>
            <a:pPr marL="342900" indent="-342900">
              <a:spcAft>
                <a:spcPts val="1000"/>
              </a:spcAft>
              <a:buClr>
                <a:srgbClr val="D95818"/>
              </a:buClr>
              <a:buFont typeface="+mj-lt"/>
              <a:buChar char="•"/>
            </a:pPr>
            <a:r>
              <a:rPr lang="sv-SE" sz="1400">
                <a:solidFill>
                  <a:srgbClr val="4A4A4A"/>
                </a:solidFill>
              </a:rPr>
              <a:t>Implementering och utbildning i er organisation</a:t>
            </a:r>
          </a:p>
          <a:p>
            <a:pPr marL="342900" indent="-342900">
              <a:spcAft>
                <a:spcPts val="1000"/>
              </a:spcAft>
              <a:buClr>
                <a:srgbClr val="D95818"/>
              </a:buClr>
              <a:buFont typeface="+mj-lt"/>
              <a:buChar char="•"/>
            </a:pPr>
            <a:r>
              <a:rPr lang="sv-SE" sz="1400">
                <a:solidFill>
                  <a:srgbClr val="4A4A4A"/>
                </a:solidFill>
              </a:rPr>
              <a:t>Löpande mätning och rapportering av resultat</a:t>
            </a:r>
          </a:p>
        </p:txBody>
      </p:sp>
      <p:sp>
        <p:nvSpPr>
          <p:cNvPr id="14" name="Rektangel 13">
            <a:extLst>
              <a:ext uri="{FF2B5EF4-FFF2-40B4-BE49-F238E27FC236}">
                <a16:creationId xmlns:a16="http://schemas.microsoft.com/office/drawing/2014/main" id="{8D31A3C3-EE94-70BA-868D-CA8BBD168658}"/>
              </a:ext>
            </a:extLst>
          </p:cNvPr>
          <p:cNvSpPr/>
          <p:nvPr/>
        </p:nvSpPr>
        <p:spPr>
          <a:xfrm>
            <a:off x="6286500" y="3403600"/>
            <a:ext cx="5334000" cy="3048000"/>
          </a:xfrm>
          <a:prstGeom prst="rect">
            <a:avLst/>
          </a:prstGeom>
          <a:solidFill>
            <a:srgbClr val="2B2B2B"/>
          </a:solidFill>
          <a:ln w="19050" cap="flat" cmpd="sng" algn="ctr">
            <a:noFill/>
            <a:prstDash val="solid"/>
            <a:miter lim="800000"/>
          </a:ln>
          <a:effectLst>
            <a:prstShdw prst="shdw1" dist="53881" dir="2700003">
              <a:srgbClr val="000000">
                <a:alpha val="15000"/>
              </a:srgbClr>
            </a:prstShdw>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textruta 14">
            <a:extLst>
              <a:ext uri="{FF2B5EF4-FFF2-40B4-BE49-F238E27FC236}">
                <a16:creationId xmlns:a16="http://schemas.microsoft.com/office/drawing/2014/main" id="{97E5C02A-72BF-1975-D6AD-2E5F110A8AEB}"/>
              </a:ext>
            </a:extLst>
          </p:cNvPr>
          <p:cNvSpPr txBox="1"/>
          <p:nvPr/>
        </p:nvSpPr>
        <p:spPr>
          <a:xfrm>
            <a:off x="6540500" y="3556000"/>
            <a:ext cx="4826000" cy="369332"/>
          </a:xfrm>
          <a:prstGeom prst="rect">
            <a:avLst/>
          </a:prstGeom>
          <a:noFill/>
        </p:spPr>
        <p:txBody>
          <a:bodyPr vert="horz" wrap="square" rtlCol="0" anchor="t">
            <a:noAutofit/>
          </a:bodyPr>
          <a:lstStyle/>
          <a:p>
            <a:r>
              <a:rPr lang="sv-SE" sz="1500" i="1">
                <a:solidFill>
                  <a:srgbClr val="FFFFFF"/>
                </a:solidFill>
              </a:rPr>
              <a:t>"De flesta företag har börjat använda AI – men väldigt få har omvandlat det till verklig affärsnytta."</a:t>
            </a:r>
          </a:p>
        </p:txBody>
      </p:sp>
      <p:sp>
        <p:nvSpPr>
          <p:cNvPr id="16" name="textruta 15">
            <a:extLst>
              <a:ext uri="{FF2B5EF4-FFF2-40B4-BE49-F238E27FC236}">
                <a16:creationId xmlns:a16="http://schemas.microsoft.com/office/drawing/2014/main" id="{EBD51F15-C3A1-9F3E-000B-050B210A88D8}"/>
              </a:ext>
            </a:extLst>
          </p:cNvPr>
          <p:cNvSpPr txBox="1"/>
          <p:nvPr/>
        </p:nvSpPr>
        <p:spPr>
          <a:xfrm>
            <a:off x="6540500" y="5816600"/>
            <a:ext cx="4826000" cy="381000"/>
          </a:xfrm>
          <a:prstGeom prst="rect">
            <a:avLst/>
          </a:prstGeom>
          <a:noFill/>
        </p:spPr>
        <p:txBody>
          <a:bodyPr vert="horz" wrap="square" rtlCol="0" anchor="t">
            <a:noAutofit/>
          </a:bodyPr>
          <a:lstStyle/>
          <a:p>
            <a:r>
              <a:rPr lang="sv-SE" sz="1200" b="1">
                <a:solidFill>
                  <a:srgbClr val="D95818"/>
                </a:solidFill>
              </a:rPr>
              <a:t>– INKA AI Labs</a:t>
            </a:r>
          </a:p>
        </p:txBody>
      </p:sp>
    </p:spTree>
    <p:extLst>
      <p:ext uri="{BB962C8B-B14F-4D97-AF65-F5344CB8AC3E}">
        <p14:creationId xmlns:p14="http://schemas.microsoft.com/office/powerpoint/2010/main" val="1133839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78CE5B27-D2AF-7EA3-F1BB-55AD74B20F17}"/>
              </a:ext>
            </a:extLst>
          </p:cNvPr>
          <p:cNvSpPr/>
          <p:nvPr/>
        </p:nvSpPr>
        <p:spPr>
          <a:xfrm>
            <a:off x="0" y="0"/>
            <a:ext cx="139700" cy="6858000"/>
          </a:xfrm>
          <a:prstGeom prst="rect">
            <a:avLst/>
          </a:prstGeom>
          <a:solidFill>
            <a:srgbClr val="D9581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ruta 2">
            <a:extLst>
              <a:ext uri="{FF2B5EF4-FFF2-40B4-BE49-F238E27FC236}">
                <a16:creationId xmlns:a16="http://schemas.microsoft.com/office/drawing/2014/main" id="{587F2EC1-05B9-5885-E18E-EBA34EF8B6E0}"/>
              </a:ext>
            </a:extLst>
          </p:cNvPr>
          <p:cNvSpPr txBox="1"/>
          <p:nvPr/>
        </p:nvSpPr>
        <p:spPr>
          <a:xfrm>
            <a:off x="381000" y="355600"/>
            <a:ext cx="11430000" cy="369332"/>
          </a:xfrm>
          <a:prstGeom prst="rect">
            <a:avLst/>
          </a:prstGeom>
          <a:noFill/>
        </p:spPr>
        <p:txBody>
          <a:bodyPr vert="horz" wrap="square" rtlCol="0" anchor="t">
            <a:noAutofit/>
          </a:bodyPr>
          <a:lstStyle/>
          <a:p>
            <a:r>
              <a:rPr lang="sv-SE" sz="3600" b="1">
                <a:solidFill>
                  <a:srgbClr val="FFFFFF"/>
                </a:solidFill>
              </a:rPr>
              <a:t>Nästa steg</a:t>
            </a:r>
          </a:p>
        </p:txBody>
      </p:sp>
      <p:sp>
        <p:nvSpPr>
          <p:cNvPr id="4" name="textruta 3">
            <a:extLst>
              <a:ext uri="{FF2B5EF4-FFF2-40B4-BE49-F238E27FC236}">
                <a16:creationId xmlns:a16="http://schemas.microsoft.com/office/drawing/2014/main" id="{D64F5C93-E46F-CF79-A80A-C6C9222ABE98}"/>
              </a:ext>
            </a:extLst>
          </p:cNvPr>
          <p:cNvSpPr txBox="1"/>
          <p:nvPr/>
        </p:nvSpPr>
        <p:spPr>
          <a:xfrm>
            <a:off x="381000" y="1143000"/>
            <a:ext cx="9525000" cy="369332"/>
          </a:xfrm>
          <a:prstGeom prst="rect">
            <a:avLst/>
          </a:prstGeom>
          <a:noFill/>
        </p:spPr>
        <p:txBody>
          <a:bodyPr vert="horz" wrap="square" rtlCol="0" anchor="t">
            <a:noAutofit/>
          </a:bodyPr>
          <a:lstStyle/>
          <a:p>
            <a:r>
              <a:rPr lang="sv-SE" sz="1500" i="1">
                <a:solidFill>
                  <a:srgbClr val="909090"/>
                </a:solidFill>
              </a:rPr>
              <a:t>Vad händer om vi bestämmer oss för att gå vidare?</a:t>
            </a:r>
          </a:p>
        </p:txBody>
      </p:sp>
      <p:sp>
        <p:nvSpPr>
          <p:cNvPr id="5" name="Rektangel 4">
            <a:extLst>
              <a:ext uri="{FF2B5EF4-FFF2-40B4-BE49-F238E27FC236}">
                <a16:creationId xmlns:a16="http://schemas.microsoft.com/office/drawing/2014/main" id="{F6D9F42F-C6E3-BD9C-F466-41B4B9BDBD99}"/>
              </a:ext>
            </a:extLst>
          </p:cNvPr>
          <p:cNvSpPr/>
          <p:nvPr/>
        </p:nvSpPr>
        <p:spPr>
          <a:xfrm>
            <a:off x="381000" y="1879600"/>
            <a:ext cx="660400" cy="660400"/>
          </a:xfrm>
          <a:prstGeom prst="rect">
            <a:avLst/>
          </a:prstGeom>
          <a:solidFill>
            <a:srgbClr val="D9581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ruta 5">
            <a:extLst>
              <a:ext uri="{FF2B5EF4-FFF2-40B4-BE49-F238E27FC236}">
                <a16:creationId xmlns:a16="http://schemas.microsoft.com/office/drawing/2014/main" id="{C9FEC7B6-5A75-3A39-F31F-F07CFA1CCFED}"/>
              </a:ext>
            </a:extLst>
          </p:cNvPr>
          <p:cNvSpPr txBox="1"/>
          <p:nvPr/>
        </p:nvSpPr>
        <p:spPr>
          <a:xfrm>
            <a:off x="381000" y="1879600"/>
            <a:ext cx="660400" cy="369332"/>
          </a:xfrm>
          <a:prstGeom prst="rect">
            <a:avLst/>
          </a:prstGeom>
          <a:noFill/>
        </p:spPr>
        <p:txBody>
          <a:bodyPr vert="horz" wrap="square" rtlCol="0" anchor="ctr">
            <a:noAutofit/>
          </a:bodyPr>
          <a:lstStyle/>
          <a:p>
            <a:pPr algn="ctr"/>
            <a:r>
              <a:rPr lang="sv-SE" sz="1600" b="1">
                <a:solidFill>
                  <a:srgbClr val="FFFFFF"/>
                </a:solidFill>
              </a:rPr>
              <a:t>01</a:t>
            </a:r>
          </a:p>
        </p:txBody>
      </p:sp>
      <p:sp>
        <p:nvSpPr>
          <p:cNvPr id="7" name="textruta 6">
            <a:extLst>
              <a:ext uri="{FF2B5EF4-FFF2-40B4-BE49-F238E27FC236}">
                <a16:creationId xmlns:a16="http://schemas.microsoft.com/office/drawing/2014/main" id="{5CFE5744-DF29-E311-FF6E-B7CA1F0CB536}"/>
              </a:ext>
            </a:extLst>
          </p:cNvPr>
          <p:cNvSpPr txBox="1"/>
          <p:nvPr/>
        </p:nvSpPr>
        <p:spPr>
          <a:xfrm>
            <a:off x="1206500" y="1955800"/>
            <a:ext cx="10541000" cy="369332"/>
          </a:xfrm>
          <a:prstGeom prst="rect">
            <a:avLst/>
          </a:prstGeom>
          <a:noFill/>
        </p:spPr>
        <p:txBody>
          <a:bodyPr vert="horz" wrap="square" rtlCol="0" anchor="ctr">
            <a:noAutofit/>
          </a:bodyPr>
          <a:lstStyle/>
          <a:p>
            <a:r>
              <a:rPr lang="sv-SE" sz="1500">
                <a:solidFill>
                  <a:srgbClr val="FFFFFF"/>
                </a:solidFill>
              </a:rPr>
              <a:t>Ni bekräftar intresset och vi bokar ett uppstartsmöte (ca 2 timmar)</a:t>
            </a:r>
          </a:p>
        </p:txBody>
      </p:sp>
      <p:sp>
        <p:nvSpPr>
          <p:cNvPr id="8" name="Rektangel 7">
            <a:extLst>
              <a:ext uri="{FF2B5EF4-FFF2-40B4-BE49-F238E27FC236}">
                <a16:creationId xmlns:a16="http://schemas.microsoft.com/office/drawing/2014/main" id="{19320C08-6880-8C66-1067-C639B4B3052B}"/>
              </a:ext>
            </a:extLst>
          </p:cNvPr>
          <p:cNvSpPr/>
          <p:nvPr/>
        </p:nvSpPr>
        <p:spPr>
          <a:xfrm>
            <a:off x="381000" y="2997200"/>
            <a:ext cx="660400" cy="660400"/>
          </a:xfrm>
          <a:prstGeom prst="rect">
            <a:avLst/>
          </a:prstGeom>
          <a:solidFill>
            <a:srgbClr val="D9581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 name="textruta 8">
            <a:extLst>
              <a:ext uri="{FF2B5EF4-FFF2-40B4-BE49-F238E27FC236}">
                <a16:creationId xmlns:a16="http://schemas.microsoft.com/office/drawing/2014/main" id="{6EA764ED-796F-7F03-1BF2-EF0FDD347D1B}"/>
              </a:ext>
            </a:extLst>
          </p:cNvPr>
          <p:cNvSpPr txBox="1"/>
          <p:nvPr/>
        </p:nvSpPr>
        <p:spPr>
          <a:xfrm>
            <a:off x="381000" y="2997200"/>
            <a:ext cx="660400" cy="369332"/>
          </a:xfrm>
          <a:prstGeom prst="rect">
            <a:avLst/>
          </a:prstGeom>
          <a:noFill/>
        </p:spPr>
        <p:txBody>
          <a:bodyPr vert="horz" wrap="square" rtlCol="0" anchor="ctr">
            <a:noAutofit/>
          </a:bodyPr>
          <a:lstStyle/>
          <a:p>
            <a:pPr algn="ctr"/>
            <a:r>
              <a:rPr lang="sv-SE" sz="1600" b="1">
                <a:solidFill>
                  <a:srgbClr val="FFFFFF"/>
                </a:solidFill>
              </a:rPr>
              <a:t>02</a:t>
            </a:r>
          </a:p>
        </p:txBody>
      </p:sp>
      <p:sp>
        <p:nvSpPr>
          <p:cNvPr id="10" name="textruta 9">
            <a:extLst>
              <a:ext uri="{FF2B5EF4-FFF2-40B4-BE49-F238E27FC236}">
                <a16:creationId xmlns:a16="http://schemas.microsoft.com/office/drawing/2014/main" id="{23E0E395-40FE-D5F3-BE57-969A863947C3}"/>
              </a:ext>
            </a:extLst>
          </p:cNvPr>
          <p:cNvSpPr txBox="1"/>
          <p:nvPr/>
        </p:nvSpPr>
        <p:spPr>
          <a:xfrm>
            <a:off x="1206500" y="3073400"/>
            <a:ext cx="10541000" cy="369332"/>
          </a:xfrm>
          <a:prstGeom prst="rect">
            <a:avLst/>
          </a:prstGeom>
          <a:noFill/>
        </p:spPr>
        <p:txBody>
          <a:bodyPr vert="horz" wrap="square" rtlCol="0" anchor="ctr">
            <a:noAutofit/>
          </a:bodyPr>
          <a:lstStyle/>
          <a:p>
            <a:r>
              <a:rPr lang="sv-SE" sz="1500">
                <a:solidFill>
                  <a:srgbClr val="FFFFFF"/>
                </a:solidFill>
              </a:rPr>
              <a:t>Vi skickar en enkel behovsanalys som ni fyller i inför mötet</a:t>
            </a:r>
          </a:p>
        </p:txBody>
      </p:sp>
      <p:sp>
        <p:nvSpPr>
          <p:cNvPr id="11" name="Rektangel 10">
            <a:extLst>
              <a:ext uri="{FF2B5EF4-FFF2-40B4-BE49-F238E27FC236}">
                <a16:creationId xmlns:a16="http://schemas.microsoft.com/office/drawing/2014/main" id="{34160916-9AB4-5D82-B310-CBCEFE0C55A8}"/>
              </a:ext>
            </a:extLst>
          </p:cNvPr>
          <p:cNvSpPr/>
          <p:nvPr/>
        </p:nvSpPr>
        <p:spPr>
          <a:xfrm>
            <a:off x="381000" y="4114800"/>
            <a:ext cx="660400" cy="660400"/>
          </a:xfrm>
          <a:prstGeom prst="rect">
            <a:avLst/>
          </a:prstGeom>
          <a:solidFill>
            <a:srgbClr val="D9581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textruta 11">
            <a:extLst>
              <a:ext uri="{FF2B5EF4-FFF2-40B4-BE49-F238E27FC236}">
                <a16:creationId xmlns:a16="http://schemas.microsoft.com/office/drawing/2014/main" id="{0BB27743-2EEF-3B3D-23F3-424F1CBA56CA}"/>
              </a:ext>
            </a:extLst>
          </p:cNvPr>
          <p:cNvSpPr txBox="1"/>
          <p:nvPr/>
        </p:nvSpPr>
        <p:spPr>
          <a:xfrm>
            <a:off x="381000" y="4114800"/>
            <a:ext cx="660400" cy="369332"/>
          </a:xfrm>
          <a:prstGeom prst="rect">
            <a:avLst/>
          </a:prstGeom>
          <a:noFill/>
        </p:spPr>
        <p:txBody>
          <a:bodyPr vert="horz" wrap="square" rtlCol="0" anchor="ctr">
            <a:noAutofit/>
          </a:bodyPr>
          <a:lstStyle/>
          <a:p>
            <a:pPr algn="ctr"/>
            <a:r>
              <a:rPr lang="sv-SE" sz="1600" b="1">
                <a:solidFill>
                  <a:srgbClr val="FFFFFF"/>
                </a:solidFill>
              </a:rPr>
              <a:t>03</a:t>
            </a:r>
          </a:p>
        </p:txBody>
      </p:sp>
      <p:sp>
        <p:nvSpPr>
          <p:cNvPr id="13" name="textruta 12">
            <a:extLst>
              <a:ext uri="{FF2B5EF4-FFF2-40B4-BE49-F238E27FC236}">
                <a16:creationId xmlns:a16="http://schemas.microsoft.com/office/drawing/2014/main" id="{19246313-6880-7B7B-5D0A-4CD3F3A6684D}"/>
              </a:ext>
            </a:extLst>
          </p:cNvPr>
          <p:cNvSpPr txBox="1"/>
          <p:nvPr/>
        </p:nvSpPr>
        <p:spPr>
          <a:xfrm>
            <a:off x="1206500" y="4191000"/>
            <a:ext cx="10541000" cy="369332"/>
          </a:xfrm>
          <a:prstGeom prst="rect">
            <a:avLst/>
          </a:prstGeom>
          <a:noFill/>
        </p:spPr>
        <p:txBody>
          <a:bodyPr vert="horz" wrap="square" rtlCol="0" anchor="ctr">
            <a:noAutofit/>
          </a:bodyPr>
          <a:lstStyle/>
          <a:p>
            <a:r>
              <a:rPr lang="sv-SE" sz="1500">
                <a:solidFill>
                  <a:srgbClr val="FFFFFF"/>
                </a:solidFill>
              </a:rPr>
              <a:t>Vi presenterar ett konkret uppdragsförslag med scope, budget och tidsplan</a:t>
            </a:r>
          </a:p>
        </p:txBody>
      </p:sp>
      <p:sp>
        <p:nvSpPr>
          <p:cNvPr id="14" name="Rektangel 13">
            <a:extLst>
              <a:ext uri="{FF2B5EF4-FFF2-40B4-BE49-F238E27FC236}">
                <a16:creationId xmlns:a16="http://schemas.microsoft.com/office/drawing/2014/main" id="{FF169A60-E4A4-231D-A4E6-C40C204C19E9}"/>
              </a:ext>
            </a:extLst>
          </p:cNvPr>
          <p:cNvSpPr/>
          <p:nvPr/>
        </p:nvSpPr>
        <p:spPr>
          <a:xfrm>
            <a:off x="381000" y="5232400"/>
            <a:ext cx="660400" cy="660400"/>
          </a:xfrm>
          <a:prstGeom prst="rect">
            <a:avLst/>
          </a:prstGeom>
          <a:solidFill>
            <a:srgbClr val="D9581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textruta 14">
            <a:extLst>
              <a:ext uri="{FF2B5EF4-FFF2-40B4-BE49-F238E27FC236}">
                <a16:creationId xmlns:a16="http://schemas.microsoft.com/office/drawing/2014/main" id="{873B4575-A947-039E-A487-21CCEF032023}"/>
              </a:ext>
            </a:extLst>
          </p:cNvPr>
          <p:cNvSpPr txBox="1"/>
          <p:nvPr/>
        </p:nvSpPr>
        <p:spPr>
          <a:xfrm>
            <a:off x="381000" y="5232400"/>
            <a:ext cx="660400" cy="369332"/>
          </a:xfrm>
          <a:prstGeom prst="rect">
            <a:avLst/>
          </a:prstGeom>
          <a:noFill/>
        </p:spPr>
        <p:txBody>
          <a:bodyPr vert="horz" wrap="square" rtlCol="0" anchor="ctr">
            <a:noAutofit/>
          </a:bodyPr>
          <a:lstStyle/>
          <a:p>
            <a:pPr algn="ctr"/>
            <a:r>
              <a:rPr lang="sv-SE" sz="1600" b="1">
                <a:solidFill>
                  <a:srgbClr val="FFFFFF"/>
                </a:solidFill>
              </a:rPr>
              <a:t>04</a:t>
            </a:r>
          </a:p>
        </p:txBody>
      </p:sp>
      <p:sp>
        <p:nvSpPr>
          <p:cNvPr id="16" name="textruta 15">
            <a:extLst>
              <a:ext uri="{FF2B5EF4-FFF2-40B4-BE49-F238E27FC236}">
                <a16:creationId xmlns:a16="http://schemas.microsoft.com/office/drawing/2014/main" id="{360496F6-5130-98AB-CA64-EF37F69429F9}"/>
              </a:ext>
            </a:extLst>
          </p:cNvPr>
          <p:cNvSpPr txBox="1"/>
          <p:nvPr/>
        </p:nvSpPr>
        <p:spPr>
          <a:xfrm>
            <a:off x="1206500" y="5308600"/>
            <a:ext cx="10541000" cy="369332"/>
          </a:xfrm>
          <a:prstGeom prst="rect">
            <a:avLst/>
          </a:prstGeom>
          <a:noFill/>
        </p:spPr>
        <p:txBody>
          <a:bodyPr vert="horz" wrap="square" rtlCol="0" anchor="ctr">
            <a:noAutofit/>
          </a:bodyPr>
          <a:lstStyle/>
          <a:p>
            <a:r>
              <a:rPr lang="sv-SE" sz="1500">
                <a:solidFill>
                  <a:srgbClr val="FFFFFF"/>
                </a:solidFill>
              </a:rPr>
              <a:t>Kartläggningsfasen startar – senast 1 augusti 2026</a:t>
            </a:r>
          </a:p>
        </p:txBody>
      </p:sp>
    </p:spTree>
    <p:extLst>
      <p:ext uri="{BB962C8B-B14F-4D97-AF65-F5344CB8AC3E}">
        <p14:creationId xmlns:p14="http://schemas.microsoft.com/office/powerpoint/2010/main" val="100724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extruta 1">
            <a:extLst>
              <a:ext uri="{FF2B5EF4-FFF2-40B4-BE49-F238E27FC236}">
                <a16:creationId xmlns:a16="http://schemas.microsoft.com/office/drawing/2014/main" id="{03CE6B11-F719-9749-8761-86EDD75DBC15}"/>
              </a:ext>
            </a:extLst>
          </p:cNvPr>
          <p:cNvSpPr txBox="1"/>
          <p:nvPr/>
        </p:nvSpPr>
        <p:spPr>
          <a:xfrm>
            <a:off x="571500" y="317500"/>
            <a:ext cx="11049000" cy="369332"/>
          </a:xfrm>
          <a:prstGeom prst="rect">
            <a:avLst/>
          </a:prstGeom>
          <a:noFill/>
        </p:spPr>
        <p:txBody>
          <a:bodyPr vert="horz" wrap="square" rtlCol="0" anchor="t">
            <a:noAutofit/>
          </a:bodyPr>
          <a:lstStyle/>
          <a:p>
            <a:r>
              <a:rPr lang="sv-SE" sz="3000" b="1">
                <a:solidFill>
                  <a:srgbClr val="2B2B2B"/>
                </a:solidFill>
              </a:rPr>
              <a:t>Om INKA AI Labs</a:t>
            </a:r>
          </a:p>
        </p:txBody>
      </p:sp>
      <p:sp>
        <p:nvSpPr>
          <p:cNvPr id="3" name="textruta 2">
            <a:extLst>
              <a:ext uri="{FF2B5EF4-FFF2-40B4-BE49-F238E27FC236}">
                <a16:creationId xmlns:a16="http://schemas.microsoft.com/office/drawing/2014/main" id="{6DFA83A5-D169-94BF-D372-8E4287CE8FDB}"/>
              </a:ext>
            </a:extLst>
          </p:cNvPr>
          <p:cNvSpPr txBox="1"/>
          <p:nvPr/>
        </p:nvSpPr>
        <p:spPr>
          <a:xfrm>
            <a:off x="571500" y="1079500"/>
            <a:ext cx="6731000" cy="381000"/>
          </a:xfrm>
          <a:prstGeom prst="rect">
            <a:avLst/>
          </a:prstGeom>
          <a:noFill/>
        </p:spPr>
        <p:txBody>
          <a:bodyPr vert="horz" wrap="square" rtlCol="0" anchor="t">
            <a:noAutofit/>
          </a:bodyPr>
          <a:lstStyle/>
          <a:p>
            <a:r>
              <a:rPr lang="sv-SE" sz="1600" b="1">
                <a:solidFill>
                  <a:srgbClr val="D95818"/>
                </a:solidFill>
              </a:rPr>
              <a:t>AI-byrå i Malmö – del av INKA Interactive</a:t>
            </a:r>
          </a:p>
        </p:txBody>
      </p:sp>
      <p:sp>
        <p:nvSpPr>
          <p:cNvPr id="4" name="textruta 3">
            <a:extLst>
              <a:ext uri="{FF2B5EF4-FFF2-40B4-BE49-F238E27FC236}">
                <a16:creationId xmlns:a16="http://schemas.microsoft.com/office/drawing/2014/main" id="{E3D938E7-E9EC-00C7-D8A7-49C36D572660}"/>
              </a:ext>
            </a:extLst>
          </p:cNvPr>
          <p:cNvSpPr txBox="1"/>
          <p:nvPr/>
        </p:nvSpPr>
        <p:spPr>
          <a:xfrm>
            <a:off x="571500" y="1587500"/>
            <a:ext cx="6731000" cy="369332"/>
          </a:xfrm>
          <a:prstGeom prst="rect">
            <a:avLst/>
          </a:prstGeom>
          <a:noFill/>
        </p:spPr>
        <p:txBody>
          <a:bodyPr vert="horz" wrap="square" rtlCol="0" anchor="t">
            <a:noAutofit/>
          </a:bodyPr>
          <a:lstStyle/>
          <a:p>
            <a:r>
              <a:rPr lang="sv-SE" sz="1400">
                <a:solidFill>
                  <a:srgbClr val="4A4A4A"/>
                </a:solidFill>
              </a:rPr>
              <a:t>INKA AI Labs hjälper medelstora till stora svenska företag att omsätta AI till verklig affärsnytta – inte bara testa, utan faktiskt implementera och skala.</a:t>
            </a:r>
          </a:p>
          <a:p>
            <a:endParaRPr lang="sv-SE" sz="1400">
              <a:solidFill>
                <a:srgbClr val="4A4A4A"/>
              </a:solidFill>
            </a:endParaRPr>
          </a:p>
          <a:p>
            <a:r>
              <a:rPr lang="sv-SE" sz="1400">
                <a:solidFill>
                  <a:srgbClr val="4A4A4A"/>
                </a:solidFill>
              </a:rPr>
              <a:t>Vi bygger på INKA Interactives 20+ år av digital erfarenhet kombinerat med AI-spetskompetens. Det ger ett helhetsperspektiv från strategi till implementation som de flesta AI-bolag saknar.</a:t>
            </a:r>
          </a:p>
        </p:txBody>
      </p:sp>
      <p:sp>
        <p:nvSpPr>
          <p:cNvPr id="5" name="textruta 4">
            <a:extLst>
              <a:ext uri="{FF2B5EF4-FFF2-40B4-BE49-F238E27FC236}">
                <a16:creationId xmlns:a16="http://schemas.microsoft.com/office/drawing/2014/main" id="{93DC0EA0-40A5-6051-83C1-612D0533169A}"/>
              </a:ext>
            </a:extLst>
          </p:cNvPr>
          <p:cNvSpPr txBox="1"/>
          <p:nvPr/>
        </p:nvSpPr>
        <p:spPr>
          <a:xfrm>
            <a:off x="571500" y="4762500"/>
            <a:ext cx="2286000" cy="381000"/>
          </a:xfrm>
          <a:prstGeom prst="rect">
            <a:avLst/>
          </a:prstGeom>
          <a:noFill/>
        </p:spPr>
        <p:txBody>
          <a:bodyPr vert="horz" wrap="square" rtlCol="0" anchor="t">
            <a:noAutofit/>
          </a:bodyPr>
          <a:lstStyle/>
          <a:p>
            <a:r>
              <a:rPr lang="sv-SE" sz="1300" b="1">
                <a:solidFill>
                  <a:srgbClr val="2B2B2B"/>
                </a:solidFill>
              </a:rPr>
              <a:t>Nuvarande kunder:</a:t>
            </a:r>
          </a:p>
        </p:txBody>
      </p:sp>
      <p:sp>
        <p:nvSpPr>
          <p:cNvPr id="6" name="textruta 5">
            <a:extLst>
              <a:ext uri="{FF2B5EF4-FFF2-40B4-BE49-F238E27FC236}">
                <a16:creationId xmlns:a16="http://schemas.microsoft.com/office/drawing/2014/main" id="{08846F37-F502-5B7D-1921-7599EF39D69D}"/>
              </a:ext>
            </a:extLst>
          </p:cNvPr>
          <p:cNvSpPr txBox="1"/>
          <p:nvPr/>
        </p:nvSpPr>
        <p:spPr>
          <a:xfrm>
            <a:off x="571500" y="5143500"/>
            <a:ext cx="6731000" cy="381000"/>
          </a:xfrm>
          <a:prstGeom prst="rect">
            <a:avLst/>
          </a:prstGeom>
          <a:noFill/>
        </p:spPr>
        <p:txBody>
          <a:bodyPr vert="horz" wrap="square" rtlCol="0" anchor="t">
            <a:noAutofit/>
          </a:bodyPr>
          <a:lstStyle/>
          <a:p>
            <a:r>
              <a:rPr lang="sv-SE" sz="1300">
                <a:solidFill>
                  <a:srgbClr val="8A8A8A"/>
                </a:solidFill>
              </a:rPr>
              <a:t>HydX  ·  Forsen  ·  Jape  ·  Classicum</a:t>
            </a:r>
          </a:p>
        </p:txBody>
      </p:sp>
      <p:sp>
        <p:nvSpPr>
          <p:cNvPr id="7" name="Rektangel 6">
            <a:extLst>
              <a:ext uri="{FF2B5EF4-FFF2-40B4-BE49-F238E27FC236}">
                <a16:creationId xmlns:a16="http://schemas.microsoft.com/office/drawing/2014/main" id="{0756B4F7-7E63-C470-0D8A-4A67421C7C08}"/>
              </a:ext>
            </a:extLst>
          </p:cNvPr>
          <p:cNvSpPr/>
          <p:nvPr/>
        </p:nvSpPr>
        <p:spPr>
          <a:xfrm>
            <a:off x="7810500" y="1270000"/>
            <a:ext cx="3746500" cy="1524000"/>
          </a:xfrm>
          <a:prstGeom prst="rect">
            <a:avLst/>
          </a:prstGeom>
          <a:solidFill>
            <a:srgbClr val="FFFFFF"/>
          </a:solidFill>
          <a:ln w="12700" cap="flat" cmpd="sng" algn="ctr">
            <a:solidFill>
              <a:srgbClr val="E0D8CC"/>
            </a:solidFill>
            <a:prstDash val="solid"/>
            <a:miter lim="800000"/>
          </a:ln>
          <a:effectLst>
            <a:prstShdw prst="shdw1" dist="53881" dir="2700003">
              <a:srgbClr val="000000">
                <a:alpha val="12000"/>
              </a:srgbClr>
            </a:prst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 name="Rektangel 7">
            <a:extLst>
              <a:ext uri="{FF2B5EF4-FFF2-40B4-BE49-F238E27FC236}">
                <a16:creationId xmlns:a16="http://schemas.microsoft.com/office/drawing/2014/main" id="{D135E987-09B3-3591-2960-437FDA941CB7}"/>
              </a:ext>
            </a:extLst>
          </p:cNvPr>
          <p:cNvSpPr/>
          <p:nvPr/>
        </p:nvSpPr>
        <p:spPr>
          <a:xfrm>
            <a:off x="7810500" y="1270000"/>
            <a:ext cx="101600" cy="1524000"/>
          </a:xfrm>
          <a:prstGeom prst="rect">
            <a:avLst/>
          </a:prstGeom>
          <a:solidFill>
            <a:srgbClr val="D9581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 name="textruta 8">
            <a:extLst>
              <a:ext uri="{FF2B5EF4-FFF2-40B4-BE49-F238E27FC236}">
                <a16:creationId xmlns:a16="http://schemas.microsoft.com/office/drawing/2014/main" id="{C2D57891-8A60-53FC-D4FB-EDE3FB895987}"/>
              </a:ext>
            </a:extLst>
          </p:cNvPr>
          <p:cNvSpPr txBox="1"/>
          <p:nvPr/>
        </p:nvSpPr>
        <p:spPr>
          <a:xfrm>
            <a:off x="8026400" y="1397000"/>
            <a:ext cx="3403600" cy="369332"/>
          </a:xfrm>
          <a:prstGeom prst="rect">
            <a:avLst/>
          </a:prstGeom>
          <a:noFill/>
        </p:spPr>
        <p:txBody>
          <a:bodyPr vert="horz" wrap="square" rtlCol="0" anchor="t">
            <a:noAutofit/>
          </a:bodyPr>
          <a:lstStyle/>
          <a:p>
            <a:r>
              <a:rPr lang="sv-SE" sz="2800" b="1">
                <a:solidFill>
                  <a:srgbClr val="D95818"/>
                </a:solidFill>
              </a:rPr>
              <a:t>20+</a:t>
            </a:r>
          </a:p>
        </p:txBody>
      </p:sp>
      <p:sp>
        <p:nvSpPr>
          <p:cNvPr id="10" name="textruta 9">
            <a:extLst>
              <a:ext uri="{FF2B5EF4-FFF2-40B4-BE49-F238E27FC236}">
                <a16:creationId xmlns:a16="http://schemas.microsoft.com/office/drawing/2014/main" id="{8E5CA620-6908-4953-5E1B-D78C360EB89F}"/>
              </a:ext>
            </a:extLst>
          </p:cNvPr>
          <p:cNvSpPr txBox="1"/>
          <p:nvPr/>
        </p:nvSpPr>
        <p:spPr>
          <a:xfrm>
            <a:off x="8026400" y="2057400"/>
            <a:ext cx="3403600" cy="369332"/>
          </a:xfrm>
          <a:prstGeom prst="rect">
            <a:avLst/>
          </a:prstGeom>
          <a:noFill/>
        </p:spPr>
        <p:txBody>
          <a:bodyPr vert="horz" wrap="square" rtlCol="0" anchor="t">
            <a:noAutofit/>
          </a:bodyPr>
          <a:lstStyle/>
          <a:p>
            <a:r>
              <a:rPr lang="sv-SE" sz="1200">
                <a:solidFill>
                  <a:srgbClr val="8A8A8A"/>
                </a:solidFill>
              </a:rPr>
              <a:t>års digital erfarenhet</a:t>
            </a:r>
          </a:p>
        </p:txBody>
      </p:sp>
      <p:sp>
        <p:nvSpPr>
          <p:cNvPr id="11" name="Rektangel 10">
            <a:extLst>
              <a:ext uri="{FF2B5EF4-FFF2-40B4-BE49-F238E27FC236}">
                <a16:creationId xmlns:a16="http://schemas.microsoft.com/office/drawing/2014/main" id="{FA7C58DC-E04B-C2A2-CA2C-F3E2C6EF8B41}"/>
              </a:ext>
            </a:extLst>
          </p:cNvPr>
          <p:cNvSpPr/>
          <p:nvPr/>
        </p:nvSpPr>
        <p:spPr>
          <a:xfrm>
            <a:off x="7810500" y="3149600"/>
            <a:ext cx="3746500" cy="1524000"/>
          </a:xfrm>
          <a:prstGeom prst="rect">
            <a:avLst/>
          </a:prstGeom>
          <a:solidFill>
            <a:srgbClr val="FFFFFF"/>
          </a:solidFill>
          <a:ln w="12700" cap="flat" cmpd="sng" algn="ctr">
            <a:solidFill>
              <a:srgbClr val="E0D8CC"/>
            </a:solidFill>
            <a:prstDash val="solid"/>
            <a:miter lim="800000"/>
          </a:ln>
          <a:effectLst>
            <a:prstShdw prst="shdw1" dist="53881" dir="2700003">
              <a:srgbClr val="000000">
                <a:alpha val="12000"/>
              </a:srgbClr>
            </a:prst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Rektangel 11">
            <a:extLst>
              <a:ext uri="{FF2B5EF4-FFF2-40B4-BE49-F238E27FC236}">
                <a16:creationId xmlns:a16="http://schemas.microsoft.com/office/drawing/2014/main" id="{3207EEE6-F974-FC7E-9558-8DFEE4D42018}"/>
              </a:ext>
            </a:extLst>
          </p:cNvPr>
          <p:cNvSpPr/>
          <p:nvPr/>
        </p:nvSpPr>
        <p:spPr>
          <a:xfrm>
            <a:off x="7810500" y="3149600"/>
            <a:ext cx="101600" cy="1524000"/>
          </a:xfrm>
          <a:prstGeom prst="rect">
            <a:avLst/>
          </a:prstGeom>
          <a:solidFill>
            <a:srgbClr val="D9581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3" name="textruta 12">
            <a:extLst>
              <a:ext uri="{FF2B5EF4-FFF2-40B4-BE49-F238E27FC236}">
                <a16:creationId xmlns:a16="http://schemas.microsoft.com/office/drawing/2014/main" id="{4A7778FE-2B22-7A4C-5C59-BCC06E98E3BC}"/>
              </a:ext>
            </a:extLst>
          </p:cNvPr>
          <p:cNvSpPr txBox="1"/>
          <p:nvPr/>
        </p:nvSpPr>
        <p:spPr>
          <a:xfrm>
            <a:off x="8026400" y="3276600"/>
            <a:ext cx="3403600" cy="369332"/>
          </a:xfrm>
          <a:prstGeom prst="rect">
            <a:avLst/>
          </a:prstGeom>
          <a:noFill/>
        </p:spPr>
        <p:txBody>
          <a:bodyPr vert="horz" wrap="square" rtlCol="0" anchor="t">
            <a:noAutofit/>
          </a:bodyPr>
          <a:lstStyle/>
          <a:p>
            <a:r>
              <a:rPr lang="sv-SE" sz="2800" b="1">
                <a:solidFill>
                  <a:srgbClr val="D95818"/>
                </a:solidFill>
              </a:rPr>
              <a:t>3</a:t>
            </a:r>
          </a:p>
        </p:txBody>
      </p:sp>
      <p:sp>
        <p:nvSpPr>
          <p:cNvPr id="14" name="textruta 13">
            <a:extLst>
              <a:ext uri="{FF2B5EF4-FFF2-40B4-BE49-F238E27FC236}">
                <a16:creationId xmlns:a16="http://schemas.microsoft.com/office/drawing/2014/main" id="{E257C52F-5879-C81E-383A-D2E638CBBAA3}"/>
              </a:ext>
            </a:extLst>
          </p:cNvPr>
          <p:cNvSpPr txBox="1"/>
          <p:nvPr/>
        </p:nvSpPr>
        <p:spPr>
          <a:xfrm>
            <a:off x="8026400" y="3937000"/>
            <a:ext cx="3403600" cy="369332"/>
          </a:xfrm>
          <a:prstGeom prst="rect">
            <a:avLst/>
          </a:prstGeom>
          <a:noFill/>
        </p:spPr>
        <p:txBody>
          <a:bodyPr vert="horz" wrap="square" rtlCol="0" anchor="t">
            <a:noAutofit/>
          </a:bodyPr>
          <a:lstStyle/>
          <a:p>
            <a:r>
              <a:rPr lang="sv-SE" sz="1200">
                <a:solidFill>
                  <a:srgbClr val="8A8A8A"/>
                </a:solidFill>
              </a:rPr>
              <a:t>tjänstepelare i helhet</a:t>
            </a:r>
          </a:p>
        </p:txBody>
      </p:sp>
      <p:sp>
        <p:nvSpPr>
          <p:cNvPr id="15" name="Rektangel 14">
            <a:extLst>
              <a:ext uri="{FF2B5EF4-FFF2-40B4-BE49-F238E27FC236}">
                <a16:creationId xmlns:a16="http://schemas.microsoft.com/office/drawing/2014/main" id="{42C9D776-ED22-82D2-C8BA-1892F8930BA4}"/>
              </a:ext>
            </a:extLst>
          </p:cNvPr>
          <p:cNvSpPr/>
          <p:nvPr/>
        </p:nvSpPr>
        <p:spPr>
          <a:xfrm>
            <a:off x="7810500" y="5029200"/>
            <a:ext cx="3746500" cy="1524000"/>
          </a:xfrm>
          <a:prstGeom prst="rect">
            <a:avLst/>
          </a:prstGeom>
          <a:solidFill>
            <a:srgbClr val="FFFFFF"/>
          </a:solidFill>
          <a:ln w="12700" cap="flat" cmpd="sng" algn="ctr">
            <a:solidFill>
              <a:srgbClr val="E0D8CC"/>
            </a:solidFill>
            <a:prstDash val="solid"/>
            <a:miter lim="800000"/>
          </a:ln>
          <a:effectLst>
            <a:prstShdw prst="shdw1" dist="53881" dir="2700003">
              <a:srgbClr val="000000">
                <a:alpha val="12000"/>
              </a:srgbClr>
            </a:prst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Rektangel 15">
            <a:extLst>
              <a:ext uri="{FF2B5EF4-FFF2-40B4-BE49-F238E27FC236}">
                <a16:creationId xmlns:a16="http://schemas.microsoft.com/office/drawing/2014/main" id="{72118A1F-F07C-8D69-0DD5-78C65656B5CC}"/>
              </a:ext>
            </a:extLst>
          </p:cNvPr>
          <p:cNvSpPr/>
          <p:nvPr/>
        </p:nvSpPr>
        <p:spPr>
          <a:xfrm>
            <a:off x="7810500" y="5029200"/>
            <a:ext cx="101600" cy="1524000"/>
          </a:xfrm>
          <a:prstGeom prst="rect">
            <a:avLst/>
          </a:prstGeom>
          <a:solidFill>
            <a:srgbClr val="D9581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textruta 16">
            <a:extLst>
              <a:ext uri="{FF2B5EF4-FFF2-40B4-BE49-F238E27FC236}">
                <a16:creationId xmlns:a16="http://schemas.microsoft.com/office/drawing/2014/main" id="{7F5EBC79-74EF-70D0-4EEE-CE9533CE9FD6}"/>
              </a:ext>
            </a:extLst>
          </p:cNvPr>
          <p:cNvSpPr txBox="1"/>
          <p:nvPr/>
        </p:nvSpPr>
        <p:spPr>
          <a:xfrm>
            <a:off x="8026400" y="5156200"/>
            <a:ext cx="3403600" cy="369332"/>
          </a:xfrm>
          <a:prstGeom prst="rect">
            <a:avLst/>
          </a:prstGeom>
          <a:noFill/>
        </p:spPr>
        <p:txBody>
          <a:bodyPr vert="horz" wrap="square" rtlCol="0" anchor="t">
            <a:noAutofit/>
          </a:bodyPr>
          <a:lstStyle/>
          <a:p>
            <a:r>
              <a:rPr lang="sv-SE" sz="2800" b="1">
                <a:solidFill>
                  <a:srgbClr val="D95818"/>
                </a:solidFill>
              </a:rPr>
              <a:t>Malmö</a:t>
            </a:r>
          </a:p>
        </p:txBody>
      </p:sp>
      <p:sp>
        <p:nvSpPr>
          <p:cNvPr id="18" name="textruta 17">
            <a:extLst>
              <a:ext uri="{FF2B5EF4-FFF2-40B4-BE49-F238E27FC236}">
                <a16:creationId xmlns:a16="http://schemas.microsoft.com/office/drawing/2014/main" id="{64003438-FA45-BA86-5BDD-A422E4BBA8E6}"/>
              </a:ext>
            </a:extLst>
          </p:cNvPr>
          <p:cNvSpPr txBox="1"/>
          <p:nvPr/>
        </p:nvSpPr>
        <p:spPr>
          <a:xfrm>
            <a:off x="8026400" y="5816600"/>
            <a:ext cx="3403600" cy="369332"/>
          </a:xfrm>
          <a:prstGeom prst="rect">
            <a:avLst/>
          </a:prstGeom>
          <a:noFill/>
        </p:spPr>
        <p:txBody>
          <a:bodyPr vert="horz" wrap="square" rtlCol="0" anchor="t">
            <a:noAutofit/>
          </a:bodyPr>
          <a:lstStyle/>
          <a:p>
            <a:r>
              <a:rPr lang="sv-SE" sz="1200">
                <a:solidFill>
                  <a:srgbClr val="8A8A8A"/>
                </a:solidFill>
              </a:rPr>
              <a:t>lokal förankring, nationell räckvidd</a:t>
            </a:r>
          </a:p>
        </p:txBody>
      </p:sp>
    </p:spTree>
    <p:extLst>
      <p:ext uri="{BB962C8B-B14F-4D97-AF65-F5344CB8AC3E}">
        <p14:creationId xmlns:p14="http://schemas.microsoft.com/office/powerpoint/2010/main" val="1551425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30A917D0-D93E-CE89-444A-55C6920EDCD2}"/>
              </a:ext>
            </a:extLst>
          </p:cNvPr>
          <p:cNvSpPr/>
          <p:nvPr/>
        </p:nvSpPr>
        <p:spPr>
          <a:xfrm>
            <a:off x="0" y="0"/>
            <a:ext cx="139700" cy="6858000"/>
          </a:xfrm>
          <a:prstGeom prst="rect">
            <a:avLst/>
          </a:prstGeom>
          <a:solidFill>
            <a:srgbClr val="D9581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textruta 2">
            <a:extLst>
              <a:ext uri="{FF2B5EF4-FFF2-40B4-BE49-F238E27FC236}">
                <a16:creationId xmlns:a16="http://schemas.microsoft.com/office/drawing/2014/main" id="{958D0215-E3BB-2899-7F6B-A863547F4041}"/>
              </a:ext>
            </a:extLst>
          </p:cNvPr>
          <p:cNvSpPr txBox="1"/>
          <p:nvPr/>
        </p:nvSpPr>
        <p:spPr>
          <a:xfrm>
            <a:off x="381000" y="825500"/>
            <a:ext cx="11430000" cy="369332"/>
          </a:xfrm>
          <a:prstGeom prst="rect">
            <a:avLst/>
          </a:prstGeom>
          <a:noFill/>
        </p:spPr>
        <p:txBody>
          <a:bodyPr vert="horz" wrap="square" rtlCol="0" anchor="t">
            <a:noAutofit/>
          </a:bodyPr>
          <a:lstStyle/>
          <a:p>
            <a:r>
              <a:rPr lang="sv-SE" sz="6400" b="1">
                <a:solidFill>
                  <a:srgbClr val="FFFFFF"/>
                </a:solidFill>
              </a:rPr>
              <a:t>Tack!</a:t>
            </a:r>
          </a:p>
        </p:txBody>
      </p:sp>
      <p:sp>
        <p:nvSpPr>
          <p:cNvPr id="4" name="textruta 3">
            <a:extLst>
              <a:ext uri="{FF2B5EF4-FFF2-40B4-BE49-F238E27FC236}">
                <a16:creationId xmlns:a16="http://schemas.microsoft.com/office/drawing/2014/main" id="{C40D6432-319B-BBF8-7947-D13890AA5303}"/>
              </a:ext>
            </a:extLst>
          </p:cNvPr>
          <p:cNvSpPr txBox="1"/>
          <p:nvPr/>
        </p:nvSpPr>
        <p:spPr>
          <a:xfrm>
            <a:off x="381000" y="2222500"/>
            <a:ext cx="9525000" cy="369332"/>
          </a:xfrm>
          <a:prstGeom prst="rect">
            <a:avLst/>
          </a:prstGeom>
          <a:noFill/>
        </p:spPr>
        <p:txBody>
          <a:bodyPr vert="horz" wrap="square" rtlCol="0" anchor="t">
            <a:noAutofit/>
          </a:bodyPr>
          <a:lstStyle/>
          <a:p>
            <a:r>
              <a:rPr lang="sv-SE" sz="1700" i="1">
                <a:solidFill>
                  <a:srgbClr val="909090"/>
                </a:solidFill>
              </a:rPr>
              <a:t>Vi ser fram emot att hjälpa Reinholt Logistik ta nästa steg.</a:t>
            </a:r>
          </a:p>
        </p:txBody>
      </p:sp>
      <p:sp>
        <p:nvSpPr>
          <p:cNvPr id="5" name="Rektangel 4">
            <a:extLst>
              <a:ext uri="{FF2B5EF4-FFF2-40B4-BE49-F238E27FC236}">
                <a16:creationId xmlns:a16="http://schemas.microsoft.com/office/drawing/2014/main" id="{4E55FD0A-8549-6A9B-2B44-FB9561CBE535}"/>
              </a:ext>
            </a:extLst>
          </p:cNvPr>
          <p:cNvSpPr/>
          <p:nvPr/>
        </p:nvSpPr>
        <p:spPr>
          <a:xfrm>
            <a:off x="381000" y="3238500"/>
            <a:ext cx="5842000" cy="2984500"/>
          </a:xfrm>
          <a:prstGeom prst="rect">
            <a:avLst/>
          </a:prstGeom>
          <a:solidFill>
            <a:srgbClr val="702F3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ruta 5">
            <a:extLst>
              <a:ext uri="{FF2B5EF4-FFF2-40B4-BE49-F238E27FC236}">
                <a16:creationId xmlns:a16="http://schemas.microsoft.com/office/drawing/2014/main" id="{ADBF0D19-A9AB-C695-EFEB-298D15734EE4}"/>
              </a:ext>
            </a:extLst>
          </p:cNvPr>
          <p:cNvSpPr txBox="1"/>
          <p:nvPr/>
        </p:nvSpPr>
        <p:spPr>
          <a:xfrm>
            <a:off x="635000" y="3429000"/>
            <a:ext cx="5334000" cy="381000"/>
          </a:xfrm>
          <a:prstGeom prst="rect">
            <a:avLst/>
          </a:prstGeom>
          <a:noFill/>
        </p:spPr>
        <p:txBody>
          <a:bodyPr vert="horz" wrap="square" rtlCol="0" anchor="t">
            <a:noAutofit/>
          </a:bodyPr>
          <a:lstStyle/>
          <a:p>
            <a:r>
              <a:rPr lang="sv-SE" sz="1300" b="1">
                <a:solidFill>
                  <a:srgbClr val="D95818"/>
                </a:solidFill>
              </a:rPr>
              <a:t>Kontakta oss</a:t>
            </a:r>
          </a:p>
        </p:txBody>
      </p:sp>
      <p:sp>
        <p:nvSpPr>
          <p:cNvPr id="7" name="textruta 6">
            <a:extLst>
              <a:ext uri="{FF2B5EF4-FFF2-40B4-BE49-F238E27FC236}">
                <a16:creationId xmlns:a16="http://schemas.microsoft.com/office/drawing/2014/main" id="{CD4CBC7F-7E9C-9EFA-CED2-3A9DC9A6204B}"/>
              </a:ext>
            </a:extLst>
          </p:cNvPr>
          <p:cNvSpPr txBox="1"/>
          <p:nvPr/>
        </p:nvSpPr>
        <p:spPr>
          <a:xfrm>
            <a:off x="635000" y="3911600"/>
            <a:ext cx="5334000" cy="369332"/>
          </a:xfrm>
          <a:prstGeom prst="rect">
            <a:avLst/>
          </a:prstGeom>
          <a:noFill/>
        </p:spPr>
        <p:txBody>
          <a:bodyPr vert="horz" wrap="square" rtlCol="0" anchor="t">
            <a:noAutofit/>
          </a:bodyPr>
          <a:lstStyle/>
          <a:p>
            <a:r>
              <a:rPr lang="sv-SE" sz="1400">
                <a:solidFill>
                  <a:srgbClr val="FFFFFF"/>
                </a:solidFill>
              </a:rPr>
              <a:t>INKA AI Labs  ·  Malmö</a:t>
            </a:r>
          </a:p>
          <a:p>
            <a:r>
              <a:rPr lang="sv-SE" sz="1400">
                <a:solidFill>
                  <a:srgbClr val="FFFFFF"/>
                </a:solidFill>
              </a:rPr>
              <a:t>info@inkaailabs.se</a:t>
            </a:r>
          </a:p>
          <a:p>
            <a:r>
              <a:rPr lang="sv-SE" sz="1400">
                <a:solidFill>
                  <a:srgbClr val="FFFFFF"/>
                </a:solidFill>
              </a:rPr>
              <a:t>inkaailabs.se</a:t>
            </a:r>
          </a:p>
        </p:txBody>
      </p:sp>
      <p:sp>
        <p:nvSpPr>
          <p:cNvPr id="8" name="textruta 7">
            <a:extLst>
              <a:ext uri="{FF2B5EF4-FFF2-40B4-BE49-F238E27FC236}">
                <a16:creationId xmlns:a16="http://schemas.microsoft.com/office/drawing/2014/main" id="{59FE736B-26BA-1626-B028-66B519864F76}"/>
              </a:ext>
            </a:extLst>
          </p:cNvPr>
          <p:cNvSpPr txBox="1"/>
          <p:nvPr/>
        </p:nvSpPr>
        <p:spPr>
          <a:xfrm>
            <a:off x="7175500" y="3937000"/>
            <a:ext cx="4381500" cy="369332"/>
          </a:xfrm>
          <a:prstGeom prst="rect">
            <a:avLst/>
          </a:prstGeom>
          <a:noFill/>
        </p:spPr>
        <p:txBody>
          <a:bodyPr vert="horz" wrap="square" rtlCol="0" anchor="ctr">
            <a:noAutofit/>
          </a:bodyPr>
          <a:lstStyle/>
          <a:p>
            <a:pPr algn="ctr"/>
            <a:r>
              <a:rPr lang="sv-SE" sz="2200" b="1" i="1">
                <a:solidFill>
                  <a:srgbClr val="D95818"/>
                </a:solidFill>
              </a:rPr>
              <a:t>Från tanke till handling.</a:t>
            </a:r>
          </a:p>
        </p:txBody>
      </p:sp>
    </p:spTree>
    <p:extLst>
      <p:ext uri="{BB962C8B-B14F-4D97-AF65-F5344CB8AC3E}">
        <p14:creationId xmlns:p14="http://schemas.microsoft.com/office/powerpoint/2010/main" val="1900377644"/>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1361</Words>
  <Application>Microsoft Office PowerPoint</Application>
  <PresentationFormat>Anpassad</PresentationFormat>
  <Paragraphs>159</Paragraphs>
  <Slides>11</Slides>
  <Notes>11</Notes>
  <HiddenSlides>0</HiddenSlides>
  <MMClips>0</MMClips>
  <ScaleCrop>false</ScaleCrop>
  <HeadingPairs>
    <vt:vector size="6" baseType="variant">
      <vt:variant>
        <vt:lpstr>Använt teckensnitt</vt:lpstr>
      </vt:variant>
      <vt:variant>
        <vt:i4>3</vt:i4>
      </vt:variant>
      <vt:variant>
        <vt:lpstr>Tema</vt:lpstr>
      </vt:variant>
      <vt:variant>
        <vt:i4>1</vt:i4>
      </vt:variant>
      <vt:variant>
        <vt:lpstr>Bildrubriker</vt:lpstr>
      </vt:variant>
      <vt:variant>
        <vt:i4>11</vt:i4>
      </vt:variant>
    </vt:vector>
  </HeadingPairs>
  <TitlesOfParts>
    <vt:vector size="15" baseType="lpstr">
      <vt:lpstr>Aptos</vt:lpstr>
      <vt:lpstr>Aptos Display</vt:lpstr>
      <vt:lpstr>Arial</vt:lpstr>
      <vt:lpstr>Office-tema</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Bob Oskar Kindgren</dc:creator>
  <cp:lastModifiedBy>Bob Oskar Kindgren</cp:lastModifiedBy>
  <cp:revision>1</cp:revision>
  <dcterms:created xsi:type="dcterms:W3CDTF">2026-06-05T10:07:03Z</dcterms:created>
  <dcterms:modified xsi:type="dcterms:W3CDTF">2026-06-05T10:07:03Z</dcterms:modified>
</cp:coreProperties>
</file>